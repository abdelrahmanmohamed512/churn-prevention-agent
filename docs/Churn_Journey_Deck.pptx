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Cambria"/>
              </a:defRPr>
            </a:pPr>
            <a:r>
              <a:rPr sz="1400" b="0" i="0" u="none" strike="noStrike">
                <a:solidFill>
                  <a:srgbClr val="1B1F2A"/>
                </a:solidFill>
                <a:latin typeface="Cambria"/>
              </a:rPr>
              <a:t>Average card spending per month</a:t>
            </a:r>
          </a:p>
        </c:rich>
      </c:tx>
      <c:layout/>
      <c:overlay val="0"/>
    </c:title>
    <c:autoTitleDeleted val="0"/>
    <c:plotArea>
      <c:layout/>
      <c:lineChart>
        <c:varyColors val="0"/>
        <c:ser>
          <c:idx val="0"/>
          <c:order val="0"/>
          <c:tx>
            <c:strRef>
              <c:f>Sheet1!$B$1</c:f>
              <c:strCache>
                <c:ptCount val="1"/>
                <c:pt idx="0">
                  <c:v>Stayed</c:v>
                </c:pt>
              </c:strCache>
            </c:strRef>
          </c:tx>
          <c:spPr>
            <a:solidFill>
              <a:srgbClr val="4A6FA5"/>
            </a:solidFill>
            <a:ln w="38100" cap="flat">
              <a:solidFill>
                <a:srgbClr val="4A6FA5"/>
              </a:solidFill>
              <a:prstDash val="solid"/>
              <a:round/>
            </a:ln>
            <a:effectLst/>
          </c:spPr>
          <c:invertIfNegative val="0"/>
          <c:dLbls>
            <c:numFmt formatCode="0.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6FA5"/>
              </a:solidFill>
              <a:ln w="9525" cap="flat">
                <a:solidFill>
                  <a:srgbClr val="4A6FA5"/>
                </a:solidFill>
                <a:prstDash val="solid"/>
                <a:round/>
              </a:ln>
              <a:effectLst/>
            </c:spPr>
          </c:marker>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1682</c:v>
                </c:pt>
                <c:pt idx="1">
                  <c:v>1700</c:v>
                </c:pt>
                <c:pt idx="2">
                  <c:v>1730</c:v>
                </c:pt>
                <c:pt idx="3">
                  <c:v>1755</c:v>
                </c:pt>
                <c:pt idx="4">
                  <c:v>1775</c:v>
                </c:pt>
                <c:pt idx="5">
                  <c:v>1793</c:v>
                </c:pt>
              </c:numCache>
            </c:numRef>
          </c:val>
          <c:smooth val="0"/>
        </c:ser>
        <c:ser>
          <c:idx val="1"/>
          <c:order val="1"/>
          <c:tx>
            <c:strRef>
              <c:f>Sheet1!$C$1</c:f>
              <c:strCache>
                <c:ptCount val="1"/>
                <c:pt idx="0">
                  <c:v>Closed</c:v>
                </c:pt>
              </c:strCache>
            </c:strRef>
          </c:tx>
          <c:spPr>
            <a:solidFill>
              <a:srgbClr val="E39A00"/>
            </a:solidFill>
            <a:ln w="38100" cap="flat">
              <a:solidFill>
                <a:srgbClr val="E39A00"/>
              </a:solidFill>
              <a:prstDash val="solid"/>
              <a:round/>
            </a:ln>
            <a:effectLst/>
          </c:spPr>
          <c:invertIfNegative val="0"/>
          <c:dLbls>
            <c:numFmt formatCode="0.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39A00"/>
              </a:solidFill>
              <a:ln w="9525" cap="flat">
                <a:solidFill>
                  <a:srgbClr val="E39A00"/>
                </a:solidFill>
                <a:prstDash val="solid"/>
                <a:round/>
              </a:ln>
              <a:effectLst/>
            </c:spPr>
          </c:marker>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1702</c:v>
                </c:pt>
                <c:pt idx="1">
                  <c:v>1640</c:v>
                </c:pt>
                <c:pt idx="2">
                  <c:v>1545</c:v>
                </c:pt>
                <c:pt idx="3">
                  <c:v>1430</c:v>
                </c:pt>
                <c:pt idx="4">
                  <c:v>1330</c:v>
                </c:pt>
                <c:pt idx="5">
                  <c:v>1239</c:v>
                </c:pt>
              </c:numCache>
            </c:numRef>
          </c:val>
          <c:smooth val="0"/>
        </c:ser>
        <c:dLbls>
          <c:numFmt formatCode="0.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63"/>
                </a:solidFill>
                <a:latin typeface="Calibri"/>
              </a:defRPr>
            </a:pPr>
            <a:endParaRPr lang="en-US"/>
          </a:p>
        </c:txPr>
        <c:crossAx val="2094734552"/>
        <c:crosses val="autoZero"/>
        <c:auto val="1"/>
        <c:lblAlgn val="ctr"/>
        <c:noMultiLvlLbl val="1"/>
      </c:catAx>
      <c:valAx>
        <c:axId val="2094734552"/>
        <c:scaling>
          <c:orientation val="minMax"/>
          <c:min val="1100"/>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16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Cambria"/>
              </a:defRPr>
            </a:pPr>
            <a:r>
              <a:rPr sz="1400" b="0" i="0" u="none" strike="noStrike">
                <a:solidFill>
                  <a:srgbClr val="1B1F2A"/>
                </a:solidFill>
                <a:latin typeface="Cambria"/>
              </a:rPr>
              <a:t>Closed per 100, by size of the spending fall</a:t>
            </a:r>
          </a:p>
        </c:rich>
      </c:tx>
      <c:layout/>
      <c:overlay val="0"/>
    </c:title>
    <c:autoTitleDeleted val="0"/>
    <c:plotArea>
      <c:layout/>
      <c:barChart>
        <c:barDir val="col"/>
        <c:grouping val="clustered"/>
        <c:varyColors val="0"/>
        <c:ser>
          <c:idx val="0"/>
          <c:order val="0"/>
          <c:tx>
            <c:strRef>
              <c:f>Sheet1!$B$1</c:f>
              <c:strCache>
                <c:ptCount val="1"/>
                <c:pt idx="0">
                  <c:v>Closed per 100</c:v>
                </c:pt>
              </c:strCache>
            </c:strRef>
          </c:tx>
          <c:spPr>
            <a:solidFill>
              <a:srgbClr val="C0453F"/>
            </a:solidFill>
            <a:effectLst/>
          </c:spPr>
          <c:invertIfNegative val="0"/>
          <c:dLbls>
            <c:numFmt formatCode="0.0" sourceLinked="0"/>
            <c:txPr>
              <a:bodyPr/>
              <a:lstStyle/>
              <a:p>
                <a:pPr>
                  <a:defRPr b="0" i="0" strike="noStrike" sz="1200" u="none">
                    <a:solidFill>
                      <a:srgbClr val="1B1F2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fell &gt;30%</c:v>
                  </c:pt>
                  <c:pt idx="1">
                    <c:v>fell 20-30%</c:v>
                  </c:pt>
                  <c:pt idx="2">
                    <c:v>fell 10-20%</c:v>
                  </c:pt>
                  <c:pt idx="3">
                    <c:v>fell 5-10%</c:v>
                  </c:pt>
                  <c:pt idx="4">
                    <c:v>roughly flat</c:v>
                  </c:pt>
                  <c:pt idx="5">
                    <c:v>growing</c:v>
                  </c:pt>
                </c:lvl>
              </c:multiLvlStrCache>
            </c:multiLvlStrRef>
          </c:cat>
          <c:val>
            <c:numRef>
              <c:f>Sheet1!$B$2:$B$7</c:f>
              <c:numCache>
                <c:formatCode>General</c:formatCode>
                <c:ptCount val="6"/>
                <c:pt idx="0">
                  <c:v>70</c:v>
                </c:pt>
                <c:pt idx="1">
                  <c:v>42</c:v>
                </c:pt>
                <c:pt idx="2">
                  <c:v>28.1</c:v>
                </c:pt>
                <c:pt idx="3">
                  <c:v>19.1</c:v>
                </c:pt>
                <c:pt idx="4">
                  <c:v>13.4</c:v>
                </c:pt>
                <c:pt idx="5">
                  <c:v>6.9</c:v>
                </c:pt>
              </c:numCache>
            </c:numRef>
          </c:val>
        </c:ser>
        <c:dLbls>
          <c:numFmt formatCode="0.0" sourceLinked="0"/>
          <c:txPr>
            <a:bodyPr/>
            <a:lstStyle/>
            <a:p>
              <a:pPr>
                <a:defRPr b="0" i="0" strike="noStrike" sz="1200" u="none">
                  <a:solidFill>
                    <a:srgbClr val="1B1F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6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16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Cambria"/>
              </a:defRPr>
            </a:pPr>
            <a:r>
              <a:rPr sz="1300" b="0" i="0" u="none" strike="noStrike">
                <a:solidFill>
                  <a:srgbClr val="1B1F2A"/>
                </a:solidFill>
                <a:latin typeface="Cambria"/>
              </a:rPr>
              <a:t>Credit score, split into bands</a:t>
            </a:r>
          </a:p>
        </c:rich>
      </c:tx>
      <c:layout/>
      <c:overlay val="0"/>
    </c:title>
    <c:autoTitleDeleted val="0"/>
    <c:plotArea>
      <c:layout/>
      <c:barChart>
        <c:barDir val="col"/>
        <c:grouping val="clustered"/>
        <c:varyColors val="0"/>
        <c:ser>
          <c:idx val="0"/>
          <c:order val="0"/>
          <c:tx>
            <c:strRef>
              <c:f>Sheet1!$B$1</c:f>
              <c:strCache>
                <c:ptCount val="1"/>
                <c:pt idx="0">
                  <c:v>Closed per 100</c:v>
                </c:pt>
              </c:strCache>
            </c:strRef>
          </c:tx>
          <c:spPr>
            <a:solidFill>
              <a:srgbClr val="4A6FA5"/>
            </a:solidFill>
            <a:effectLst/>
          </c:spPr>
          <c:invertIfNegative val="0"/>
          <c:dLbls>
            <c:numFmt formatCode="0.0" sourceLinked="0"/>
            <c:txPr>
              <a:bodyPr/>
              <a:lstStyle/>
              <a:p>
                <a:pPr>
                  <a:defRPr b="0" i="0" strike="noStrike" sz="1200" u="none">
                    <a:solidFill>
                      <a:srgbClr val="1B1F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below 580</c:v>
                  </c:pt>
                  <c:pt idx="1">
                    <c:v>580–650</c:v>
                  </c:pt>
                  <c:pt idx="2">
                    <c:v>650–720</c:v>
                  </c:pt>
                  <c:pt idx="3">
                    <c:v>above 720</c:v>
                  </c:pt>
                </c:lvl>
              </c:multiLvlStrCache>
            </c:multiLvlStrRef>
          </c:cat>
          <c:val>
            <c:numRef>
              <c:f>Sheet1!$B$2:$B$5</c:f>
              <c:numCache>
                <c:formatCode>General</c:formatCode>
                <c:ptCount val="4"/>
                <c:pt idx="0">
                  <c:v>30</c:v>
                </c:pt>
                <c:pt idx="1">
                  <c:v>23</c:v>
                </c:pt>
                <c:pt idx="2">
                  <c:v>18</c:v>
                </c:pt>
                <c:pt idx="3">
                  <c:v>13</c:v>
                </c:pt>
              </c:numCache>
            </c:numRef>
          </c:val>
        </c:ser>
        <c:dLbls>
          <c:numFmt formatCode="0.0" sourceLinked="0"/>
          <c:txPr>
            <a:bodyPr/>
            <a:lstStyle/>
            <a:p>
              <a:pPr>
                <a:defRPr b="0" i="0" strike="noStrike" sz="1200" u="none">
                  <a:solidFill>
                    <a:srgbClr val="1B1F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6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16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Cambria"/>
              </a:defRPr>
            </a:pPr>
            <a:r>
              <a:rPr sz="1300" b="0" i="0" u="none" strike="noStrike">
                <a:solidFill>
                  <a:srgbClr val="1B1F2A"/>
                </a:solidFill>
                <a:latin typeface="Cambria"/>
              </a:rPr>
              <a:t>Default settings, same data, one split</a:t>
            </a:r>
          </a:p>
        </c:rich>
      </c:tx>
      <c:layout/>
      <c:overlay val="0"/>
    </c:title>
    <c:autoTitleDeleted val="0"/>
    <c:plotArea>
      <c:layout/>
      <c:barChart>
        <c:barDir val="bar"/>
        <c:grouping val="clustered"/>
        <c:varyColors val="0"/>
        <c:ser>
          <c:idx val="0"/>
          <c:order val="0"/>
          <c:tx>
            <c:strRef>
              <c:f>Sheet1!$B$1</c:f>
              <c:strCache>
                <c:ptCount val="1"/>
                <c:pt idx="0">
                  <c:v>AUC</c:v>
                </c:pt>
              </c:strCache>
            </c:strRef>
          </c:tx>
          <c:spPr>
            <a:solidFill>
              <a:srgbClr val="4A6FA5"/>
            </a:solidFill>
            <a:effectLst/>
          </c:spPr>
          <c:invertIfNegative val="0"/>
          <c:dLbls>
            <c:numFmt formatCode="0.0000" sourceLinked="0"/>
            <c:txPr>
              <a:bodyPr/>
              <a:lstStyle/>
              <a:p>
                <a:pPr>
                  <a:defRPr b="0" i="0" strike="noStrike" sz="1100" u="none">
                    <a:solidFill>
                      <a:srgbClr val="1B1F2A"/>
                    </a:solidFill>
                    <a:latin typeface="Calibri"/>
                  </a:defRPr>
                </a:pPr>
              </a:p>
            </c:txPr>
            <c:showLegendKey val="0"/>
            <c:showVal val="1"/>
            <c:showCatName val="0"/>
            <c:showSerName val="0"/>
            <c:showPercent val="0"/>
            <c:showBubbleSize val="0"/>
            <c:showLeaderLines val="0"/>
          </c:dLbls>
          <c:cat>
            <c:multiLvlStrRef>
              <c:f>Sheet1!$A$2:$A$9</c:f>
              <c:multiLvlStrCache>
                <c:ptCount val="8"/>
                <c:lvl>
                  <c:pt idx="0">
                    <c:v>XGBoost</c:v>
                  </c:pt>
                  <c:pt idx="1">
                    <c:v>CatBoost</c:v>
                  </c:pt>
                  <c:pt idx="2">
                    <c:v>Random forest</c:v>
                  </c:pt>
                  <c:pt idx="3">
                    <c:v>Nearest centroid</c:v>
                  </c:pt>
                  <c:pt idx="4">
                    <c:v>Linear discriminant</c:v>
                  </c:pt>
                  <c:pt idx="5">
                    <c:v>Linear SVC</c:v>
                  </c:pt>
                  <c:pt idx="6">
                    <c:v>Calibrated classifier</c:v>
                  </c:pt>
                  <c:pt idx="7">
                    <c:v>Logistic regression</c:v>
                  </c:pt>
                </c:lvl>
              </c:multiLvlStrCache>
            </c:multiLvlStrRef>
          </c:cat>
          <c:val>
            <c:numRef>
              <c:f>Sheet1!$B$2:$B$9</c:f>
              <c:numCache>
                <c:formatCode>General</c:formatCode>
                <c:ptCount val="8"/>
                <c:pt idx="0">
                  <c:v>0.7467</c:v>
                </c:pt>
                <c:pt idx="1">
                  <c:v>0.789</c:v>
                </c:pt>
                <c:pt idx="2">
                  <c:v>0.7911</c:v>
                </c:pt>
                <c:pt idx="3">
                  <c:v>0.7953</c:v>
                </c:pt>
                <c:pt idx="4">
                  <c:v>0.8049</c:v>
                </c:pt>
                <c:pt idx="5">
                  <c:v>0.8065</c:v>
                </c:pt>
                <c:pt idx="6">
                  <c:v>0.8066</c:v>
                </c:pt>
                <c:pt idx="7">
                  <c:v>0.8085</c:v>
                </c:pt>
              </c:numCache>
            </c:numRef>
          </c:val>
        </c:ser>
        <c:dLbls>
          <c:numFmt formatCode="0.0000" sourceLinked="0"/>
          <c:txPr>
            <a:bodyPr/>
            <a:lstStyle/>
            <a:p>
              <a:pPr>
                <a:defRPr b="0" i="0" strike="noStrike" sz="1100" u="none">
                  <a:solidFill>
                    <a:srgbClr val="1B1F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163"/>
                </a:solidFill>
                <a:latin typeface="Calibri"/>
              </a:defRPr>
            </a:pPr>
            <a:endParaRPr lang="en-US"/>
          </a:p>
        </c:txPr>
        <c:crossAx val="2094734552"/>
        <c:crosses val="autoZero"/>
        <c:auto val="1"/>
        <c:lblAlgn val="ctr"/>
        <c:noMultiLvlLbl val="1"/>
      </c:catAx>
      <c:valAx>
        <c:axId val="2094734552"/>
        <c:scaling>
          <c:orientation val="minMax"/>
          <c:max val="0.83"/>
          <c:min val="0.7"/>
        </c:scaling>
        <c:delete val="0"/>
        <c:axPos val="b"/>
        <c:majorGridlines>
          <c:spPr>
            <a:ln w="12700" cap="flat">
              <a:solidFill>
                <a:srgbClr val="E4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A516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Cambria"/>
              </a:defRPr>
            </a:pPr>
            <a:r>
              <a:rPr sz="1300" b="0" i="0" u="none" strike="noStrike">
                <a:solidFill>
                  <a:srgbClr val="1B1F2A"/>
                </a:solidFill>
                <a:latin typeface="Cambria"/>
              </a:rPr>
              <a:t>F1 across every mixture of the two models</a:t>
            </a:r>
          </a:p>
        </c:rich>
      </c:tx>
      <c:layout/>
      <c:overlay val="0"/>
    </c:title>
    <c:autoTitleDeleted val="0"/>
    <c:plotArea>
      <c:layout/>
      <c:lineChart>
        <c:varyColors val="0"/>
        <c:ser>
          <c:idx val="0"/>
          <c:order val="0"/>
          <c:tx>
            <c:strRef>
              <c:f>Sheet1!$B$1</c:f>
              <c:strCache>
                <c:ptCount val="1"/>
                <c:pt idx="0">
                  <c:v>F1</c:v>
                </c:pt>
              </c:strCache>
            </c:strRef>
          </c:tx>
          <c:spPr>
            <a:solidFill>
              <a:srgbClr val="E39A00"/>
            </a:solidFill>
            <a:ln w="38100" cap="flat">
              <a:solidFill>
                <a:srgbClr val="E39A00"/>
              </a:solidFill>
              <a:prstDash val="solid"/>
              <a:round/>
            </a:ln>
            <a:effectLst/>
          </c:spPr>
          <c:invertIfNegative val="0"/>
          <c:dLbls>
            <c:numFmt formatCode="0.0000" sourceLinked="0"/>
            <c:txPr>
              <a:bodyPr/>
              <a:lstStyle/>
              <a:p>
                <a:pPr>
                  <a:defRPr b="0" i="0" strike="noStrike" sz="1000" u="none">
                    <a:solidFill>
                      <a:srgbClr val="1B1F2A"/>
                    </a:solidFill>
                    <a:latin typeface="Calibri"/>
                  </a:defRPr>
                </a:pPr>
              </a:p>
            </c:txPr>
            <c:dLblPos val="t"/>
            <c:showLegendKey val="0"/>
            <c:showVal val="1"/>
            <c:showCatName val="0"/>
            <c:showSerName val="0"/>
            <c:showPercent val="0"/>
            <c:showBubbleSize val="0"/>
            <c:showLeaderLines val="0"/>
          </c:dLbls>
          <c:marker>
            <c:symbol val="circle"/>
            <c:size val="6"/>
            <c:spPr>
              <a:solidFill>
                <a:srgbClr val="E39A00"/>
              </a:solidFill>
              <a:ln w="9525" cap="flat">
                <a:solidFill>
                  <a:srgbClr val="E39A00"/>
                </a:solidFill>
                <a:prstDash val="solid"/>
                <a:round/>
              </a:ln>
              <a:effectLst/>
            </c:spPr>
          </c:marker>
          <c:cat>
            <c:multiLvlStrRef>
              <c:f>Sheet1!$A$2:$A$8</c:f>
              <c:multiLvlStrCache>
                <c:ptCount val="7"/>
                <c:lvl>
                  <c:pt idx="0">
                    <c:v>all tree</c:v>
                  </c:pt>
                  <c:pt idx="1">
                    <c:v>0.25</c:v>
                  </c:pt>
                  <c:pt idx="2">
                    <c:v>0.40</c:v>
                  </c:pt>
                  <c:pt idx="3">
                    <c:v>0.50</c:v>
                  </c:pt>
                  <c:pt idx="4">
                    <c:v>0.60</c:v>
                  </c:pt>
                  <c:pt idx="5">
                    <c:v>0.75</c:v>
                  </c:pt>
                  <c:pt idx="6">
                    <c:v>all simple</c:v>
                  </c:pt>
                </c:lvl>
              </c:multiLvlStrCache>
            </c:multiLvlStrRef>
          </c:cat>
          <c:val>
            <c:numRef>
              <c:f>Sheet1!$B$2:$B$8</c:f>
              <c:numCache>
                <c:formatCode>General</c:formatCode>
                <c:ptCount val="7"/>
                <c:pt idx="0">
                  <c:v>0.5436</c:v>
                </c:pt>
                <c:pt idx="1">
                  <c:v>0.5463</c:v>
                </c:pt>
                <c:pt idx="2">
                  <c:v>0.5465</c:v>
                </c:pt>
                <c:pt idx="3">
                  <c:v>0.547</c:v>
                </c:pt>
                <c:pt idx="4">
                  <c:v>0.548</c:v>
                </c:pt>
                <c:pt idx="5">
                  <c:v>0.549</c:v>
                </c:pt>
                <c:pt idx="6">
                  <c:v>0.5501</c:v>
                </c:pt>
              </c:numCache>
            </c:numRef>
          </c:val>
          <c:smooth val="0"/>
        </c:ser>
        <c:dLbls>
          <c:numFmt formatCode="0.0000" sourceLinked="0"/>
          <c:txPr>
            <a:bodyPr/>
            <a:lstStyle/>
            <a:p>
              <a:pPr>
                <a:defRPr b="0" i="0" strike="noStrike" sz="1000" u="none">
                  <a:solidFill>
                    <a:srgbClr val="1B1F2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63"/>
                </a:solidFill>
                <a:latin typeface="Calibri"/>
              </a:defRPr>
            </a:pPr>
            <a:endParaRPr lang="en-US"/>
          </a:p>
        </c:txPr>
        <c:crossAx val="2094734552"/>
        <c:crosses val="autoZero"/>
        <c:auto val="1"/>
        <c:lblAlgn val="ctr"/>
        <c:noMultiLvlLbl val="1"/>
      </c:catAx>
      <c:valAx>
        <c:axId val="2094734552"/>
        <c:scaling>
          <c:orientation val="minMax"/>
          <c:max val="0.556"/>
          <c:min val="0.54"/>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16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280160"/>
            <a:ext cx="5120640" cy="5120640"/>
          </a:xfrm>
          <a:prstGeom prst="ellipse">
            <a:avLst/>
          </a:prstGeom>
          <a:solidFill>
            <a:srgbClr val="2B3A75"/>
          </a:solidFill>
          <a:ln/>
        </p:spPr>
      </p:sp>
      <p:sp>
        <p:nvSpPr>
          <p:cNvPr id="3" name="Shape 1"/>
          <p:cNvSpPr/>
          <p:nvPr/>
        </p:nvSpPr>
        <p:spPr>
          <a:xfrm>
            <a:off x="10332720" y="4206240"/>
            <a:ext cx="2926080" cy="2926080"/>
          </a:xfrm>
          <a:prstGeom prst="ellipse">
            <a:avLst/>
          </a:prstGeom>
          <a:solidFill>
            <a:srgbClr val="2B3A75"/>
          </a:solidFill>
          <a:ln/>
        </p:spPr>
      </p:sp>
      <p:sp>
        <p:nvSpPr>
          <p:cNvPr id="4" name="Text 2"/>
          <p:cNvSpPr/>
          <p:nvPr/>
        </p:nvSpPr>
        <p:spPr>
          <a:xfrm>
            <a:off x="822960" y="1371600"/>
            <a:ext cx="8229600" cy="365760"/>
          </a:xfrm>
          <a:prstGeom prst="rect">
            <a:avLst/>
          </a:prstGeom>
          <a:noFill/>
          <a:ln/>
        </p:spPr>
        <p:txBody>
          <a:bodyPr wrap="square" lIns="0" tIns="0" rIns="0" bIns="0" rtlCol="0" anchor="ctr"/>
          <a:lstStyle/>
          <a:p>
            <a:pPr indent="0" marL="0">
              <a:buNone/>
            </a:pPr>
            <a:r>
              <a:rPr lang="en-US" sz="1300" b="1" spc="300" kern="0" dirty="0">
                <a:solidFill>
                  <a:srgbClr val="E39A00"/>
                </a:solidFill>
                <a:latin typeface="Calibri" pitchFamily="34" charset="0"/>
                <a:ea typeface="Calibri" pitchFamily="34" charset="-122"/>
                <a:cs typeface="Calibri" pitchFamily="34" charset="-120"/>
              </a:rPr>
              <a:t>INTERNSHIP PROJECT  ·  MARKETING</a:t>
            </a:r>
            <a:endParaRPr lang="en-US" sz="1300" dirty="0"/>
          </a:p>
        </p:txBody>
      </p:sp>
      <p:sp>
        <p:nvSpPr>
          <p:cNvPr id="5" name="Text 3"/>
          <p:cNvSpPr/>
          <p:nvPr/>
        </p:nvSpPr>
        <p:spPr>
          <a:xfrm>
            <a:off x="822960" y="1828800"/>
            <a:ext cx="8412480" cy="173736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Predicting who will close</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their credit card</a:t>
            </a:r>
            <a:endParaRPr lang="en-US" sz="4400" dirty="0"/>
          </a:p>
        </p:txBody>
      </p:sp>
      <p:sp>
        <p:nvSpPr>
          <p:cNvPr id="6" name="Text 4"/>
          <p:cNvSpPr/>
          <p:nvPr/>
        </p:nvSpPr>
        <p:spPr>
          <a:xfrm>
            <a:off x="822960" y="3703320"/>
            <a:ext cx="8229600" cy="548640"/>
          </a:xfrm>
          <a:prstGeom prst="rect">
            <a:avLst/>
          </a:prstGeom>
          <a:noFill/>
          <a:ln/>
        </p:spPr>
        <p:txBody>
          <a:bodyPr wrap="square" lIns="0" tIns="0" rIns="0" bIns="0" rtlCol="0" anchor="ctr"/>
          <a:lstStyle/>
          <a:p>
            <a:pPr indent="0" marL="0">
              <a:buNone/>
            </a:pPr>
            <a:r>
              <a:rPr lang="en-US" sz="1800" dirty="0">
                <a:solidFill>
                  <a:srgbClr val="C3CCE4"/>
                </a:solidFill>
                <a:latin typeface="Calibri" pitchFamily="34" charset="0"/>
                <a:ea typeface="Calibri" pitchFamily="34" charset="-122"/>
                <a:cs typeface="Calibri" pitchFamily="34" charset="-120"/>
              </a:rPr>
              <a:t>The story of how we got there — including everything that did not work</a:t>
            </a:r>
            <a:endParaRPr lang="en-US" sz="1800" dirty="0"/>
          </a:p>
        </p:txBody>
      </p:sp>
      <p:sp>
        <p:nvSpPr>
          <p:cNvPr id="7" name="Shape 5"/>
          <p:cNvSpPr/>
          <p:nvPr/>
        </p:nvSpPr>
        <p:spPr>
          <a:xfrm>
            <a:off x="841248" y="4526280"/>
            <a:ext cx="822960" cy="32004"/>
          </a:xfrm>
          <a:prstGeom prst="rect">
            <a:avLst/>
          </a:prstGeom>
          <a:solidFill>
            <a:srgbClr val="E39A00"/>
          </a:solidFill>
          <a:ln w="12700">
            <a:solidFill>
              <a:srgbClr val="E39A00"/>
            </a:solidFill>
            <a:prstDash val="solid"/>
          </a:ln>
        </p:spPr>
      </p:sp>
      <p:sp>
        <p:nvSpPr>
          <p:cNvPr id="8" name="Text 6"/>
          <p:cNvSpPr/>
          <p:nvPr/>
        </p:nvSpPr>
        <p:spPr>
          <a:xfrm>
            <a:off x="822960" y="4754880"/>
            <a:ext cx="54864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Abdelrahman Hamdy</a:t>
            </a:r>
            <a:endParaRPr lang="en-US" sz="1500" dirty="0"/>
          </a:p>
        </p:txBody>
      </p:sp>
      <p:sp>
        <p:nvSpPr>
          <p:cNvPr id="9" name="Text 7"/>
          <p:cNvSpPr/>
          <p:nvPr/>
        </p:nvSpPr>
        <p:spPr>
          <a:xfrm>
            <a:off x="822960" y="5102352"/>
            <a:ext cx="6400800" cy="320040"/>
          </a:xfrm>
          <a:prstGeom prst="rect">
            <a:avLst/>
          </a:prstGeom>
          <a:noFill/>
          <a:ln/>
        </p:spPr>
        <p:txBody>
          <a:bodyPr wrap="square" lIns="0" tIns="0" rIns="0" bIns="0" rtlCol="0" anchor="ctr"/>
          <a:lstStyle/>
          <a:p>
            <a:pPr indent="0" marL="0">
              <a:buNone/>
            </a:pPr>
            <a:r>
              <a:rPr lang="en-US" sz="1300" dirty="0">
                <a:solidFill>
                  <a:srgbClr val="8891A4"/>
                </a:solidFill>
                <a:latin typeface="Calibri" pitchFamily="34" charset="0"/>
                <a:ea typeface="Calibri" pitchFamily="34" charset="-122"/>
                <a:cs typeface="Calibri" pitchFamily="34" charset="-120"/>
              </a:rPr>
              <a:t>Phases 1–3 complete  ·  Phase 4 next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What we were asked to build</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One assistant the marketing team can talk to</a:t>
            </a:r>
            <a:endParaRPr lang="en-US" sz="1500" dirty="0"/>
          </a:p>
        </p:txBody>
      </p:sp>
      <p:sp>
        <p:nvSpPr>
          <p:cNvPr id="6" name="Shape 4"/>
          <p:cNvSpPr/>
          <p:nvPr/>
        </p:nvSpPr>
        <p:spPr>
          <a:xfrm>
            <a:off x="685800" y="1600200"/>
            <a:ext cx="10789920" cy="1170432"/>
          </a:xfrm>
          <a:prstGeom prst="roundRect">
            <a:avLst>
              <a:gd name="adj" fmla="val 6250"/>
            </a:avLst>
          </a:prstGeom>
          <a:solidFill>
            <a:srgbClr val="F4F6FB"/>
          </a:solidFill>
          <a:ln w="12700">
            <a:solidFill>
              <a:srgbClr val="F4F6FB"/>
            </a:solidFill>
            <a:prstDash val="solid"/>
          </a:ln>
        </p:spPr>
      </p:sp>
      <p:sp>
        <p:nvSpPr>
          <p:cNvPr id="7" name="Shape 5"/>
          <p:cNvSpPr/>
          <p:nvPr/>
        </p:nvSpPr>
        <p:spPr>
          <a:xfrm>
            <a:off x="1005840" y="1892808"/>
            <a:ext cx="566928" cy="566928"/>
          </a:xfrm>
          <a:prstGeom prst="ellipse">
            <a:avLst/>
          </a:prstGeom>
          <a:solidFill>
            <a:srgbClr val="4A6FA5"/>
          </a:solidFill>
          <a:ln/>
        </p:spPr>
      </p:sp>
      <p:sp>
        <p:nvSpPr>
          <p:cNvPr id="8" name="Text 6"/>
          <p:cNvSpPr/>
          <p:nvPr/>
        </p:nvSpPr>
        <p:spPr>
          <a:xfrm>
            <a:off x="1005840" y="189280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9" name="Text 7"/>
          <p:cNvSpPr/>
          <p:nvPr/>
        </p:nvSpPr>
        <p:spPr>
          <a:xfrm>
            <a:off x="1828800" y="1819656"/>
            <a:ext cx="9326880" cy="365760"/>
          </a:xfrm>
          <a:prstGeom prst="rect">
            <a:avLst/>
          </a:prstGeom>
          <a:noFill/>
          <a:ln/>
        </p:spPr>
        <p:txBody>
          <a:bodyPr wrap="square" lIns="0" tIns="0" rIns="0" bIns="0"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A marketing employee describes a customer</a:t>
            </a:r>
            <a:endParaRPr lang="en-US" sz="1800" dirty="0"/>
          </a:p>
        </p:txBody>
      </p:sp>
      <p:sp>
        <p:nvSpPr>
          <p:cNvPr id="10" name="Text 8"/>
          <p:cNvSpPr/>
          <p:nvPr/>
        </p:nvSpPr>
        <p:spPr>
          <a:xfrm>
            <a:off x="1828800" y="2221992"/>
            <a:ext cx="9326880" cy="365760"/>
          </a:xfrm>
          <a:prstGeom prst="rect">
            <a:avLst/>
          </a:prstGeom>
          <a:noFill/>
          <a:ln/>
        </p:spPr>
        <p:txBody>
          <a:bodyPr wrap="square" lIns="0" tIns="0" rIns="0" bIns="0" rtlCol="0" anchor="ctr"/>
          <a:lstStyle/>
          <a:p>
            <a:pPr indent="0" marL="0">
              <a:buNone/>
            </a:pPr>
            <a:r>
              <a:rPr lang="en-US" sz="1400" dirty="0">
                <a:solidFill>
                  <a:srgbClr val="4A5163"/>
                </a:solidFill>
                <a:latin typeface="Calibri" pitchFamily="34" charset="0"/>
                <a:ea typeface="Calibri" pitchFamily="34" charset="-122"/>
                <a:cs typeface="Calibri" pitchFamily="34" charset="-120"/>
              </a:rPr>
              <a:t>Age, salary, six months of card activity — typed into a chat.</a:t>
            </a:r>
            <a:endParaRPr lang="en-US" sz="1400" dirty="0"/>
          </a:p>
        </p:txBody>
      </p:sp>
      <p:sp>
        <p:nvSpPr>
          <p:cNvPr id="11" name="Shape 9"/>
          <p:cNvSpPr/>
          <p:nvPr/>
        </p:nvSpPr>
        <p:spPr>
          <a:xfrm>
            <a:off x="685800" y="2971800"/>
            <a:ext cx="10789920" cy="1170432"/>
          </a:xfrm>
          <a:prstGeom prst="roundRect">
            <a:avLst>
              <a:gd name="adj" fmla="val 6250"/>
            </a:avLst>
          </a:prstGeom>
          <a:solidFill>
            <a:srgbClr val="F4F6FB"/>
          </a:solidFill>
          <a:ln w="12700">
            <a:solidFill>
              <a:srgbClr val="F4F6FB"/>
            </a:solidFill>
            <a:prstDash val="solid"/>
          </a:ln>
        </p:spPr>
      </p:sp>
      <p:sp>
        <p:nvSpPr>
          <p:cNvPr id="12" name="Shape 10"/>
          <p:cNvSpPr/>
          <p:nvPr/>
        </p:nvSpPr>
        <p:spPr>
          <a:xfrm>
            <a:off x="1005840" y="3264408"/>
            <a:ext cx="566928" cy="566928"/>
          </a:xfrm>
          <a:prstGeom prst="ellipse">
            <a:avLst/>
          </a:prstGeom>
          <a:solidFill>
            <a:srgbClr val="E39A00"/>
          </a:solidFill>
          <a:ln/>
        </p:spPr>
      </p:sp>
      <p:sp>
        <p:nvSpPr>
          <p:cNvPr id="13" name="Text 11"/>
          <p:cNvSpPr/>
          <p:nvPr/>
        </p:nvSpPr>
        <p:spPr>
          <a:xfrm>
            <a:off x="1005840" y="326440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p:nvPr/>
        </p:nvSpPr>
        <p:spPr>
          <a:xfrm>
            <a:off x="1828800" y="3191256"/>
            <a:ext cx="9326880" cy="365760"/>
          </a:xfrm>
          <a:prstGeom prst="rect">
            <a:avLst/>
          </a:prstGeom>
          <a:noFill/>
          <a:ln/>
        </p:spPr>
        <p:txBody>
          <a:bodyPr wrap="square" lIns="0" tIns="0" rIns="0" bIns="0"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A model predicts whether they will close the card</a:t>
            </a:r>
            <a:endParaRPr lang="en-US" sz="1800" dirty="0"/>
          </a:p>
        </p:txBody>
      </p:sp>
      <p:sp>
        <p:nvSpPr>
          <p:cNvPr id="15" name="Text 13"/>
          <p:cNvSpPr/>
          <p:nvPr/>
        </p:nvSpPr>
        <p:spPr>
          <a:xfrm>
            <a:off x="1828800" y="3593592"/>
            <a:ext cx="9326880" cy="365760"/>
          </a:xfrm>
          <a:prstGeom prst="rect">
            <a:avLst/>
          </a:prstGeom>
          <a:noFill/>
          <a:ln/>
        </p:spPr>
        <p:txBody>
          <a:bodyPr wrap="square" lIns="0" tIns="0" rIns="0" bIns="0" rtlCol="0" anchor="ctr"/>
          <a:lstStyle/>
          <a:p>
            <a:pPr indent="0" marL="0">
              <a:buNone/>
            </a:pPr>
            <a:r>
              <a:rPr lang="en-US" sz="1400" dirty="0">
                <a:solidFill>
                  <a:srgbClr val="4A5163"/>
                </a:solidFill>
                <a:latin typeface="Calibri" pitchFamily="34" charset="0"/>
                <a:ea typeface="Calibri" pitchFamily="34" charset="-122"/>
                <a:cs typeface="Calibri" pitchFamily="34" charset="-120"/>
              </a:rPr>
              <a:t>And, just as importantly, explains why it thinks so.</a:t>
            </a:r>
            <a:endParaRPr lang="en-US" sz="1400" dirty="0"/>
          </a:p>
        </p:txBody>
      </p:sp>
      <p:sp>
        <p:nvSpPr>
          <p:cNvPr id="16" name="Shape 14"/>
          <p:cNvSpPr/>
          <p:nvPr/>
        </p:nvSpPr>
        <p:spPr>
          <a:xfrm>
            <a:off x="685800" y="4343400"/>
            <a:ext cx="10789920" cy="1170432"/>
          </a:xfrm>
          <a:prstGeom prst="roundRect">
            <a:avLst>
              <a:gd name="adj" fmla="val 6250"/>
            </a:avLst>
          </a:prstGeom>
          <a:solidFill>
            <a:srgbClr val="F4F6FB"/>
          </a:solidFill>
          <a:ln w="12700">
            <a:solidFill>
              <a:srgbClr val="F4F6FB"/>
            </a:solidFill>
            <a:prstDash val="solid"/>
          </a:ln>
        </p:spPr>
      </p:sp>
      <p:sp>
        <p:nvSpPr>
          <p:cNvPr id="17" name="Shape 15"/>
          <p:cNvSpPr/>
          <p:nvPr/>
        </p:nvSpPr>
        <p:spPr>
          <a:xfrm>
            <a:off x="1005840" y="4636008"/>
            <a:ext cx="566928" cy="566928"/>
          </a:xfrm>
          <a:prstGeom prst="ellipse">
            <a:avLst/>
          </a:prstGeom>
          <a:solidFill>
            <a:srgbClr val="3F7D68"/>
          </a:solidFill>
          <a:ln/>
        </p:spPr>
      </p:sp>
      <p:sp>
        <p:nvSpPr>
          <p:cNvPr id="18" name="Text 16"/>
          <p:cNvSpPr/>
          <p:nvPr/>
        </p:nvSpPr>
        <p:spPr>
          <a:xfrm>
            <a:off x="1005840" y="463600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Text 17"/>
          <p:cNvSpPr/>
          <p:nvPr/>
        </p:nvSpPr>
        <p:spPr>
          <a:xfrm>
            <a:off x="1828800" y="4562856"/>
            <a:ext cx="9326880" cy="365760"/>
          </a:xfrm>
          <a:prstGeom prst="rect">
            <a:avLst/>
          </a:prstGeom>
          <a:noFill/>
          <a:ln/>
        </p:spPr>
        <p:txBody>
          <a:bodyPr wrap="square" lIns="0" tIns="0" rIns="0" bIns="0"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The assistant proposes a retention offer</a:t>
            </a:r>
            <a:endParaRPr lang="en-US" sz="1800" dirty="0"/>
          </a:p>
        </p:txBody>
      </p:sp>
      <p:sp>
        <p:nvSpPr>
          <p:cNvPr id="20" name="Text 18"/>
          <p:cNvSpPr/>
          <p:nvPr/>
        </p:nvSpPr>
        <p:spPr>
          <a:xfrm>
            <a:off x="1828800" y="4965192"/>
            <a:ext cx="9326880" cy="365760"/>
          </a:xfrm>
          <a:prstGeom prst="rect">
            <a:avLst/>
          </a:prstGeom>
          <a:noFill/>
          <a:ln/>
        </p:spPr>
        <p:txBody>
          <a:bodyPr wrap="square" lIns="0" tIns="0" rIns="0" bIns="0" rtlCol="0" anchor="ctr"/>
          <a:lstStyle/>
          <a:p>
            <a:pPr indent="0" marL="0">
              <a:buNone/>
            </a:pPr>
            <a:r>
              <a:rPr lang="en-US" sz="1400" dirty="0">
                <a:solidFill>
                  <a:srgbClr val="4A5163"/>
                </a:solidFill>
                <a:latin typeface="Calibri" pitchFamily="34" charset="0"/>
                <a:ea typeface="Calibri" pitchFamily="34" charset="-122"/>
                <a:cs typeface="Calibri" pitchFamily="34" charset="-120"/>
              </a:rPr>
              <a:t>Aimed at that customer's specific reason for leaving.</a:t>
            </a:r>
            <a:endParaRPr lang="en-US" sz="1400" dirty="0"/>
          </a:p>
        </p:txBody>
      </p:sp>
      <p:sp>
        <p:nvSpPr>
          <p:cNvPr id="21" name="Text 19"/>
          <p:cNvSpPr/>
          <p:nvPr/>
        </p:nvSpPr>
        <p:spPr>
          <a:xfrm>
            <a:off x="685800" y="5806440"/>
            <a:ext cx="10789920" cy="365760"/>
          </a:xfrm>
          <a:prstGeom prst="rect">
            <a:avLst/>
          </a:prstGeom>
          <a:noFill/>
          <a:ln/>
        </p:spPr>
        <p:txBody>
          <a:bodyPr wrap="square" lIns="0" tIns="0" rIns="0" bIns="0" rtlCol="0" anchor="ctr"/>
          <a:lstStyle/>
          <a:p>
            <a:pPr indent="0" marL="0">
              <a:buNone/>
            </a:pPr>
            <a:r>
              <a:rPr lang="en-US" sz="1400" i="1" dirty="0">
                <a:solidFill>
                  <a:srgbClr val="1E2761"/>
                </a:solidFill>
                <a:latin typeface="Calibri" pitchFamily="34" charset="0"/>
                <a:ea typeface="Calibri" pitchFamily="34" charset="-122"/>
                <a:cs typeface="Calibri" pitchFamily="34" charset="-120"/>
              </a:rPr>
              <a:t>Closing the card is not leaving the bank. They stay a customer — they end one product.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2148840"/>
            <a:ext cx="1371600" cy="1371600"/>
          </a:xfrm>
          <a:prstGeom prst="ellipse">
            <a:avLst/>
          </a:prstGeom>
          <a:solidFill>
            <a:srgbClr val="E39A00"/>
          </a:solidFill>
          <a:ln/>
        </p:spPr>
      </p:sp>
      <p:sp>
        <p:nvSpPr>
          <p:cNvPr id="3" name="Text 1"/>
          <p:cNvSpPr/>
          <p:nvPr/>
        </p:nvSpPr>
        <p:spPr>
          <a:xfrm>
            <a:off x="822960" y="2148840"/>
            <a:ext cx="1371600" cy="13716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2651760" y="2148840"/>
            <a:ext cx="8686800" cy="365760"/>
          </a:xfrm>
          <a:prstGeom prst="rect">
            <a:avLst/>
          </a:prstGeom>
          <a:noFill/>
          <a:ln/>
        </p:spPr>
        <p:txBody>
          <a:bodyPr wrap="square" lIns="0" tIns="0" rIns="0" bIns="0" rtlCol="0" anchor="ctr"/>
          <a:lstStyle/>
          <a:p>
            <a:pPr indent="0" marL="0">
              <a:buNone/>
            </a:pPr>
            <a:r>
              <a:rPr lang="en-US" sz="1400" b="1" spc="300" kern="0" dirty="0">
                <a:solidFill>
                  <a:srgbClr val="E39A00"/>
                </a:solidFill>
                <a:latin typeface="Calibri" pitchFamily="34" charset="0"/>
                <a:ea typeface="Calibri" pitchFamily="34" charset="-122"/>
                <a:cs typeface="Calibri" pitchFamily="34" charset="-120"/>
              </a:rPr>
              <a:t>CHAPTER ONE</a:t>
            </a:r>
            <a:endParaRPr lang="en-US" sz="1400" dirty="0"/>
          </a:p>
        </p:txBody>
      </p:sp>
      <p:sp>
        <p:nvSpPr>
          <p:cNvPr id="5" name="Text 3"/>
          <p:cNvSpPr/>
          <p:nvPr/>
        </p:nvSpPr>
        <p:spPr>
          <a:xfrm>
            <a:off x="2651760" y="2560320"/>
            <a:ext cx="86868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Reading the data</a:t>
            </a:r>
            <a:endParaRPr lang="en-US" sz="4000" dirty="0"/>
          </a:p>
        </p:txBody>
      </p:sp>
      <p:sp>
        <p:nvSpPr>
          <p:cNvPr id="6" name="Text 4"/>
          <p:cNvSpPr/>
          <p:nvPr/>
        </p:nvSpPr>
        <p:spPr>
          <a:xfrm>
            <a:off x="2651760" y="3520440"/>
            <a:ext cx="8046720" cy="822960"/>
          </a:xfrm>
          <a:prstGeom prst="rect">
            <a:avLst/>
          </a:prstGeom>
          <a:noFill/>
          <a:ln/>
        </p:spPr>
        <p:txBody>
          <a:bodyPr wrap="square" lIns="0" tIns="0" rIns="0" bIns="0" rtlCol="0" anchor="ctr"/>
          <a:lstStyle/>
          <a:p>
            <a:pPr indent="0" marL="0">
              <a:lnSpc>
                <a:spcPts val="2400"/>
              </a:lnSpc>
              <a:buNone/>
            </a:pPr>
            <a:r>
              <a:rPr lang="en-US" sz="1600" dirty="0">
                <a:solidFill>
                  <a:srgbClr val="C3CCE4"/>
                </a:solidFill>
                <a:latin typeface="Calibri" pitchFamily="34" charset="0"/>
                <a:ea typeface="Calibri" pitchFamily="34" charset="-122"/>
                <a:cs typeface="Calibri" pitchFamily="34" charset="-120"/>
              </a:rPr>
              <a:t>Eight slides. Several answers were the opposite of what we expected, and three of our own ideas did not survive.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What we were handed</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One file, and no idea yet whether anything in it was useful</a:t>
            </a:r>
            <a:endParaRPr lang="en-US" sz="1500" dirty="0"/>
          </a:p>
        </p:txBody>
      </p:sp>
      <p:sp>
        <p:nvSpPr>
          <p:cNvPr id="6" name="Shape 4"/>
          <p:cNvSpPr/>
          <p:nvPr/>
        </p:nvSpPr>
        <p:spPr>
          <a:xfrm>
            <a:off x="685800" y="1600200"/>
            <a:ext cx="10789920" cy="1691640"/>
          </a:xfrm>
          <a:prstGeom prst="roundRect">
            <a:avLst>
              <a:gd name="adj" fmla="val 4324"/>
            </a:avLst>
          </a:prstGeom>
          <a:solidFill>
            <a:srgbClr val="F4F6FB"/>
          </a:solidFill>
          <a:ln w="12700">
            <a:solidFill>
              <a:srgbClr val="F4F6FB"/>
            </a:solidFill>
            <a:prstDash val="solid"/>
          </a:ln>
        </p:spPr>
      </p:sp>
      <p:sp>
        <p:nvSpPr>
          <p:cNvPr id="7" name="Text 5"/>
          <p:cNvSpPr/>
          <p:nvPr/>
        </p:nvSpPr>
        <p:spPr>
          <a:xfrm>
            <a:off x="914400" y="1828800"/>
            <a:ext cx="2377440" cy="777240"/>
          </a:xfrm>
          <a:prstGeom prst="rect">
            <a:avLst/>
          </a:prstGeom>
          <a:noFill/>
          <a:ln/>
        </p:spPr>
        <p:txBody>
          <a:bodyPr wrap="square" lIns="0" tIns="0" rIns="0" bIns="0" rtlCol="0" anchor="ctr"/>
          <a:lstStyle/>
          <a:p>
            <a:pPr algn="ctr" indent="0" marL="0">
              <a:buNone/>
            </a:pPr>
            <a:r>
              <a:rPr lang="en-US" sz="4400" b="1" dirty="0">
                <a:solidFill>
                  <a:srgbClr val="1E2761"/>
                </a:solidFill>
                <a:latin typeface="Cambria" pitchFamily="34" charset="0"/>
                <a:ea typeface="Cambria" pitchFamily="34" charset="-122"/>
                <a:cs typeface="Cambria" pitchFamily="34" charset="-120"/>
              </a:rPr>
              <a:t>8,500</a:t>
            </a:r>
            <a:endParaRPr lang="en-US" sz="4400" dirty="0"/>
          </a:p>
        </p:txBody>
      </p:sp>
      <p:sp>
        <p:nvSpPr>
          <p:cNvPr id="8" name="Text 6"/>
          <p:cNvSpPr/>
          <p:nvPr/>
        </p:nvSpPr>
        <p:spPr>
          <a:xfrm>
            <a:off x="914400" y="2606040"/>
            <a:ext cx="2377440" cy="502920"/>
          </a:xfrm>
          <a:prstGeom prst="rect">
            <a:avLst/>
          </a:prstGeom>
          <a:noFill/>
          <a:ln/>
        </p:spPr>
        <p:txBody>
          <a:bodyPr wrap="square" lIns="0" tIns="0" rIns="0" bIns="0" rtlCol="0" anchor="ctr"/>
          <a:lstStyle/>
          <a:p>
            <a:pPr algn="ctr" indent="0" marL="0">
              <a:lnSpc>
                <a:spcPts val="1500"/>
              </a:lnSpc>
              <a:buNone/>
            </a:pPr>
            <a:r>
              <a:rPr lang="en-US" sz="1200" dirty="0">
                <a:solidFill>
                  <a:srgbClr val="4A5163"/>
                </a:solidFill>
                <a:latin typeface="Calibri" pitchFamily="34" charset="0"/>
                <a:ea typeface="Calibri" pitchFamily="34" charset="-122"/>
                <a:cs typeface="Calibri" pitchFamily="34" charset="-120"/>
              </a:rPr>
              <a:t>customers in the file</a:t>
            </a:r>
            <a:endParaRPr lang="en-US" sz="1200" dirty="0"/>
          </a:p>
        </p:txBody>
      </p:sp>
      <p:sp>
        <p:nvSpPr>
          <p:cNvPr id="9" name="Text 7"/>
          <p:cNvSpPr/>
          <p:nvPr/>
        </p:nvSpPr>
        <p:spPr>
          <a:xfrm>
            <a:off x="3520440" y="1828800"/>
            <a:ext cx="2377440" cy="777240"/>
          </a:xfrm>
          <a:prstGeom prst="rect">
            <a:avLst/>
          </a:prstGeom>
          <a:noFill/>
          <a:ln/>
        </p:spPr>
        <p:txBody>
          <a:bodyPr wrap="square" lIns="0" tIns="0" rIns="0" bIns="0" rtlCol="0" anchor="ctr"/>
          <a:lstStyle/>
          <a:p>
            <a:pPr algn="ctr" indent="0" marL="0">
              <a:buNone/>
            </a:pPr>
            <a:r>
              <a:rPr lang="en-US" sz="4400" b="1" dirty="0">
                <a:solidFill>
                  <a:srgbClr val="1E2761"/>
                </a:solidFill>
                <a:latin typeface="Cambria" pitchFamily="34" charset="0"/>
                <a:ea typeface="Cambria" pitchFamily="34" charset="-122"/>
                <a:cs typeface="Cambria" pitchFamily="34" charset="-120"/>
              </a:rPr>
              <a:t>29</a:t>
            </a:r>
            <a:endParaRPr lang="en-US" sz="4400" dirty="0"/>
          </a:p>
        </p:txBody>
      </p:sp>
      <p:sp>
        <p:nvSpPr>
          <p:cNvPr id="10" name="Text 8"/>
          <p:cNvSpPr/>
          <p:nvPr/>
        </p:nvSpPr>
        <p:spPr>
          <a:xfrm>
            <a:off x="3520440" y="2606040"/>
            <a:ext cx="2377440" cy="502920"/>
          </a:xfrm>
          <a:prstGeom prst="rect">
            <a:avLst/>
          </a:prstGeom>
          <a:noFill/>
          <a:ln/>
        </p:spPr>
        <p:txBody>
          <a:bodyPr wrap="square" lIns="0" tIns="0" rIns="0" bIns="0" rtlCol="0" anchor="ctr"/>
          <a:lstStyle/>
          <a:p>
            <a:pPr algn="ctr" indent="0" marL="0">
              <a:lnSpc>
                <a:spcPts val="1500"/>
              </a:lnSpc>
              <a:buNone/>
            </a:pPr>
            <a:r>
              <a:rPr lang="en-US" sz="1200" dirty="0">
                <a:solidFill>
                  <a:srgbClr val="4A5163"/>
                </a:solidFill>
                <a:latin typeface="Calibri" pitchFamily="34" charset="0"/>
                <a:ea typeface="Calibri" pitchFamily="34" charset="-122"/>
                <a:cs typeface="Calibri" pitchFamily="34" charset="-120"/>
              </a:rPr>
              <a:t>columns describing each one</a:t>
            </a:r>
            <a:endParaRPr lang="en-US" sz="1200" dirty="0"/>
          </a:p>
        </p:txBody>
      </p:sp>
      <p:sp>
        <p:nvSpPr>
          <p:cNvPr id="11" name="Text 9"/>
          <p:cNvSpPr/>
          <p:nvPr/>
        </p:nvSpPr>
        <p:spPr>
          <a:xfrm>
            <a:off x="6126480" y="1828800"/>
            <a:ext cx="2377440" cy="777240"/>
          </a:xfrm>
          <a:prstGeom prst="rect">
            <a:avLst/>
          </a:prstGeom>
          <a:noFill/>
          <a:ln/>
        </p:spPr>
        <p:txBody>
          <a:bodyPr wrap="square" lIns="0" tIns="0" rIns="0" bIns="0" rtlCol="0" anchor="ctr"/>
          <a:lstStyle/>
          <a:p>
            <a:pPr algn="ctr" indent="0" marL="0">
              <a:buNone/>
            </a:pPr>
            <a:r>
              <a:rPr lang="en-US" sz="4400" b="1" dirty="0">
                <a:solidFill>
                  <a:srgbClr val="E39A00"/>
                </a:solidFill>
                <a:latin typeface="Cambria" pitchFamily="34" charset="0"/>
                <a:ea typeface="Cambria" pitchFamily="34" charset="-122"/>
                <a:cs typeface="Cambria" pitchFamily="34" charset="-120"/>
              </a:rPr>
              <a:t>1,697</a:t>
            </a:r>
            <a:endParaRPr lang="en-US" sz="4400" dirty="0"/>
          </a:p>
        </p:txBody>
      </p:sp>
      <p:sp>
        <p:nvSpPr>
          <p:cNvPr id="12" name="Text 10"/>
          <p:cNvSpPr/>
          <p:nvPr/>
        </p:nvSpPr>
        <p:spPr>
          <a:xfrm>
            <a:off x="6126480" y="2606040"/>
            <a:ext cx="2377440" cy="502920"/>
          </a:xfrm>
          <a:prstGeom prst="rect">
            <a:avLst/>
          </a:prstGeom>
          <a:noFill/>
          <a:ln/>
        </p:spPr>
        <p:txBody>
          <a:bodyPr wrap="square" lIns="0" tIns="0" rIns="0" bIns="0" rtlCol="0" anchor="ctr"/>
          <a:lstStyle/>
          <a:p>
            <a:pPr algn="ctr" indent="0" marL="0">
              <a:lnSpc>
                <a:spcPts val="1500"/>
              </a:lnSpc>
              <a:buNone/>
            </a:pPr>
            <a:r>
              <a:rPr lang="en-US" sz="1200" dirty="0">
                <a:solidFill>
                  <a:srgbClr val="4A5163"/>
                </a:solidFill>
                <a:latin typeface="Calibri" pitchFamily="34" charset="0"/>
                <a:ea typeface="Calibri" pitchFamily="34" charset="-122"/>
                <a:cs typeface="Calibri" pitchFamily="34" charset="-120"/>
              </a:rPr>
              <a:t>closed their credit card</a:t>
            </a:r>
            <a:endParaRPr lang="en-US" sz="1200" dirty="0"/>
          </a:p>
        </p:txBody>
      </p:sp>
      <p:sp>
        <p:nvSpPr>
          <p:cNvPr id="13" name="Text 11"/>
          <p:cNvSpPr/>
          <p:nvPr/>
        </p:nvSpPr>
        <p:spPr>
          <a:xfrm>
            <a:off x="8732520" y="1828800"/>
            <a:ext cx="2377440" cy="777240"/>
          </a:xfrm>
          <a:prstGeom prst="rect">
            <a:avLst/>
          </a:prstGeom>
          <a:noFill/>
          <a:ln/>
        </p:spPr>
        <p:txBody>
          <a:bodyPr wrap="square" lIns="0" tIns="0" rIns="0" bIns="0" rtlCol="0" anchor="ctr"/>
          <a:lstStyle/>
          <a:p>
            <a:pPr algn="ctr" indent="0" marL="0">
              <a:buNone/>
            </a:pPr>
            <a:r>
              <a:rPr lang="en-US" sz="4400" b="1" dirty="0">
                <a:solidFill>
                  <a:srgbClr val="E39A00"/>
                </a:solidFill>
                <a:latin typeface="Cambria" pitchFamily="34" charset="0"/>
                <a:ea typeface="Cambria" pitchFamily="34" charset="-122"/>
                <a:cs typeface="Cambria" pitchFamily="34" charset="-120"/>
              </a:rPr>
              <a:t>20%</a:t>
            </a:r>
            <a:endParaRPr lang="en-US" sz="4400" dirty="0"/>
          </a:p>
        </p:txBody>
      </p:sp>
      <p:sp>
        <p:nvSpPr>
          <p:cNvPr id="14" name="Text 12"/>
          <p:cNvSpPr/>
          <p:nvPr/>
        </p:nvSpPr>
        <p:spPr>
          <a:xfrm>
            <a:off x="8732520" y="2606040"/>
            <a:ext cx="2377440" cy="502920"/>
          </a:xfrm>
          <a:prstGeom prst="rect">
            <a:avLst/>
          </a:prstGeom>
          <a:noFill/>
          <a:ln/>
        </p:spPr>
        <p:txBody>
          <a:bodyPr wrap="square" lIns="0" tIns="0" rIns="0" bIns="0" rtlCol="0" anchor="ctr"/>
          <a:lstStyle/>
          <a:p>
            <a:pPr algn="ctr" indent="0" marL="0">
              <a:lnSpc>
                <a:spcPts val="1500"/>
              </a:lnSpc>
              <a:buNone/>
            </a:pPr>
            <a:r>
              <a:rPr lang="en-US" sz="1200" dirty="0">
                <a:solidFill>
                  <a:srgbClr val="4A5163"/>
                </a:solidFill>
                <a:latin typeface="Calibri" pitchFamily="34" charset="0"/>
                <a:ea typeface="Calibri" pitchFamily="34" charset="-122"/>
                <a:cs typeface="Calibri" pitchFamily="34" charset="-120"/>
              </a:rPr>
              <a:t>of the book — the closure rate</a:t>
            </a:r>
            <a:endParaRPr lang="en-US" sz="1200" dirty="0"/>
          </a:p>
        </p:txBody>
      </p:sp>
      <p:sp>
        <p:nvSpPr>
          <p:cNvPr id="15" name="Shape 13"/>
          <p:cNvSpPr/>
          <p:nvPr/>
        </p:nvSpPr>
        <p:spPr>
          <a:xfrm>
            <a:off x="685800" y="3520440"/>
            <a:ext cx="5257800" cy="2377440"/>
          </a:xfrm>
          <a:prstGeom prst="roundRect">
            <a:avLst>
              <a:gd name="adj" fmla="val 3077"/>
            </a:avLst>
          </a:prstGeom>
          <a:solidFill>
            <a:srgbClr val="F4F6FB"/>
          </a:solidFill>
          <a:ln w="12700">
            <a:solidFill>
              <a:srgbClr val="F4F6FB"/>
            </a:solidFill>
            <a:prstDash val="solid"/>
          </a:ln>
        </p:spPr>
      </p:sp>
      <p:sp>
        <p:nvSpPr>
          <p:cNvPr id="16" name="Text 14"/>
          <p:cNvSpPr/>
          <p:nvPr/>
        </p:nvSpPr>
        <p:spPr>
          <a:xfrm>
            <a:off x="1005840" y="3749040"/>
            <a:ext cx="4663440" cy="365760"/>
          </a:xfrm>
          <a:prstGeom prst="rect">
            <a:avLst/>
          </a:prstGeom>
          <a:noFill/>
          <a:ln/>
        </p:spPr>
        <p:txBody>
          <a:bodyPr wrap="square" lIns="0" tIns="0" rIns="0" bIns="0"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What the columns cover</a:t>
            </a:r>
            <a:endParaRPr lang="en-US" sz="1800" dirty="0"/>
          </a:p>
        </p:txBody>
      </p:sp>
      <p:sp>
        <p:nvSpPr>
          <p:cNvPr id="17" name="Text 15"/>
          <p:cNvSpPr/>
          <p:nvPr/>
        </p:nvSpPr>
        <p:spPr>
          <a:xfrm>
            <a:off x="1005840" y="4160520"/>
            <a:ext cx="4663440" cy="1554480"/>
          </a:xfrm>
          <a:prstGeom prst="rect">
            <a:avLst/>
          </a:prstGeom>
          <a:noFill/>
          <a:ln/>
        </p:spPr>
        <p:txBody>
          <a:bodyPr wrap="square" lIns="0" tIns="0" rIns="0" bIns="0" rtlCol="0" anchor="ctr"/>
          <a:lstStyle/>
          <a:p>
            <a:pPr marL="342900" indent="-342900">
              <a:lnSpc>
                <a:spcPts val="2000"/>
              </a:lnSpc>
              <a:spcAft>
                <a:spcPts val="900"/>
              </a:spcAft>
              <a:buSzPct val="100000"/>
              <a:buChar char="•"/>
            </a:pPr>
            <a:r>
              <a:rPr lang="en-US" sz="1400" dirty="0">
                <a:solidFill>
                  <a:srgbClr val="4A5163"/>
                </a:solidFill>
                <a:latin typeface="Calibri" pitchFamily="34" charset="0"/>
                <a:ea typeface="Calibri" pitchFamily="34" charset="-122"/>
                <a:cs typeface="Calibri" pitchFamily="34" charset="-120"/>
              </a:rPr>
              <a:t>The person — age, family, job, salary</a:t>
            </a:r>
            <a:endParaRPr lang="en-US" sz="1400" dirty="0"/>
          </a:p>
          <a:p>
            <a:pPr marL="342900" indent="-342900">
              <a:lnSpc>
                <a:spcPts val="2000"/>
              </a:lnSpc>
              <a:spcAft>
                <a:spcPts val="900"/>
              </a:spcAft>
              <a:buSzPct val="100000"/>
              <a:buChar char="•"/>
            </a:pPr>
            <a:r>
              <a:rPr lang="en-US" sz="1400" dirty="0">
                <a:solidFill>
                  <a:srgbClr val="4A5163"/>
                </a:solidFill>
                <a:latin typeface="Calibri" pitchFamily="34" charset="0"/>
                <a:ea typeface="Calibri" pitchFamily="34" charset="-122"/>
                <a:cs typeface="Calibri" pitchFamily="34" charset="-120"/>
              </a:rPr>
              <a:t>The relationship — loyalty, credit score</a:t>
            </a:r>
            <a:endParaRPr lang="en-US" sz="1400" dirty="0"/>
          </a:p>
          <a:p>
            <a:pPr marL="342900" indent="-342900">
              <a:lnSpc>
                <a:spcPts val="2000"/>
              </a:lnSpc>
              <a:spcAft>
                <a:spcPts val="900"/>
              </a:spcAft>
              <a:buSzPct val="100000"/>
              <a:buChar char="•"/>
            </a:pPr>
            <a:r>
              <a:rPr lang="en-US" sz="1400" dirty="0">
                <a:solidFill>
                  <a:srgbClr val="4A5163"/>
                </a:solidFill>
                <a:latin typeface="Calibri" pitchFamily="34" charset="0"/>
                <a:ea typeface="Calibri" pitchFamily="34" charset="-122"/>
                <a:cs typeface="Calibri" pitchFamily="34" charset="-120"/>
              </a:rPr>
              <a:t>Loans — how many, how much still owed</a:t>
            </a:r>
            <a:endParaRPr lang="en-US" sz="1400" dirty="0"/>
          </a:p>
          <a:p>
            <a:pPr marL="342900" indent="-342900">
              <a:lnSpc>
                <a:spcPts val="2000"/>
              </a:lnSpc>
              <a:spcAft>
                <a:spcPts val="900"/>
              </a:spcAft>
              <a:buSzPct val="100000"/>
              <a:buChar char="•"/>
            </a:pPr>
            <a:r>
              <a:rPr lang="en-US" sz="1400" dirty="0">
                <a:solidFill>
                  <a:srgbClr val="4A5163"/>
                </a:solidFill>
                <a:latin typeface="Calibri" pitchFamily="34" charset="0"/>
                <a:ea typeface="Calibri" pitchFamily="34" charset="-122"/>
                <a:cs typeface="Calibri" pitchFamily="34" charset="-120"/>
              </a:rPr>
              <a:t>Six months of card spending and payments</a:t>
            </a:r>
            <a:endParaRPr lang="en-US" sz="1400" dirty="0"/>
          </a:p>
        </p:txBody>
      </p:sp>
      <p:sp>
        <p:nvSpPr>
          <p:cNvPr id="18" name="Shape 16"/>
          <p:cNvSpPr/>
          <p:nvPr/>
        </p:nvSpPr>
        <p:spPr>
          <a:xfrm>
            <a:off x="6217920" y="3520440"/>
            <a:ext cx="5257800" cy="2377440"/>
          </a:xfrm>
          <a:prstGeom prst="roundRect">
            <a:avLst>
              <a:gd name="adj" fmla="val 3077"/>
            </a:avLst>
          </a:prstGeom>
          <a:solidFill>
            <a:srgbClr val="1E2761"/>
          </a:solidFill>
          <a:ln w="12700">
            <a:solidFill>
              <a:srgbClr val="1E2761"/>
            </a:solidFill>
            <a:prstDash val="solid"/>
          </a:ln>
        </p:spPr>
      </p:sp>
      <p:sp>
        <p:nvSpPr>
          <p:cNvPr id="19" name="Text 17"/>
          <p:cNvSpPr/>
          <p:nvPr/>
        </p:nvSpPr>
        <p:spPr>
          <a:xfrm>
            <a:off x="6537960" y="3749040"/>
            <a:ext cx="4663440" cy="365760"/>
          </a:xfrm>
          <a:prstGeom prst="rect">
            <a:avLst/>
          </a:prstGeom>
          <a:noFill/>
          <a:ln/>
        </p:spPr>
        <p:txBody>
          <a:bodyPr wrap="square" lIns="0" tIns="0" rIns="0" bIns="0" rtlCol="0" anchor="ctr"/>
          <a:lstStyle/>
          <a:p>
            <a:pPr indent="0" marL="0">
              <a:buNone/>
            </a:pPr>
            <a:r>
              <a:rPr lang="en-US" sz="1800" b="1" dirty="0">
                <a:solidFill>
                  <a:srgbClr val="E39A00"/>
                </a:solidFill>
                <a:latin typeface="Cambria" pitchFamily="34" charset="0"/>
                <a:ea typeface="Cambria" pitchFamily="34" charset="-122"/>
                <a:cs typeface="Cambria" pitchFamily="34" charset="-120"/>
              </a:rPr>
              <a:t>The trap hiding in that 20%</a:t>
            </a:r>
            <a:endParaRPr lang="en-US" sz="1800" dirty="0"/>
          </a:p>
        </p:txBody>
      </p:sp>
      <p:sp>
        <p:nvSpPr>
          <p:cNvPr id="20" name="Text 18"/>
          <p:cNvSpPr/>
          <p:nvPr/>
        </p:nvSpPr>
        <p:spPr>
          <a:xfrm>
            <a:off x="6537960" y="4160520"/>
            <a:ext cx="4663440" cy="1554480"/>
          </a:xfrm>
          <a:prstGeom prst="rect">
            <a:avLst/>
          </a:prstGeom>
          <a:noFill/>
          <a:ln/>
        </p:spPr>
        <p:txBody>
          <a:bodyPr wrap="square" lIns="0" tIns="0" rIns="0" bIns="0" rtlCol="0" anchor="ctr"/>
          <a:lstStyle/>
          <a:p>
            <a:pPr indent="0" marL="0">
              <a:lnSpc>
                <a:spcPts val="2000"/>
              </a:lnSpc>
              <a:buNone/>
            </a:pPr>
            <a:r>
              <a:rPr lang="en-US" sz="1400" dirty="0">
                <a:solidFill>
                  <a:srgbClr val="C3CCE4"/>
                </a:solidFill>
                <a:latin typeface="Calibri" pitchFamily="34" charset="0"/>
                <a:ea typeface="Calibri" pitchFamily="34" charset="-122"/>
                <a:cs typeface="Calibri" pitchFamily="34" charset="-120"/>
              </a:rPr>
              <a:t>If only 1 in 5 customers leave, a model that simply says "nobody ever leaves" is right 80% of the time — and catches nobody.</a:t>
            </a:r>
            <a:endParaRPr lang="en-US" sz="1400" dirty="0"/>
          </a:p>
          <a:p>
            <a:pPr indent="0" marL="0">
              <a:lnSpc>
                <a:spcPts val="2000"/>
              </a:lnSpc>
              <a:buNone/>
            </a:pPr>
            <a:endParaRPr lang="en-US" sz="1400" dirty="0"/>
          </a:p>
          <a:p>
            <a:pPr indent="0" marL="0">
              <a:lnSpc>
                <a:spcPts val="2000"/>
              </a:lnSpc>
              <a:buNone/>
            </a:pPr>
            <a:r>
              <a:rPr lang="en-US" sz="1400" dirty="0">
                <a:solidFill>
                  <a:srgbClr val="C3CCE4"/>
                </a:solidFill>
                <a:latin typeface="Calibri" pitchFamily="34" charset="0"/>
                <a:ea typeface="Calibri" pitchFamily="34" charset="-122"/>
                <a:cs typeface="Calibri" pitchFamily="34" charset="-120"/>
              </a:rPr>
              <a:t>That is why we never judged this project on accuracy. Not once.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Before trusting anything — is the data sound?</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Five rules that should each catch a few mistakes</a:t>
            </a:r>
            <a:endParaRPr lang="en-US" sz="1500" dirty="0"/>
          </a:p>
        </p:txBody>
      </p:sp>
      <p:sp>
        <p:nvSpPr>
          <p:cNvPr id="6" name="Shape 4"/>
          <p:cNvSpPr/>
          <p:nvPr/>
        </p:nvSpPr>
        <p:spPr>
          <a:xfrm>
            <a:off x="685800" y="1645920"/>
            <a:ext cx="6949440" cy="566928"/>
          </a:xfrm>
          <a:prstGeom prst="roundRect">
            <a:avLst>
              <a:gd name="adj" fmla="val 12903"/>
            </a:avLst>
          </a:prstGeom>
          <a:solidFill>
            <a:srgbClr val="F4F6FB"/>
          </a:solidFill>
          <a:ln w="12700">
            <a:solidFill>
              <a:srgbClr val="F4F6FB"/>
            </a:solidFill>
            <a:prstDash val="solid"/>
          </a:ln>
        </p:spPr>
      </p:sp>
      <p:sp>
        <p:nvSpPr>
          <p:cNvPr id="7" name="Text 5"/>
          <p:cNvSpPr/>
          <p:nvPr/>
        </p:nvSpPr>
        <p:spPr>
          <a:xfrm>
            <a:off x="960120" y="1645920"/>
            <a:ext cx="5669280" cy="566928"/>
          </a:xfrm>
          <a:prstGeom prst="rect">
            <a:avLst/>
          </a:prstGeom>
          <a:noFill/>
          <a:ln/>
        </p:spPr>
        <p:txBody>
          <a:bodyPr wrap="square" lIns="0" tIns="0" rIns="0" bIns="0" rtlCol="0" anchor="ctr"/>
          <a:lstStyle/>
          <a:p>
            <a:pPr indent="0" marL="0">
              <a:buNone/>
            </a:pPr>
            <a:r>
              <a:rPr lang="en-US" sz="1400" dirty="0">
                <a:solidFill>
                  <a:srgbClr val="4A5163"/>
                </a:solidFill>
                <a:latin typeface="Calibri" pitchFamily="34" charset="0"/>
                <a:ea typeface="Calibri" pitchFamily="34" charset="-122"/>
                <a:cs typeface="Calibri" pitchFamily="34" charset="-120"/>
              </a:rPr>
              <a:t>Never had a loan, but has a loan count</a:t>
            </a:r>
            <a:endParaRPr lang="en-US" sz="1400" dirty="0"/>
          </a:p>
        </p:txBody>
      </p:sp>
      <p:sp>
        <p:nvSpPr>
          <p:cNvPr id="8" name="Text 6"/>
          <p:cNvSpPr/>
          <p:nvPr/>
        </p:nvSpPr>
        <p:spPr>
          <a:xfrm>
            <a:off x="6766560" y="1645920"/>
            <a:ext cx="640080" cy="566928"/>
          </a:xfrm>
          <a:prstGeom prst="rect">
            <a:avLst/>
          </a:prstGeom>
          <a:noFill/>
          <a:ln/>
        </p:spPr>
        <p:txBody>
          <a:bodyPr wrap="square" lIns="0" tIns="0" rIns="0" bIns="0" rtlCol="0" anchor="ctr"/>
          <a:lstStyle/>
          <a:p>
            <a:pPr algn="r" indent="0" marL="0">
              <a:buNone/>
            </a:pPr>
            <a:r>
              <a:rPr lang="en-US" sz="2000" b="1" dirty="0">
                <a:solidFill>
                  <a:srgbClr val="3F7D68"/>
                </a:solidFill>
                <a:latin typeface="Cambria" pitchFamily="34" charset="0"/>
                <a:ea typeface="Cambria" pitchFamily="34" charset="-122"/>
                <a:cs typeface="Cambria" pitchFamily="34" charset="-120"/>
              </a:rPr>
              <a:t>0</a:t>
            </a:r>
            <a:endParaRPr lang="en-US" sz="2000" dirty="0"/>
          </a:p>
        </p:txBody>
      </p:sp>
      <p:sp>
        <p:nvSpPr>
          <p:cNvPr id="9" name="Shape 7"/>
          <p:cNvSpPr/>
          <p:nvPr/>
        </p:nvSpPr>
        <p:spPr>
          <a:xfrm>
            <a:off x="685800" y="2340864"/>
            <a:ext cx="6949440" cy="566928"/>
          </a:xfrm>
          <a:prstGeom prst="roundRect">
            <a:avLst>
              <a:gd name="adj" fmla="val 12903"/>
            </a:avLst>
          </a:prstGeom>
          <a:solidFill>
            <a:srgbClr val="F4F6FB"/>
          </a:solidFill>
          <a:ln w="12700">
            <a:solidFill>
              <a:srgbClr val="F4F6FB"/>
            </a:solidFill>
            <a:prstDash val="solid"/>
          </a:ln>
        </p:spPr>
      </p:sp>
      <p:sp>
        <p:nvSpPr>
          <p:cNvPr id="10" name="Text 8"/>
          <p:cNvSpPr/>
          <p:nvPr/>
        </p:nvSpPr>
        <p:spPr>
          <a:xfrm>
            <a:off x="960120" y="2340864"/>
            <a:ext cx="5669280" cy="566928"/>
          </a:xfrm>
          <a:prstGeom prst="rect">
            <a:avLst/>
          </a:prstGeom>
          <a:noFill/>
          <a:ln/>
        </p:spPr>
        <p:txBody>
          <a:bodyPr wrap="square" lIns="0" tIns="0" rIns="0" bIns="0" rtlCol="0" anchor="ctr"/>
          <a:lstStyle/>
          <a:p>
            <a:pPr indent="0" marL="0">
              <a:buNone/>
            </a:pPr>
            <a:r>
              <a:rPr lang="en-US" sz="1400" dirty="0">
                <a:solidFill>
                  <a:srgbClr val="4A5163"/>
                </a:solidFill>
                <a:latin typeface="Calibri" pitchFamily="34" charset="0"/>
                <a:ea typeface="Calibri" pitchFamily="34" charset="-122"/>
                <a:cs typeface="Calibri" pitchFamily="34" charset="-120"/>
              </a:rPr>
              <a:t>Never had a loan, but owes a balance</a:t>
            </a:r>
            <a:endParaRPr lang="en-US" sz="1400" dirty="0"/>
          </a:p>
        </p:txBody>
      </p:sp>
      <p:sp>
        <p:nvSpPr>
          <p:cNvPr id="11" name="Text 9"/>
          <p:cNvSpPr/>
          <p:nvPr/>
        </p:nvSpPr>
        <p:spPr>
          <a:xfrm>
            <a:off x="6766560" y="2340864"/>
            <a:ext cx="640080" cy="566928"/>
          </a:xfrm>
          <a:prstGeom prst="rect">
            <a:avLst/>
          </a:prstGeom>
          <a:noFill/>
          <a:ln/>
        </p:spPr>
        <p:txBody>
          <a:bodyPr wrap="square" lIns="0" tIns="0" rIns="0" bIns="0" rtlCol="0" anchor="ctr"/>
          <a:lstStyle/>
          <a:p>
            <a:pPr algn="r" indent="0" marL="0">
              <a:buNone/>
            </a:pPr>
            <a:r>
              <a:rPr lang="en-US" sz="2000" b="1" dirty="0">
                <a:solidFill>
                  <a:srgbClr val="3F7D68"/>
                </a:solidFill>
                <a:latin typeface="Cambria" pitchFamily="34" charset="0"/>
                <a:ea typeface="Cambria" pitchFamily="34" charset="-122"/>
                <a:cs typeface="Cambria" pitchFamily="34" charset="-120"/>
              </a:rPr>
              <a:t>0</a:t>
            </a:r>
            <a:endParaRPr lang="en-US" sz="2000" dirty="0"/>
          </a:p>
        </p:txBody>
      </p:sp>
      <p:sp>
        <p:nvSpPr>
          <p:cNvPr id="12" name="Shape 10"/>
          <p:cNvSpPr/>
          <p:nvPr/>
        </p:nvSpPr>
        <p:spPr>
          <a:xfrm>
            <a:off x="685800" y="3035808"/>
            <a:ext cx="6949440" cy="566928"/>
          </a:xfrm>
          <a:prstGeom prst="roundRect">
            <a:avLst>
              <a:gd name="adj" fmla="val 12903"/>
            </a:avLst>
          </a:prstGeom>
          <a:solidFill>
            <a:srgbClr val="F4F6FB"/>
          </a:solidFill>
          <a:ln w="12700">
            <a:solidFill>
              <a:srgbClr val="F4F6FB"/>
            </a:solidFill>
            <a:prstDash val="solid"/>
          </a:ln>
        </p:spPr>
      </p:sp>
      <p:sp>
        <p:nvSpPr>
          <p:cNvPr id="13" name="Text 11"/>
          <p:cNvSpPr/>
          <p:nvPr/>
        </p:nvSpPr>
        <p:spPr>
          <a:xfrm>
            <a:off x="960120" y="3035808"/>
            <a:ext cx="5669280" cy="566928"/>
          </a:xfrm>
          <a:prstGeom prst="rect">
            <a:avLst/>
          </a:prstGeom>
          <a:noFill/>
          <a:ln/>
        </p:spPr>
        <p:txBody>
          <a:bodyPr wrap="square" lIns="0" tIns="0" rIns="0" bIns="0" rtlCol="0" anchor="ctr"/>
          <a:lstStyle/>
          <a:p>
            <a:pPr indent="0" marL="0">
              <a:buNone/>
            </a:pPr>
            <a:r>
              <a:rPr lang="en-US" sz="1400" dirty="0">
                <a:solidFill>
                  <a:srgbClr val="4A5163"/>
                </a:solidFill>
                <a:latin typeface="Calibri" pitchFamily="34" charset="0"/>
                <a:ea typeface="Calibri" pitchFamily="34" charset="-122"/>
                <a:cs typeface="Calibri" pitchFamily="34" charset="-120"/>
              </a:rPr>
              <a:t>Never had a loan, but missed a payment</a:t>
            </a:r>
            <a:endParaRPr lang="en-US" sz="1400" dirty="0"/>
          </a:p>
        </p:txBody>
      </p:sp>
      <p:sp>
        <p:nvSpPr>
          <p:cNvPr id="14" name="Text 12"/>
          <p:cNvSpPr/>
          <p:nvPr/>
        </p:nvSpPr>
        <p:spPr>
          <a:xfrm>
            <a:off x="6766560" y="3035808"/>
            <a:ext cx="640080" cy="566928"/>
          </a:xfrm>
          <a:prstGeom prst="rect">
            <a:avLst/>
          </a:prstGeom>
          <a:noFill/>
          <a:ln/>
        </p:spPr>
        <p:txBody>
          <a:bodyPr wrap="square" lIns="0" tIns="0" rIns="0" bIns="0" rtlCol="0" anchor="ctr"/>
          <a:lstStyle/>
          <a:p>
            <a:pPr algn="r" indent="0" marL="0">
              <a:buNone/>
            </a:pPr>
            <a:r>
              <a:rPr lang="en-US" sz="2000" b="1" dirty="0">
                <a:solidFill>
                  <a:srgbClr val="3F7D68"/>
                </a:solidFill>
                <a:latin typeface="Cambria" pitchFamily="34" charset="0"/>
                <a:ea typeface="Cambria" pitchFamily="34" charset="-122"/>
                <a:cs typeface="Cambria" pitchFamily="34" charset="-120"/>
              </a:rPr>
              <a:t>0</a:t>
            </a:r>
            <a:endParaRPr lang="en-US" sz="2000" dirty="0"/>
          </a:p>
        </p:txBody>
      </p:sp>
      <p:sp>
        <p:nvSpPr>
          <p:cNvPr id="15" name="Shape 13"/>
          <p:cNvSpPr/>
          <p:nvPr/>
        </p:nvSpPr>
        <p:spPr>
          <a:xfrm>
            <a:off x="685800" y="3730752"/>
            <a:ext cx="6949440" cy="566928"/>
          </a:xfrm>
          <a:prstGeom prst="roundRect">
            <a:avLst>
              <a:gd name="adj" fmla="val 12903"/>
            </a:avLst>
          </a:prstGeom>
          <a:solidFill>
            <a:srgbClr val="F4F6FB"/>
          </a:solidFill>
          <a:ln w="12700">
            <a:solidFill>
              <a:srgbClr val="F4F6FB"/>
            </a:solidFill>
            <a:prstDash val="solid"/>
          </a:ln>
        </p:spPr>
      </p:sp>
      <p:sp>
        <p:nvSpPr>
          <p:cNvPr id="16" name="Text 14"/>
          <p:cNvSpPr/>
          <p:nvPr/>
        </p:nvSpPr>
        <p:spPr>
          <a:xfrm>
            <a:off x="960120" y="3730752"/>
            <a:ext cx="5669280" cy="566928"/>
          </a:xfrm>
          <a:prstGeom prst="rect">
            <a:avLst/>
          </a:prstGeom>
          <a:noFill/>
          <a:ln/>
        </p:spPr>
        <p:txBody>
          <a:bodyPr wrap="square" lIns="0" tIns="0" rIns="0" bIns="0" rtlCol="0" anchor="ctr"/>
          <a:lstStyle/>
          <a:p>
            <a:pPr indent="0" marL="0">
              <a:buNone/>
            </a:pPr>
            <a:r>
              <a:rPr lang="en-US" sz="1400" dirty="0">
                <a:solidFill>
                  <a:srgbClr val="4A5163"/>
                </a:solidFill>
                <a:latin typeface="Calibri" pitchFamily="34" charset="0"/>
                <a:ea typeface="Calibri" pitchFamily="34" charset="-122"/>
                <a:cs typeface="Calibri" pitchFamily="34" charset="-120"/>
              </a:rPr>
              <a:t>Zero loans, but owes a balance</a:t>
            </a:r>
            <a:endParaRPr lang="en-US" sz="1400" dirty="0"/>
          </a:p>
        </p:txBody>
      </p:sp>
      <p:sp>
        <p:nvSpPr>
          <p:cNvPr id="17" name="Text 15"/>
          <p:cNvSpPr/>
          <p:nvPr/>
        </p:nvSpPr>
        <p:spPr>
          <a:xfrm>
            <a:off x="6766560" y="3730752"/>
            <a:ext cx="640080" cy="566928"/>
          </a:xfrm>
          <a:prstGeom prst="rect">
            <a:avLst/>
          </a:prstGeom>
          <a:noFill/>
          <a:ln/>
        </p:spPr>
        <p:txBody>
          <a:bodyPr wrap="square" lIns="0" tIns="0" rIns="0" bIns="0" rtlCol="0" anchor="ctr"/>
          <a:lstStyle/>
          <a:p>
            <a:pPr algn="r" indent="0" marL="0">
              <a:buNone/>
            </a:pPr>
            <a:r>
              <a:rPr lang="en-US" sz="2000" b="1" dirty="0">
                <a:solidFill>
                  <a:srgbClr val="3F7D68"/>
                </a:solidFill>
                <a:latin typeface="Cambria" pitchFamily="34" charset="0"/>
                <a:ea typeface="Cambria" pitchFamily="34" charset="-122"/>
                <a:cs typeface="Cambria" pitchFamily="34" charset="-120"/>
              </a:rPr>
              <a:t>0</a:t>
            </a:r>
            <a:endParaRPr lang="en-US" sz="2000" dirty="0"/>
          </a:p>
        </p:txBody>
      </p:sp>
      <p:sp>
        <p:nvSpPr>
          <p:cNvPr id="18" name="Shape 16"/>
          <p:cNvSpPr/>
          <p:nvPr/>
        </p:nvSpPr>
        <p:spPr>
          <a:xfrm>
            <a:off x="685800" y="4425696"/>
            <a:ext cx="6949440" cy="566928"/>
          </a:xfrm>
          <a:prstGeom prst="roundRect">
            <a:avLst>
              <a:gd name="adj" fmla="val 12903"/>
            </a:avLst>
          </a:prstGeom>
          <a:solidFill>
            <a:srgbClr val="F4F6FB"/>
          </a:solidFill>
          <a:ln w="12700">
            <a:solidFill>
              <a:srgbClr val="F4F6FB"/>
            </a:solidFill>
            <a:prstDash val="solid"/>
          </a:ln>
        </p:spPr>
      </p:sp>
      <p:sp>
        <p:nvSpPr>
          <p:cNvPr id="19" name="Text 17"/>
          <p:cNvSpPr/>
          <p:nvPr/>
        </p:nvSpPr>
        <p:spPr>
          <a:xfrm>
            <a:off x="960120" y="4425696"/>
            <a:ext cx="5669280" cy="566928"/>
          </a:xfrm>
          <a:prstGeom prst="rect">
            <a:avLst/>
          </a:prstGeom>
          <a:noFill/>
          <a:ln/>
        </p:spPr>
        <p:txBody>
          <a:bodyPr wrap="square" lIns="0" tIns="0" rIns="0" bIns="0" rtlCol="0" anchor="ctr"/>
          <a:lstStyle/>
          <a:p>
            <a:pPr indent="0" marL="0">
              <a:buNone/>
            </a:pPr>
            <a:r>
              <a:rPr lang="en-US" sz="1400" dirty="0">
                <a:solidFill>
                  <a:srgbClr val="4A5163"/>
                </a:solidFill>
                <a:latin typeface="Calibri" pitchFamily="34" charset="0"/>
                <a:ea typeface="Calibri" pitchFamily="34" charset="-122"/>
                <a:cs typeface="Calibri" pitchFamily="34" charset="-120"/>
              </a:rPr>
              <a:t>With the bank longer than they have been an adult</a:t>
            </a:r>
            <a:endParaRPr lang="en-US" sz="1400" dirty="0"/>
          </a:p>
        </p:txBody>
      </p:sp>
      <p:sp>
        <p:nvSpPr>
          <p:cNvPr id="20" name="Text 18"/>
          <p:cNvSpPr/>
          <p:nvPr/>
        </p:nvSpPr>
        <p:spPr>
          <a:xfrm>
            <a:off x="6766560" y="4425696"/>
            <a:ext cx="640080" cy="566928"/>
          </a:xfrm>
          <a:prstGeom prst="rect">
            <a:avLst/>
          </a:prstGeom>
          <a:noFill/>
          <a:ln/>
        </p:spPr>
        <p:txBody>
          <a:bodyPr wrap="square" lIns="0" tIns="0" rIns="0" bIns="0" rtlCol="0" anchor="ctr"/>
          <a:lstStyle/>
          <a:p>
            <a:pPr algn="r" indent="0" marL="0">
              <a:buNone/>
            </a:pPr>
            <a:r>
              <a:rPr lang="en-US" sz="2000" b="1" dirty="0">
                <a:solidFill>
                  <a:srgbClr val="3F7D68"/>
                </a:solidFill>
                <a:latin typeface="Cambria" pitchFamily="34" charset="0"/>
                <a:ea typeface="Cambria" pitchFamily="34" charset="-122"/>
                <a:cs typeface="Cambria" pitchFamily="34" charset="-120"/>
              </a:rPr>
              <a:t>0</a:t>
            </a:r>
            <a:endParaRPr lang="en-US" sz="2000" dirty="0"/>
          </a:p>
        </p:txBody>
      </p:sp>
      <p:sp>
        <p:nvSpPr>
          <p:cNvPr id="21" name="Shape 19"/>
          <p:cNvSpPr/>
          <p:nvPr/>
        </p:nvSpPr>
        <p:spPr>
          <a:xfrm>
            <a:off x="7955280" y="1645920"/>
            <a:ext cx="3520440" cy="2798064"/>
          </a:xfrm>
          <a:prstGeom prst="roundRect">
            <a:avLst>
              <a:gd name="adj" fmla="val 2614"/>
            </a:avLst>
          </a:prstGeom>
          <a:solidFill>
            <a:srgbClr val="1E2761"/>
          </a:solidFill>
          <a:ln w="12700">
            <a:solidFill>
              <a:srgbClr val="1E2761"/>
            </a:solidFill>
            <a:prstDash val="solid"/>
          </a:ln>
        </p:spPr>
      </p:sp>
      <p:sp>
        <p:nvSpPr>
          <p:cNvPr id="22" name="Text 20"/>
          <p:cNvSpPr/>
          <p:nvPr/>
        </p:nvSpPr>
        <p:spPr>
          <a:xfrm>
            <a:off x="8229600" y="1874520"/>
            <a:ext cx="3017520" cy="411480"/>
          </a:xfrm>
          <a:prstGeom prst="rect">
            <a:avLst/>
          </a:prstGeom>
          <a:noFill/>
          <a:ln/>
        </p:spPr>
        <p:txBody>
          <a:bodyPr wrap="square" lIns="0" tIns="0" rIns="0" bIns="0" rtlCol="0" anchor="ctr"/>
          <a:lstStyle/>
          <a:p>
            <a:pPr indent="0" marL="0">
              <a:buNone/>
            </a:pPr>
            <a:r>
              <a:rPr lang="en-US" sz="2000" b="1" dirty="0">
                <a:solidFill>
                  <a:srgbClr val="E39A00"/>
                </a:solidFill>
                <a:latin typeface="Cambria" pitchFamily="34" charset="0"/>
                <a:ea typeface="Cambria" pitchFamily="34" charset="-122"/>
                <a:cs typeface="Cambria" pitchFamily="34" charset="-120"/>
              </a:rPr>
              <a:t>Zero. Every time.</a:t>
            </a:r>
            <a:endParaRPr lang="en-US" sz="2000" dirty="0"/>
          </a:p>
        </p:txBody>
      </p:sp>
      <p:sp>
        <p:nvSpPr>
          <p:cNvPr id="23" name="Text 21"/>
          <p:cNvSpPr/>
          <p:nvPr/>
        </p:nvSpPr>
        <p:spPr>
          <a:xfrm>
            <a:off x="8229600" y="2331720"/>
            <a:ext cx="3017520" cy="1920240"/>
          </a:xfrm>
          <a:prstGeom prst="rect">
            <a:avLst/>
          </a:prstGeom>
          <a:noFill/>
          <a:ln/>
        </p:spPr>
        <p:txBody>
          <a:bodyPr wrap="square" lIns="0" tIns="0" rIns="0" bIns="0" rtlCol="0" anchor="ctr"/>
          <a:lstStyle/>
          <a:p>
            <a:pPr indent="0" marL="0">
              <a:lnSpc>
                <a:spcPts val="1900"/>
              </a:lnSpc>
              <a:buNone/>
            </a:pPr>
            <a:r>
              <a:rPr lang="en-US" sz="1350" dirty="0">
                <a:solidFill>
                  <a:srgbClr val="C3CCE4"/>
                </a:solidFill>
                <a:latin typeface="Calibri" pitchFamily="34" charset="0"/>
                <a:ea typeface="Calibri" pitchFamily="34" charset="-122"/>
                <a:cs typeface="Calibri" pitchFamily="34" charset="-120"/>
              </a:rPr>
              <a:t>Real bank data, typed in by staff over years, always has some contradictions.</a:t>
            </a:r>
            <a:endParaRPr lang="en-US" sz="1350" dirty="0"/>
          </a:p>
          <a:p>
            <a:pPr indent="0" marL="0">
              <a:lnSpc>
                <a:spcPts val="1900"/>
              </a:lnSpc>
              <a:buNone/>
            </a:pPr>
            <a:endParaRPr lang="en-US" sz="1350" dirty="0"/>
          </a:p>
          <a:p>
            <a:pPr indent="0" marL="0">
              <a:lnSpc>
                <a:spcPts val="1900"/>
              </a:lnSpc>
              <a:buNone/>
            </a:pPr>
            <a:r>
              <a:rPr lang="en-US" sz="1350" dirty="0">
                <a:solidFill>
                  <a:srgbClr val="C3CCE4"/>
                </a:solidFill>
                <a:latin typeface="Calibri" pitchFamily="34" charset="0"/>
                <a:ea typeface="Calibri" pitchFamily="34" charset="-122"/>
                <a:cs typeface="Calibri" pitchFamily="34" charset="-120"/>
              </a:rPr>
              <a:t>Perfect consistency is a fingerprint of data that was generated by a computer.</a:t>
            </a:r>
            <a:endParaRPr lang="en-US" sz="1350" dirty="0"/>
          </a:p>
        </p:txBody>
      </p:sp>
      <p:sp>
        <p:nvSpPr>
          <p:cNvPr id="24" name="Shape 22"/>
          <p:cNvSpPr/>
          <p:nvPr/>
        </p:nvSpPr>
        <p:spPr>
          <a:xfrm>
            <a:off x="685800" y="5138928"/>
            <a:ext cx="10789920" cy="1115568"/>
          </a:xfrm>
          <a:prstGeom prst="roundRect">
            <a:avLst>
              <a:gd name="adj" fmla="val 6557"/>
            </a:avLst>
          </a:prstGeom>
          <a:solidFill>
            <a:srgbClr val="F4F6FB"/>
          </a:solidFill>
          <a:ln w="12700">
            <a:solidFill>
              <a:srgbClr val="F4F6FB"/>
            </a:solidFill>
            <a:prstDash val="solid"/>
          </a:ln>
        </p:spPr>
      </p:sp>
      <p:sp>
        <p:nvSpPr>
          <p:cNvPr id="25" name="Text 23"/>
          <p:cNvSpPr/>
          <p:nvPr/>
        </p:nvSpPr>
        <p:spPr>
          <a:xfrm>
            <a:off x="1005840" y="5266944"/>
            <a:ext cx="10149840" cy="292608"/>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Remember this slide — it becomes the whole of Chapter Three</a:t>
            </a:r>
            <a:endParaRPr lang="en-US" sz="1600" dirty="0"/>
          </a:p>
        </p:txBody>
      </p:sp>
      <p:sp>
        <p:nvSpPr>
          <p:cNvPr id="26" name="Text 24"/>
          <p:cNvSpPr/>
          <p:nvPr/>
        </p:nvSpPr>
        <p:spPr>
          <a:xfrm>
            <a:off x="1005840" y="5586984"/>
            <a:ext cx="10149840" cy="548640"/>
          </a:xfrm>
          <a:prstGeom prst="rect">
            <a:avLst/>
          </a:prstGeom>
          <a:noFill/>
          <a:ln/>
        </p:spPr>
        <p:txBody>
          <a:bodyPr wrap="square" lIns="0" tIns="0" rIns="0" bIns="0" rtlCol="0" anchor="ctr"/>
          <a:lstStyle/>
          <a:p>
            <a:pPr indent="0" marL="0">
              <a:lnSpc>
                <a:spcPts val="1800"/>
              </a:lnSpc>
              <a:buNone/>
            </a:pPr>
            <a:r>
              <a:rPr lang="en-US" sz="1350" dirty="0">
                <a:solidFill>
                  <a:srgbClr val="4A5163"/>
                </a:solidFill>
                <a:latin typeface="Calibri" pitchFamily="34" charset="0"/>
                <a:ea typeface="Calibri" pitchFamily="34" charset="-122"/>
                <a:cs typeface="Calibri" pitchFamily="34" charset="-120"/>
              </a:rPr>
              <a:t>It means a high score is a property of this file, not proof of skill. Published work on real bank churn lands between 0.71 and 0.85, and this is the first hint of why nothing in Chapter Two was ever going to work.</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The first question — and the first surprise</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Do customers who leave spend less?</a:t>
            </a:r>
            <a:endParaRPr lang="en-US" sz="1500" dirty="0"/>
          </a:p>
        </p:txBody>
      </p:sp>
      <p:graphicFrame>
        <p:nvGraphicFramePr>
          <p:cNvPr id="6" name="Chart 0" descr=""/>
          <p:cNvGraphicFramePr/>
          <p:nvPr/>
        </p:nvGraphicFramePr>
        <p:xfrm>
          <a:off x="685800" y="1600200"/>
          <a:ext cx="6492240" cy="42062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98080" y="1600200"/>
            <a:ext cx="3977640" cy="2011680"/>
          </a:xfrm>
          <a:prstGeom prst="roundRect">
            <a:avLst>
              <a:gd name="adj" fmla="val 3636"/>
            </a:avLst>
          </a:prstGeom>
          <a:solidFill>
            <a:srgbClr val="1E2761"/>
          </a:solidFill>
          <a:ln w="12700">
            <a:solidFill>
              <a:srgbClr val="1E2761"/>
            </a:solidFill>
            <a:prstDash val="solid"/>
          </a:ln>
        </p:spPr>
      </p:sp>
      <p:sp>
        <p:nvSpPr>
          <p:cNvPr id="8" name="Text 5"/>
          <p:cNvSpPr/>
          <p:nvPr/>
        </p:nvSpPr>
        <p:spPr>
          <a:xfrm>
            <a:off x="7818120" y="1828800"/>
            <a:ext cx="3383280" cy="365760"/>
          </a:xfrm>
          <a:prstGeom prst="rect">
            <a:avLst/>
          </a:prstGeom>
          <a:noFill/>
          <a:ln/>
        </p:spPr>
        <p:txBody>
          <a:bodyPr wrap="square" lIns="0" tIns="0" rIns="0" bIns="0" rtlCol="0" anchor="ctr"/>
          <a:lstStyle/>
          <a:p>
            <a:pPr indent="0" marL="0">
              <a:buNone/>
            </a:pPr>
            <a:r>
              <a:rPr lang="en-US" sz="2000" b="1" dirty="0">
                <a:solidFill>
                  <a:srgbClr val="E39A00"/>
                </a:solidFill>
                <a:latin typeface="Cambria" pitchFamily="34" charset="0"/>
                <a:ea typeface="Cambria" pitchFamily="34" charset="-122"/>
                <a:cs typeface="Cambria" pitchFamily="34" charset="-120"/>
              </a:rPr>
              <a:t>The answer was no.</a:t>
            </a:r>
            <a:endParaRPr lang="en-US" sz="2000" dirty="0"/>
          </a:p>
        </p:txBody>
      </p:sp>
      <p:sp>
        <p:nvSpPr>
          <p:cNvPr id="9" name="Text 6"/>
          <p:cNvSpPr/>
          <p:nvPr/>
        </p:nvSpPr>
        <p:spPr>
          <a:xfrm>
            <a:off x="7818120" y="2286000"/>
            <a:ext cx="3383280" cy="1188720"/>
          </a:xfrm>
          <a:prstGeom prst="rect">
            <a:avLst/>
          </a:prstGeom>
          <a:noFill/>
          <a:ln/>
        </p:spPr>
        <p:txBody>
          <a:bodyPr wrap="square" lIns="0" tIns="0" rIns="0" bIns="0" rtlCol="0" anchor="ctr"/>
          <a:lstStyle/>
          <a:p>
            <a:pPr indent="0" marL="0">
              <a:lnSpc>
                <a:spcPts val="2000"/>
              </a:lnSpc>
              <a:buNone/>
            </a:pPr>
            <a:r>
              <a:rPr lang="en-US" sz="1400" dirty="0">
                <a:solidFill>
                  <a:srgbClr val="C3CCE4"/>
                </a:solidFill>
                <a:latin typeface="Calibri" pitchFamily="34" charset="0"/>
                <a:ea typeface="Calibri" pitchFamily="34" charset="-122"/>
                <a:cs typeface="Calibri" pitchFamily="34" charset="-120"/>
              </a:rPr>
              <a:t>In the oldest month, the customers who went on to close their card were spending MORE than the ones who stayed — 1,702 against 1,682.</a:t>
            </a:r>
            <a:endParaRPr lang="en-US" sz="1400" dirty="0"/>
          </a:p>
        </p:txBody>
      </p:sp>
      <p:sp>
        <p:nvSpPr>
          <p:cNvPr id="10" name="Shape 7"/>
          <p:cNvSpPr/>
          <p:nvPr/>
        </p:nvSpPr>
        <p:spPr>
          <a:xfrm>
            <a:off x="7498080" y="3749040"/>
            <a:ext cx="3977640" cy="2057400"/>
          </a:xfrm>
          <a:prstGeom prst="roundRect">
            <a:avLst>
              <a:gd name="adj" fmla="val 3556"/>
            </a:avLst>
          </a:prstGeom>
          <a:solidFill>
            <a:srgbClr val="F4F6FB"/>
          </a:solidFill>
          <a:ln w="12700">
            <a:solidFill>
              <a:srgbClr val="F4F6FB"/>
            </a:solidFill>
            <a:prstDash val="solid"/>
          </a:ln>
        </p:spPr>
      </p:sp>
      <p:sp>
        <p:nvSpPr>
          <p:cNvPr id="11" name="Text 8"/>
          <p:cNvSpPr/>
          <p:nvPr/>
        </p:nvSpPr>
        <p:spPr>
          <a:xfrm>
            <a:off x="7818120" y="3950208"/>
            <a:ext cx="3383280" cy="320040"/>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What that changed</a:t>
            </a:r>
            <a:endParaRPr lang="en-US" sz="1700" dirty="0"/>
          </a:p>
        </p:txBody>
      </p:sp>
      <p:sp>
        <p:nvSpPr>
          <p:cNvPr id="12" name="Text 9"/>
          <p:cNvSpPr/>
          <p:nvPr/>
        </p:nvSpPr>
        <p:spPr>
          <a:xfrm>
            <a:off x="7818120" y="4315968"/>
            <a:ext cx="3383280" cy="1371600"/>
          </a:xfrm>
          <a:prstGeom prst="rect">
            <a:avLst/>
          </a:prstGeom>
          <a:noFill/>
          <a:ln/>
        </p:spPr>
        <p:txBody>
          <a:bodyPr wrap="square" lIns="0" tIns="0" rIns="0" bIns="0" rtlCol="0" anchor="ctr"/>
          <a:lstStyle/>
          <a:p>
            <a:pPr indent="0" marL="0">
              <a:lnSpc>
                <a:spcPts val="2000"/>
              </a:lnSpc>
              <a:buNone/>
            </a:pPr>
            <a:r>
              <a:rPr lang="en-US" sz="1400" dirty="0">
                <a:solidFill>
                  <a:srgbClr val="4A5163"/>
                </a:solidFill>
                <a:latin typeface="Calibri" pitchFamily="34" charset="0"/>
                <a:ea typeface="Calibri" pitchFamily="34" charset="-122"/>
                <a:cs typeface="Calibri" pitchFamily="34" charset="-120"/>
              </a:rPr>
              <a:t>A model given one month of spending would have pointed the wrong way.</a:t>
            </a:r>
            <a:endParaRPr lang="en-US" sz="1400" dirty="0"/>
          </a:p>
          <a:p>
            <a:pPr indent="0" marL="0">
              <a:lnSpc>
                <a:spcPts val="2000"/>
              </a:lnSpc>
              <a:buNone/>
            </a:pPr>
            <a:endParaRPr lang="en-US" sz="1400" dirty="0"/>
          </a:p>
          <a:p>
            <a:pPr indent="0" marL="0">
              <a:lnSpc>
                <a:spcPts val="2000"/>
              </a:lnSpc>
              <a:buNone/>
            </a:pPr>
            <a:r>
              <a:rPr lang="en-US" sz="1400" dirty="0">
                <a:solidFill>
                  <a:srgbClr val="4A5163"/>
                </a:solidFill>
                <a:latin typeface="Calibri" pitchFamily="34" charset="0"/>
                <a:ea typeface="Calibri" pitchFamily="34" charset="-122"/>
                <a:cs typeface="Calibri" pitchFamily="34" charset="-120"/>
              </a:rPr>
              <a:t>What separates them is not how much — it is which direction.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The idea that carried the whole project</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Measure the direction, not the amount</a:t>
            </a:r>
            <a:endParaRPr lang="en-US" sz="1500" dirty="0"/>
          </a:p>
        </p:txBody>
      </p:sp>
      <p:sp>
        <p:nvSpPr>
          <p:cNvPr id="6" name="Shape 4"/>
          <p:cNvSpPr/>
          <p:nvPr/>
        </p:nvSpPr>
        <p:spPr>
          <a:xfrm>
            <a:off x="685800" y="1600200"/>
            <a:ext cx="4937760" cy="1463040"/>
          </a:xfrm>
          <a:prstGeom prst="roundRect">
            <a:avLst>
              <a:gd name="adj" fmla="val 5000"/>
            </a:avLst>
          </a:prstGeom>
          <a:solidFill>
            <a:srgbClr val="1E2761"/>
          </a:solidFill>
          <a:ln w="12700">
            <a:solidFill>
              <a:srgbClr val="1E2761"/>
            </a:solidFill>
            <a:prstDash val="solid"/>
          </a:ln>
        </p:spPr>
      </p:sp>
      <p:sp>
        <p:nvSpPr>
          <p:cNvPr id="7" name="Text 5"/>
          <p:cNvSpPr/>
          <p:nvPr/>
        </p:nvSpPr>
        <p:spPr>
          <a:xfrm>
            <a:off x="1005840" y="1755648"/>
            <a:ext cx="4297680" cy="292608"/>
          </a:xfrm>
          <a:prstGeom prst="rect">
            <a:avLst/>
          </a:prstGeom>
          <a:noFill/>
          <a:ln/>
        </p:spPr>
        <p:txBody>
          <a:bodyPr wrap="square" lIns="0" tIns="0" rIns="0" bIns="0" rtlCol="0" anchor="ctr"/>
          <a:lstStyle/>
          <a:p>
            <a:pPr indent="0" marL="0">
              <a:buNone/>
            </a:pPr>
            <a:r>
              <a:rPr lang="en-US" sz="1600" b="1" dirty="0">
                <a:solidFill>
                  <a:srgbClr val="E39A00"/>
                </a:solidFill>
                <a:latin typeface="Cambria" pitchFamily="34" charset="0"/>
                <a:ea typeface="Cambria" pitchFamily="34" charset="-122"/>
                <a:cs typeface="Cambria" pitchFamily="34" charset="-120"/>
              </a:rPr>
              <a:t>Why averaging fails</a:t>
            </a:r>
            <a:endParaRPr lang="en-US" sz="1600" dirty="0"/>
          </a:p>
        </p:txBody>
      </p:sp>
      <p:sp>
        <p:nvSpPr>
          <p:cNvPr id="8" name="Text 6"/>
          <p:cNvSpPr/>
          <p:nvPr/>
        </p:nvSpPr>
        <p:spPr>
          <a:xfrm>
            <a:off x="1005840" y="2084832"/>
            <a:ext cx="4297680" cy="868680"/>
          </a:xfrm>
          <a:prstGeom prst="rect">
            <a:avLst/>
          </a:prstGeom>
          <a:noFill/>
          <a:ln/>
        </p:spPr>
        <p:txBody>
          <a:bodyPr wrap="square" lIns="0" tIns="0" rIns="0" bIns="0" rtlCol="0" anchor="ctr"/>
          <a:lstStyle/>
          <a:p>
            <a:pPr indent="0" marL="0">
              <a:lnSpc>
                <a:spcPts val="1800"/>
              </a:lnSpc>
              <a:buNone/>
            </a:pPr>
            <a:r>
              <a:rPr lang="en-US" sz="1350" dirty="0">
                <a:solidFill>
                  <a:srgbClr val="C3CCE4"/>
                </a:solidFill>
                <a:latin typeface="Calibri" pitchFamily="34" charset="0"/>
                <a:ea typeface="Calibri" pitchFamily="34" charset="-122"/>
                <a:cs typeface="Calibri" pitchFamily="34" charset="-120"/>
              </a:rPr>
              <a:t>A customer flat at 1,500, and one sliding 2,000 down to 1,000, both average 1,500. So we drew a line through each customer's six months and used how steeply it tilts.</a:t>
            </a:r>
            <a:endParaRPr lang="en-US" sz="1350" dirty="0"/>
          </a:p>
        </p:txBody>
      </p:sp>
      <p:sp>
        <p:nvSpPr>
          <p:cNvPr id="9" name="Shape 7"/>
          <p:cNvSpPr/>
          <p:nvPr/>
        </p:nvSpPr>
        <p:spPr>
          <a:xfrm>
            <a:off x="685800" y="3200400"/>
            <a:ext cx="4937760" cy="1234440"/>
          </a:xfrm>
          <a:prstGeom prst="roundRect">
            <a:avLst>
              <a:gd name="adj" fmla="val 5926"/>
            </a:avLst>
          </a:prstGeom>
          <a:solidFill>
            <a:srgbClr val="F4F6FB"/>
          </a:solidFill>
          <a:ln w="12700">
            <a:solidFill>
              <a:srgbClr val="F4F6FB"/>
            </a:solidFill>
            <a:prstDash val="solid"/>
          </a:ln>
        </p:spPr>
      </p:sp>
      <p:sp>
        <p:nvSpPr>
          <p:cNvPr id="10" name="Text 8"/>
          <p:cNvSpPr/>
          <p:nvPr/>
        </p:nvSpPr>
        <p:spPr>
          <a:xfrm>
            <a:off x="1005840" y="3337560"/>
            <a:ext cx="2011680" cy="640080"/>
          </a:xfrm>
          <a:prstGeom prst="rect">
            <a:avLst/>
          </a:prstGeom>
          <a:noFill/>
          <a:ln/>
        </p:spPr>
        <p:txBody>
          <a:bodyPr wrap="square" lIns="0" tIns="0" rIns="0" bIns="0" rtlCol="0" anchor="ctr"/>
          <a:lstStyle/>
          <a:p>
            <a:pPr algn="ctr" indent="0" marL="0">
              <a:buNone/>
            </a:pPr>
            <a:r>
              <a:rPr lang="en-US" sz="3200" b="1" dirty="0">
                <a:solidFill>
                  <a:srgbClr val="3F7D68"/>
                </a:solidFill>
                <a:latin typeface="Cambria" pitchFamily="34" charset="0"/>
                <a:ea typeface="Cambria" pitchFamily="34" charset="-122"/>
                <a:cs typeface="Cambria" pitchFamily="34" charset="-120"/>
              </a:rPr>
              <a:t>+22</a:t>
            </a:r>
            <a:endParaRPr lang="en-US" sz="3200" dirty="0"/>
          </a:p>
        </p:txBody>
      </p:sp>
      <p:sp>
        <p:nvSpPr>
          <p:cNvPr id="11" name="Text 9"/>
          <p:cNvSpPr/>
          <p:nvPr/>
        </p:nvSpPr>
        <p:spPr>
          <a:xfrm>
            <a:off x="1005840" y="3977640"/>
            <a:ext cx="2011680" cy="274320"/>
          </a:xfrm>
          <a:prstGeom prst="rect">
            <a:avLst/>
          </a:prstGeom>
          <a:noFill/>
          <a:ln/>
        </p:spPr>
        <p:txBody>
          <a:bodyPr wrap="square" lIns="0" tIns="0" rIns="0" bIns="0" rtlCol="0" anchor="ctr"/>
          <a:lstStyle/>
          <a:p>
            <a:pPr algn="ctr" indent="0" marL="0">
              <a:buNone/>
            </a:pPr>
            <a:r>
              <a:rPr lang="en-US" sz="1200" dirty="0">
                <a:solidFill>
                  <a:srgbClr val="4A5163"/>
                </a:solidFill>
                <a:latin typeface="Calibri" pitchFamily="34" charset="0"/>
                <a:ea typeface="Calibri" pitchFamily="34" charset="-122"/>
                <a:cs typeface="Calibri" pitchFamily="34" charset="-120"/>
              </a:rPr>
              <a:t>stayers</a:t>
            </a:r>
            <a:endParaRPr lang="en-US" sz="1200" dirty="0"/>
          </a:p>
        </p:txBody>
      </p:sp>
      <p:sp>
        <p:nvSpPr>
          <p:cNvPr id="12" name="Text 10"/>
          <p:cNvSpPr/>
          <p:nvPr/>
        </p:nvSpPr>
        <p:spPr>
          <a:xfrm>
            <a:off x="3200400" y="3337560"/>
            <a:ext cx="2011680" cy="640080"/>
          </a:xfrm>
          <a:prstGeom prst="rect">
            <a:avLst/>
          </a:prstGeom>
          <a:noFill/>
          <a:ln/>
        </p:spPr>
        <p:txBody>
          <a:bodyPr wrap="square" lIns="0" tIns="0" rIns="0" bIns="0" rtlCol="0" anchor="ctr"/>
          <a:lstStyle/>
          <a:p>
            <a:pPr algn="ctr" indent="0" marL="0">
              <a:buNone/>
            </a:pPr>
            <a:r>
              <a:rPr lang="en-US" sz="3200" b="1" dirty="0">
                <a:solidFill>
                  <a:srgbClr val="C0453F"/>
                </a:solidFill>
                <a:latin typeface="Cambria" pitchFamily="34" charset="0"/>
                <a:ea typeface="Cambria" pitchFamily="34" charset="-122"/>
                <a:cs typeface="Cambria" pitchFamily="34" charset="-120"/>
              </a:rPr>
              <a:t>−93</a:t>
            </a:r>
            <a:endParaRPr lang="en-US" sz="3200" dirty="0"/>
          </a:p>
        </p:txBody>
      </p:sp>
      <p:sp>
        <p:nvSpPr>
          <p:cNvPr id="13" name="Text 11"/>
          <p:cNvSpPr/>
          <p:nvPr/>
        </p:nvSpPr>
        <p:spPr>
          <a:xfrm>
            <a:off x="3200400" y="3977640"/>
            <a:ext cx="2011680" cy="274320"/>
          </a:xfrm>
          <a:prstGeom prst="rect">
            <a:avLst/>
          </a:prstGeom>
          <a:noFill/>
          <a:ln/>
        </p:spPr>
        <p:txBody>
          <a:bodyPr wrap="square" lIns="0" tIns="0" rIns="0" bIns="0" rtlCol="0" anchor="ctr"/>
          <a:lstStyle/>
          <a:p>
            <a:pPr algn="ctr" indent="0" marL="0">
              <a:buNone/>
            </a:pPr>
            <a:r>
              <a:rPr lang="en-US" sz="1200" dirty="0">
                <a:solidFill>
                  <a:srgbClr val="4A5163"/>
                </a:solidFill>
                <a:latin typeface="Calibri" pitchFamily="34" charset="0"/>
                <a:ea typeface="Calibri" pitchFamily="34" charset="-122"/>
                <a:cs typeface="Calibri" pitchFamily="34" charset="-120"/>
              </a:rPr>
              <a:t>leavers</a:t>
            </a:r>
            <a:endParaRPr lang="en-US" sz="1200" dirty="0"/>
          </a:p>
        </p:txBody>
      </p:sp>
      <p:sp>
        <p:nvSpPr>
          <p:cNvPr id="14" name="Shape 12"/>
          <p:cNvSpPr/>
          <p:nvPr/>
        </p:nvSpPr>
        <p:spPr>
          <a:xfrm>
            <a:off x="685800" y="4572000"/>
            <a:ext cx="4937760" cy="1554480"/>
          </a:xfrm>
          <a:prstGeom prst="roundRect">
            <a:avLst>
              <a:gd name="adj" fmla="val 4706"/>
            </a:avLst>
          </a:prstGeom>
          <a:solidFill>
            <a:srgbClr val="F4F6FB"/>
          </a:solidFill>
          <a:ln w="12700">
            <a:solidFill>
              <a:srgbClr val="F4F6FB"/>
            </a:solidFill>
            <a:prstDash val="solid"/>
          </a:ln>
        </p:spPr>
      </p:sp>
      <p:sp>
        <p:nvSpPr>
          <p:cNvPr id="15" name="Text 13"/>
          <p:cNvSpPr/>
          <p:nvPr/>
        </p:nvSpPr>
        <p:spPr>
          <a:xfrm>
            <a:off x="1005840" y="4709160"/>
            <a:ext cx="4297680" cy="292608"/>
          </a:xfrm>
          <a:prstGeom prst="rect">
            <a:avLst/>
          </a:prstGeom>
          <a:noFill/>
          <a:ln/>
        </p:spPr>
        <p:txBody>
          <a:bodyPr wrap="square" lIns="0" tIns="0" rIns="0" bIns="0" rtlCol="0" anchor="ctr"/>
          <a:lstStyle/>
          <a:p>
            <a:pPr indent="0" marL="0">
              <a:buNone/>
            </a:pPr>
            <a:r>
              <a:rPr lang="en-US" sz="1500" b="1" dirty="0">
                <a:solidFill>
                  <a:srgbClr val="1B1F2A"/>
                </a:solidFill>
                <a:latin typeface="Cambria" pitchFamily="34" charset="0"/>
                <a:ea typeface="Cambria" pitchFamily="34" charset="-122"/>
                <a:cs typeface="Cambria" pitchFamily="34" charset="-120"/>
              </a:rPr>
              <a:t>Useful before any model existed</a:t>
            </a:r>
            <a:endParaRPr lang="en-US" sz="1500" dirty="0"/>
          </a:p>
        </p:txBody>
      </p:sp>
      <p:sp>
        <p:nvSpPr>
          <p:cNvPr id="16" name="Text 14"/>
          <p:cNvSpPr/>
          <p:nvPr/>
        </p:nvSpPr>
        <p:spPr>
          <a:xfrm>
            <a:off x="1005840" y="5029200"/>
            <a:ext cx="4297680" cy="100584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The steepest-falling sixth of customers holds about 41% of all closures. And we refused to turn this into a yes/no flag — a flag would treat the 70-per-100 customer and the 19-per-100 customer identically.</a:t>
            </a:r>
            <a:endParaRPr lang="en-US" sz="1250" dirty="0"/>
          </a:p>
        </p:txBody>
      </p:sp>
      <p:graphicFrame>
        <p:nvGraphicFramePr>
          <p:cNvPr id="17" name="Chart 0" descr=""/>
          <p:cNvGraphicFramePr/>
          <p:nvPr/>
        </p:nvGraphicFramePr>
        <p:xfrm>
          <a:off x="5897880" y="1600200"/>
          <a:ext cx="5577840" cy="45262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Two ideas we were sure about — both wrong</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And both still produced something useful</a:t>
            </a:r>
            <a:endParaRPr lang="en-US" sz="1500" dirty="0"/>
          </a:p>
        </p:txBody>
      </p:sp>
      <p:sp>
        <p:nvSpPr>
          <p:cNvPr id="6" name="Shape 4"/>
          <p:cNvSpPr/>
          <p:nvPr/>
        </p:nvSpPr>
        <p:spPr>
          <a:xfrm>
            <a:off x="685800" y="1554480"/>
            <a:ext cx="10789920" cy="1965960"/>
          </a:xfrm>
          <a:prstGeom prst="roundRect">
            <a:avLst>
              <a:gd name="adj" fmla="val 3721"/>
            </a:avLst>
          </a:prstGeom>
          <a:solidFill>
            <a:srgbClr val="F4F6FB"/>
          </a:solidFill>
          <a:ln w="12700">
            <a:solidFill>
              <a:srgbClr val="F4F6FB"/>
            </a:solidFill>
            <a:prstDash val="solid"/>
          </a:ln>
        </p:spPr>
      </p:sp>
      <p:sp>
        <p:nvSpPr>
          <p:cNvPr id="7" name="Text 5"/>
          <p:cNvSpPr/>
          <p:nvPr/>
        </p:nvSpPr>
        <p:spPr>
          <a:xfrm>
            <a:off x="1005840" y="1709928"/>
            <a:ext cx="6675120" cy="320040"/>
          </a:xfrm>
          <a:prstGeom prst="rect">
            <a:avLst/>
          </a:prstGeom>
          <a:noFill/>
          <a:ln/>
        </p:spPr>
        <p:txBody>
          <a:bodyPr wrap="square" lIns="0" tIns="0" rIns="0" bIns="0"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"Surely people pay off the card before they close it"</a:t>
            </a:r>
            <a:endParaRPr lang="en-US" sz="1800" dirty="0"/>
          </a:p>
        </p:txBody>
      </p:sp>
      <p:sp>
        <p:nvSpPr>
          <p:cNvPr id="8" name="Text 6"/>
          <p:cNvSpPr/>
          <p:nvPr/>
        </p:nvSpPr>
        <p:spPr>
          <a:xfrm>
            <a:off x="1005840" y="2057400"/>
            <a:ext cx="6675120" cy="777240"/>
          </a:xfrm>
          <a:prstGeom prst="rect">
            <a:avLst/>
          </a:prstGeom>
          <a:noFill/>
          <a:ln/>
        </p:spPr>
        <p:txBody>
          <a:bodyPr wrap="square" lIns="0" tIns="0" rIns="0" bIns="0" rtlCol="0" anchor="ctr"/>
          <a:lstStyle/>
          <a:p>
            <a:pPr indent="0" marL="0">
              <a:lnSpc>
                <a:spcPts val="1800"/>
              </a:lnSpc>
              <a:buNone/>
            </a:pPr>
            <a:r>
              <a:rPr lang="en-US" sz="1350" dirty="0">
                <a:solidFill>
                  <a:srgbClr val="4A5163"/>
                </a:solidFill>
                <a:latin typeface="Calibri" pitchFamily="34" charset="0"/>
                <a:ea typeface="Calibri" pitchFamily="34" charset="-122"/>
                <a:cs typeface="Calibri" pitchFamily="34" charset="-120"/>
              </a:rPr>
              <a:t>You cannot walk away owing money, so payments should rise near the end. They do not. The share paid back never moves — stayers pay back 87 of every 100 spent in both halves of the year, leavers 81 in both.</a:t>
            </a:r>
            <a:endParaRPr lang="en-US" sz="1350" dirty="0"/>
          </a:p>
        </p:txBody>
      </p:sp>
      <p:sp>
        <p:nvSpPr>
          <p:cNvPr id="9" name="Text 7"/>
          <p:cNvSpPr/>
          <p:nvPr/>
        </p:nvSpPr>
        <p:spPr>
          <a:xfrm>
            <a:off x="1005840" y="2834640"/>
            <a:ext cx="6675120" cy="502920"/>
          </a:xfrm>
          <a:prstGeom prst="rect">
            <a:avLst/>
          </a:prstGeom>
          <a:noFill/>
          <a:ln/>
        </p:spPr>
        <p:txBody>
          <a:bodyPr wrap="square" lIns="0" tIns="0" rIns="0" bIns="0" rtlCol="0" anchor="ctr"/>
          <a:lstStyle/>
          <a:p>
            <a:pPr indent="0" marL="0">
              <a:lnSpc>
                <a:spcPts val="1800"/>
              </a:lnSpc>
              <a:buNone/>
            </a:pPr>
            <a:r>
              <a:rPr lang="en-US" sz="1350" b="1" dirty="0">
                <a:solidFill>
                  <a:srgbClr val="1E2761"/>
                </a:solidFill>
                <a:latin typeface="Calibri" pitchFamily="34" charset="0"/>
                <a:ea typeface="Calibri" pitchFamily="34" charset="-122"/>
                <a:cs typeface="Calibri" pitchFamily="34" charset="-120"/>
              </a:rPr>
              <a:t>But the habit itself matters: customers who pay back least close about four times as often — 40 per 100 against 11.</a:t>
            </a:r>
            <a:endParaRPr lang="en-US" sz="1350" dirty="0"/>
          </a:p>
        </p:txBody>
      </p:sp>
      <p:sp>
        <p:nvSpPr>
          <p:cNvPr id="10" name="Shape 8"/>
          <p:cNvSpPr/>
          <p:nvPr/>
        </p:nvSpPr>
        <p:spPr>
          <a:xfrm>
            <a:off x="7955280" y="2331720"/>
            <a:ext cx="3246120" cy="402336"/>
          </a:xfrm>
          <a:prstGeom prst="roundRect">
            <a:avLst>
              <a:gd name="adj" fmla="val 13636"/>
            </a:avLst>
          </a:prstGeom>
          <a:solidFill>
            <a:srgbClr val="3F7D68"/>
          </a:solidFill>
          <a:ln w="12700">
            <a:solidFill>
              <a:srgbClr val="3F7D68"/>
            </a:solidFill>
            <a:prstDash val="solid"/>
          </a:ln>
        </p:spPr>
      </p:sp>
      <p:sp>
        <p:nvSpPr>
          <p:cNvPr id="11" name="Text 9"/>
          <p:cNvSpPr/>
          <p:nvPr/>
        </p:nvSpPr>
        <p:spPr>
          <a:xfrm>
            <a:off x="7955280" y="2331720"/>
            <a:ext cx="3246120" cy="402336"/>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WRONG — BUT FOUND payment_ratio</a:t>
            </a:r>
            <a:endParaRPr lang="en-US" sz="1250" dirty="0"/>
          </a:p>
        </p:txBody>
      </p:sp>
      <p:sp>
        <p:nvSpPr>
          <p:cNvPr id="12" name="Shape 10"/>
          <p:cNvSpPr/>
          <p:nvPr/>
        </p:nvSpPr>
        <p:spPr>
          <a:xfrm>
            <a:off x="685800" y="3703320"/>
            <a:ext cx="10789920" cy="2057400"/>
          </a:xfrm>
          <a:prstGeom prst="roundRect">
            <a:avLst>
              <a:gd name="adj" fmla="val 3556"/>
            </a:avLst>
          </a:prstGeom>
          <a:solidFill>
            <a:srgbClr val="F4F6FB"/>
          </a:solidFill>
          <a:ln w="12700">
            <a:solidFill>
              <a:srgbClr val="F4F6FB"/>
            </a:solidFill>
            <a:prstDash val="solid"/>
          </a:ln>
        </p:spPr>
      </p:sp>
      <p:sp>
        <p:nvSpPr>
          <p:cNvPr id="13" name="Text 11"/>
          <p:cNvSpPr/>
          <p:nvPr/>
        </p:nvSpPr>
        <p:spPr>
          <a:xfrm>
            <a:off x="1005840" y="3858768"/>
            <a:ext cx="6675120" cy="320040"/>
          </a:xfrm>
          <a:prstGeom prst="rect">
            <a:avLst/>
          </a:prstGeom>
          <a:noFill/>
          <a:ln/>
        </p:spPr>
        <p:txBody>
          <a:bodyPr wrap="square" lIns="0" tIns="0" rIns="0" bIns="0"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"Would gender matter for a married man with children?"  — my own hypothesis</a:t>
            </a:r>
            <a:endParaRPr lang="en-US" sz="1800" dirty="0"/>
          </a:p>
        </p:txBody>
      </p:sp>
      <p:sp>
        <p:nvSpPr>
          <p:cNvPr id="14" name="Text 12"/>
          <p:cNvSpPr/>
          <p:nvPr/>
        </p:nvSpPr>
        <p:spPr>
          <a:xfrm>
            <a:off x="1005840" y="4206240"/>
            <a:ext cx="6675120" cy="868680"/>
          </a:xfrm>
          <a:prstGeom prst="rect">
            <a:avLst/>
          </a:prstGeom>
          <a:noFill/>
          <a:ln/>
        </p:spPr>
        <p:txBody>
          <a:bodyPr wrap="square" lIns="0" tIns="0" rIns="0" bIns="0" rtlCol="0" anchor="ctr"/>
          <a:lstStyle/>
          <a:p>
            <a:pPr indent="0" marL="0">
              <a:lnSpc>
                <a:spcPts val="1800"/>
              </a:lnSpc>
              <a:buNone/>
            </a:pPr>
            <a:r>
              <a:rPr lang="en-US" sz="1350" dirty="0">
                <a:solidFill>
                  <a:srgbClr val="4A5163"/>
                </a:solidFill>
                <a:latin typeface="Calibri" pitchFamily="34" charset="0"/>
                <a:ea typeface="Calibri" pitchFamily="34" charset="-122"/>
                <a:cs typeface="Calibri" pitchFamily="34" charset="-120"/>
              </a:rPr>
              <a:t>The thinking was that a married father carries the household on that card. Married with children: women 15.7, men 15.5. No difference at all. Gender was later removed on two separate grounds — no signal, and regulation restricts its use in credit decisions.</a:t>
            </a:r>
            <a:endParaRPr lang="en-US" sz="1350" dirty="0"/>
          </a:p>
        </p:txBody>
      </p:sp>
      <p:sp>
        <p:nvSpPr>
          <p:cNvPr id="15" name="Text 13"/>
          <p:cNvSpPr/>
          <p:nvPr/>
        </p:nvSpPr>
        <p:spPr>
          <a:xfrm>
            <a:off x="1005840" y="5074920"/>
            <a:ext cx="6675120" cy="548640"/>
          </a:xfrm>
          <a:prstGeom prst="rect">
            <a:avLst/>
          </a:prstGeom>
          <a:noFill/>
          <a:ln/>
        </p:spPr>
        <p:txBody>
          <a:bodyPr wrap="square" lIns="0" tIns="0" rIns="0" bIns="0" rtlCol="0" anchor="ctr"/>
          <a:lstStyle/>
          <a:p>
            <a:pPr indent="0" marL="0">
              <a:lnSpc>
                <a:spcPts val="1800"/>
              </a:lnSpc>
              <a:buNone/>
            </a:pPr>
            <a:r>
              <a:rPr lang="en-US" sz="1350" b="1" dirty="0">
                <a:solidFill>
                  <a:srgbClr val="1E2761"/>
                </a:solidFill>
                <a:latin typeface="Calibri" pitchFamily="34" charset="0"/>
                <a:ea typeface="Calibri" pitchFamily="34" charset="-122"/>
                <a:cs typeface="Calibri" pitchFamily="34" charset="-120"/>
              </a:rPr>
              <a:t>But the mechanism was right. Out of 100 customers:  single, no children 29  ·  married, no children 24  ·  single with children 21  ·  married with children 16.</a:t>
            </a:r>
            <a:endParaRPr lang="en-US" sz="1350" dirty="0"/>
          </a:p>
        </p:txBody>
      </p:sp>
      <p:sp>
        <p:nvSpPr>
          <p:cNvPr id="16" name="Shape 14"/>
          <p:cNvSpPr/>
          <p:nvPr/>
        </p:nvSpPr>
        <p:spPr>
          <a:xfrm>
            <a:off x="7955280" y="4526280"/>
            <a:ext cx="3246120" cy="402336"/>
          </a:xfrm>
          <a:prstGeom prst="roundRect">
            <a:avLst>
              <a:gd name="adj" fmla="val 13636"/>
            </a:avLst>
          </a:prstGeom>
          <a:solidFill>
            <a:srgbClr val="3F7D68"/>
          </a:solidFill>
          <a:ln w="12700">
            <a:solidFill>
              <a:srgbClr val="3F7D68"/>
            </a:solidFill>
            <a:prstDash val="solid"/>
          </a:ln>
        </p:spPr>
      </p:sp>
      <p:sp>
        <p:nvSpPr>
          <p:cNvPr id="17" name="Text 15"/>
          <p:cNvSpPr/>
          <p:nvPr/>
        </p:nvSpPr>
        <p:spPr>
          <a:xfrm>
            <a:off x="7955280" y="4526280"/>
            <a:ext cx="3246120" cy="402336"/>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WRONG — BUT FOUND responsibility</a:t>
            </a:r>
            <a:endParaRPr lang="en-US" sz="1250" dirty="0"/>
          </a:p>
        </p:txBody>
      </p:sp>
      <p:sp>
        <p:nvSpPr>
          <p:cNvPr id="18" name="Text 16"/>
          <p:cNvSpPr/>
          <p:nvPr/>
        </p:nvSpPr>
        <p:spPr>
          <a:xfrm>
            <a:off x="685800" y="5943600"/>
            <a:ext cx="10789920" cy="365760"/>
          </a:xfrm>
          <a:prstGeom prst="rect">
            <a:avLst/>
          </a:prstGeom>
          <a:noFill/>
          <a:ln/>
        </p:spPr>
        <p:txBody>
          <a:bodyPr wrap="square" lIns="0" tIns="0" rIns="0" bIns="0" rtlCol="0" anchor="ctr"/>
          <a:lstStyle/>
          <a:p>
            <a:pPr indent="0" marL="0">
              <a:buNone/>
            </a:pPr>
            <a:r>
              <a:rPr lang="en-US" sz="1400" i="1" dirty="0">
                <a:solidFill>
                  <a:srgbClr val="1E2761"/>
                </a:solidFill>
                <a:latin typeface="Calibri" pitchFamily="34" charset="0"/>
                <a:ea typeface="Calibri" pitchFamily="34" charset="-122"/>
                <a:cs typeface="Calibri" pitchFamily="34" charset="-120"/>
              </a:rPr>
              <a:t>Failed ideas stayed in the notebook on purpose. They are the evidence the surviving findings were actually tested.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What predicts nothing — and one trap we nearly fell into</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Two columns everyone expects to matter, and one we almost threw away</a:t>
            </a:r>
            <a:endParaRPr lang="en-US" sz="1500" dirty="0"/>
          </a:p>
        </p:txBody>
      </p:sp>
      <p:sp>
        <p:nvSpPr>
          <p:cNvPr id="6" name="Shape 4"/>
          <p:cNvSpPr/>
          <p:nvPr/>
        </p:nvSpPr>
        <p:spPr>
          <a:xfrm>
            <a:off x="685800" y="1481328"/>
            <a:ext cx="5257800" cy="2057400"/>
          </a:xfrm>
          <a:prstGeom prst="roundRect">
            <a:avLst>
              <a:gd name="adj" fmla="val 3556"/>
            </a:avLst>
          </a:prstGeom>
          <a:solidFill>
            <a:srgbClr val="F4F6FB"/>
          </a:solidFill>
          <a:ln w="12700">
            <a:solidFill>
              <a:srgbClr val="F4F6FB"/>
            </a:solidFill>
            <a:prstDash val="solid"/>
          </a:ln>
        </p:spPr>
      </p:sp>
      <p:sp>
        <p:nvSpPr>
          <p:cNvPr id="7" name="Text 5"/>
          <p:cNvSpPr/>
          <p:nvPr/>
        </p:nvSpPr>
        <p:spPr>
          <a:xfrm>
            <a:off x="1005840" y="1636776"/>
            <a:ext cx="4663440" cy="292608"/>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Two things everyone expects to matter</a:t>
            </a:r>
            <a:endParaRPr lang="en-US" sz="1700" dirty="0"/>
          </a:p>
        </p:txBody>
      </p:sp>
      <p:sp>
        <p:nvSpPr>
          <p:cNvPr id="8" name="Text 6"/>
          <p:cNvSpPr/>
          <p:nvPr/>
        </p:nvSpPr>
        <p:spPr>
          <a:xfrm>
            <a:off x="1005840" y="1984248"/>
            <a:ext cx="4663440" cy="292608"/>
          </a:xfrm>
          <a:prstGeom prst="rect">
            <a:avLst/>
          </a:prstGeom>
          <a:noFill/>
          <a:ln/>
        </p:spPr>
        <p:txBody>
          <a:bodyPr wrap="square" lIns="0" tIns="0" rIns="0" bIns="0" rtlCol="0" anchor="ctr"/>
          <a:lstStyle/>
          <a:p>
            <a:pPr indent="0" marL="0">
              <a:buNone/>
            </a:pPr>
            <a:r>
              <a:rPr lang="en-US" sz="1400" dirty="0">
                <a:solidFill>
                  <a:srgbClr val="4A5163"/>
                </a:solidFill>
                <a:latin typeface="Calibri" pitchFamily="34" charset="0"/>
                <a:ea typeface="Calibri" pitchFamily="34" charset="-122"/>
                <a:cs typeface="Calibri" pitchFamily="34" charset="-120"/>
              </a:rPr>
              <a:t>Gender:  20 closed per 100 for men, 20 for women.</a:t>
            </a:r>
            <a:endParaRPr lang="en-US" sz="1400" dirty="0"/>
          </a:p>
        </p:txBody>
      </p:sp>
      <p:sp>
        <p:nvSpPr>
          <p:cNvPr id="9" name="Text 7"/>
          <p:cNvSpPr/>
          <p:nvPr/>
        </p:nvSpPr>
        <p:spPr>
          <a:xfrm>
            <a:off x="1005840" y="2304288"/>
            <a:ext cx="4663440" cy="457200"/>
          </a:xfrm>
          <a:prstGeom prst="rect">
            <a:avLst/>
          </a:prstGeom>
          <a:noFill/>
          <a:ln/>
        </p:spPr>
        <p:txBody>
          <a:bodyPr wrap="square" lIns="0" tIns="0" rIns="0" bIns="0" rtlCol="0" anchor="ctr"/>
          <a:lstStyle/>
          <a:p>
            <a:pPr indent="0" marL="0">
              <a:lnSpc>
                <a:spcPts val="1800"/>
              </a:lnSpc>
              <a:buNone/>
            </a:pPr>
            <a:r>
              <a:rPr lang="en-US" sz="1400" dirty="0">
                <a:solidFill>
                  <a:srgbClr val="4A5163"/>
                </a:solidFill>
                <a:latin typeface="Calibri" pitchFamily="34" charset="0"/>
                <a:ea typeface="Calibri" pitchFamily="34" charset="-122"/>
                <a:cs typeface="Calibri" pitchFamily="34" charset="-120"/>
              </a:rPr>
              <a:t>Salary:  relationship with closing the card of −0.006. Effectively zero.</a:t>
            </a:r>
            <a:endParaRPr lang="en-US" sz="1400" dirty="0"/>
          </a:p>
        </p:txBody>
      </p:sp>
      <p:sp>
        <p:nvSpPr>
          <p:cNvPr id="10" name="Text 8"/>
          <p:cNvSpPr/>
          <p:nvPr/>
        </p:nvSpPr>
        <p:spPr>
          <a:xfrm>
            <a:off x="1005840" y="2852928"/>
            <a:ext cx="4663440" cy="502920"/>
          </a:xfrm>
          <a:prstGeom prst="rect">
            <a:avLst/>
          </a:prstGeom>
          <a:noFill/>
          <a:ln/>
        </p:spPr>
        <p:txBody>
          <a:bodyPr wrap="square" lIns="0" tIns="0" rIns="0" bIns="0" rtlCol="0" anchor="ctr"/>
          <a:lstStyle/>
          <a:p>
            <a:pPr indent="0" marL="0">
              <a:lnSpc>
                <a:spcPts val="1700"/>
              </a:lnSpc>
              <a:buNone/>
            </a:pPr>
            <a:r>
              <a:rPr lang="en-US" sz="1300" i="1" dirty="0">
                <a:solidFill>
                  <a:srgbClr val="8891A4"/>
                </a:solidFill>
                <a:latin typeface="Calibri" pitchFamily="34" charset="0"/>
                <a:ea typeface="Calibri" pitchFamily="34" charset="-122"/>
                <a:cs typeface="Calibri" pitchFamily="34" charset="-120"/>
              </a:rPr>
              <a:t>Rich customers and poor customers close their cards at exactly the same rate.</a:t>
            </a:r>
            <a:endParaRPr lang="en-US" sz="1300" dirty="0"/>
          </a:p>
        </p:txBody>
      </p:sp>
      <p:sp>
        <p:nvSpPr>
          <p:cNvPr id="11" name="Shape 9"/>
          <p:cNvSpPr/>
          <p:nvPr/>
        </p:nvSpPr>
        <p:spPr>
          <a:xfrm>
            <a:off x="685800" y="3657600"/>
            <a:ext cx="5257800" cy="1463040"/>
          </a:xfrm>
          <a:prstGeom prst="roundRect">
            <a:avLst>
              <a:gd name="adj" fmla="val 5000"/>
            </a:avLst>
          </a:prstGeom>
          <a:solidFill>
            <a:srgbClr val="1E2761"/>
          </a:solidFill>
          <a:ln w="12700">
            <a:solidFill>
              <a:srgbClr val="1E2761"/>
            </a:solidFill>
            <a:prstDash val="solid"/>
          </a:ln>
        </p:spPr>
      </p:sp>
      <p:sp>
        <p:nvSpPr>
          <p:cNvPr id="12" name="Text 10"/>
          <p:cNvSpPr/>
          <p:nvPr/>
        </p:nvSpPr>
        <p:spPr>
          <a:xfrm>
            <a:off x="1005840" y="3813048"/>
            <a:ext cx="4663440" cy="292608"/>
          </a:xfrm>
          <a:prstGeom prst="rect">
            <a:avLst/>
          </a:prstGeom>
          <a:noFill/>
          <a:ln/>
        </p:spPr>
        <p:txBody>
          <a:bodyPr wrap="square" lIns="0" tIns="0" rIns="0" bIns="0" rtlCol="0" anchor="ctr"/>
          <a:lstStyle/>
          <a:p>
            <a:pPr indent="0" marL="0">
              <a:buNone/>
            </a:pPr>
            <a:r>
              <a:rPr lang="en-US" sz="1700" b="1" dirty="0">
                <a:solidFill>
                  <a:srgbClr val="E39A00"/>
                </a:solidFill>
                <a:latin typeface="Cambria" pitchFamily="34" charset="0"/>
                <a:ea typeface="Cambria" pitchFamily="34" charset="-122"/>
                <a:cs typeface="Cambria" pitchFamily="34" charset="-120"/>
              </a:rPr>
              <a:t>The sentence this gave us</a:t>
            </a:r>
            <a:endParaRPr lang="en-US" sz="1700" dirty="0"/>
          </a:p>
        </p:txBody>
      </p:sp>
      <p:sp>
        <p:nvSpPr>
          <p:cNvPr id="13" name="Text 11"/>
          <p:cNvSpPr/>
          <p:nvPr/>
        </p:nvSpPr>
        <p:spPr>
          <a:xfrm>
            <a:off x="1005840" y="4160520"/>
            <a:ext cx="4663440" cy="822960"/>
          </a:xfrm>
          <a:prstGeom prst="rect">
            <a:avLst/>
          </a:prstGeom>
          <a:noFill/>
          <a:ln/>
        </p:spPr>
        <p:txBody>
          <a:bodyPr wrap="square" lIns="0" tIns="0" rIns="0" bIns="0" rtlCol="0" anchor="ctr"/>
          <a:lstStyle/>
          <a:p>
            <a:pPr indent="0" marL="0">
              <a:lnSpc>
                <a:spcPts val="2000"/>
              </a:lnSpc>
              <a:buNone/>
            </a:pPr>
            <a:r>
              <a:rPr lang="en-US" sz="1450" dirty="0">
                <a:solidFill>
                  <a:srgbClr val="C3CCE4"/>
                </a:solidFill>
                <a:latin typeface="Calibri" pitchFamily="34" charset="0"/>
                <a:ea typeface="Calibri" pitchFamily="34" charset="-122"/>
                <a:cs typeface="Calibri" pitchFamily="34" charset="-120"/>
              </a:rPr>
              <a:t>Closing a credit card is not about whether you can afford it. It is about whether you still use it.</a:t>
            </a:r>
            <a:endParaRPr lang="en-US" sz="1450" dirty="0"/>
          </a:p>
        </p:txBody>
      </p:sp>
      <p:graphicFrame>
        <p:nvGraphicFramePr>
          <p:cNvPr id="14" name="Chart 0" descr=""/>
          <p:cNvGraphicFramePr/>
          <p:nvPr/>
        </p:nvGraphicFramePr>
        <p:xfrm>
          <a:off x="6217920" y="1481328"/>
          <a:ext cx="5257800" cy="269748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6217920" y="4251960"/>
            <a:ext cx="5257800" cy="1737360"/>
          </a:xfrm>
          <a:prstGeom prst="roundRect">
            <a:avLst>
              <a:gd name="adj" fmla="val 4211"/>
            </a:avLst>
          </a:prstGeom>
          <a:solidFill>
            <a:srgbClr val="F4F6FB"/>
          </a:solidFill>
          <a:ln w="12700">
            <a:solidFill>
              <a:srgbClr val="F4F6FB"/>
            </a:solidFill>
            <a:prstDash val="solid"/>
          </a:ln>
        </p:spPr>
      </p:sp>
      <p:sp>
        <p:nvSpPr>
          <p:cNvPr id="16" name="Text 13"/>
          <p:cNvSpPr/>
          <p:nvPr/>
        </p:nvSpPr>
        <p:spPr>
          <a:xfrm>
            <a:off x="6537960" y="4407408"/>
            <a:ext cx="4663440" cy="292608"/>
          </a:xfrm>
          <a:prstGeom prst="rect">
            <a:avLst/>
          </a:prstGeom>
          <a:noFill/>
          <a:ln/>
        </p:spPr>
        <p:txBody>
          <a:bodyPr wrap="square" lIns="0" tIns="0" rIns="0" bIns="0" rtlCol="0" anchor="ctr"/>
          <a:lstStyle/>
          <a:p>
            <a:pPr indent="0" marL="0">
              <a:buNone/>
            </a:pPr>
            <a:r>
              <a:rPr lang="en-US" sz="1500" b="1" dirty="0">
                <a:solidFill>
                  <a:srgbClr val="1B1F2A"/>
                </a:solidFill>
                <a:latin typeface="Cambria" pitchFamily="34" charset="0"/>
                <a:ea typeface="Cambria" pitchFamily="34" charset="-122"/>
                <a:cs typeface="Cambria" pitchFamily="34" charset="-120"/>
              </a:rPr>
              <a:t>The credit score looked useless — its quick check said −0.154</a:t>
            </a:r>
            <a:endParaRPr lang="en-US" sz="1500" dirty="0"/>
          </a:p>
        </p:txBody>
      </p:sp>
      <p:sp>
        <p:nvSpPr>
          <p:cNvPr id="17" name="Text 14"/>
          <p:cNvSpPr/>
          <p:nvPr/>
        </p:nvSpPr>
        <p:spPr>
          <a:xfrm>
            <a:off x="6537960" y="4736592"/>
            <a:ext cx="4663440" cy="118872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On that number alone most people would drop the column. Split into bands it runs from 30 down to 13.</a:t>
            </a:r>
            <a:endParaRPr lang="en-US" sz="1250" dirty="0"/>
          </a:p>
          <a:p>
            <a:pPr indent="0" marL="0">
              <a:lnSpc>
                <a:spcPts val="1600"/>
              </a:lnSpc>
              <a:buNone/>
            </a:pPr>
            <a:endParaRPr lang="en-US" sz="1250" dirty="0"/>
          </a:p>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A weak correlation means no straight-line relationship. It does not mean no relationship. We checked bands on every column after this.</a:t>
            </a:r>
            <a:endParaRPr lang="en-US" sz="1250" dirty="0"/>
          </a:p>
        </p:txBody>
      </p:sp>
      <p:sp>
        <p:nvSpPr>
          <p:cNvPr id="18" name="Text 15"/>
          <p:cNvSpPr/>
          <p:nvPr/>
        </p:nvSpPr>
        <p:spPr>
          <a:xfrm>
            <a:off x="685800" y="6126480"/>
            <a:ext cx="10789920" cy="365760"/>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Also built here: relationship_depth — salary location, rival cards and missed payments in one score. 64.9 closed per 100 at the weakest, 6.9 at the strongest.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08</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Columns we built, tested, and reported as failures</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Plus one worry that turned out backwards, and three ideas dropped before building</a:t>
            </a:r>
            <a:endParaRPr lang="en-US" sz="1500" dirty="0"/>
          </a:p>
        </p:txBody>
      </p:sp>
      <p:sp>
        <p:nvSpPr>
          <p:cNvPr id="6" name="Shape 4"/>
          <p:cNvSpPr/>
          <p:nvPr/>
        </p:nvSpPr>
        <p:spPr>
          <a:xfrm>
            <a:off x="685800" y="1554480"/>
            <a:ext cx="5257800" cy="2331720"/>
          </a:xfrm>
          <a:prstGeom prst="roundRect">
            <a:avLst>
              <a:gd name="adj" fmla="val 3137"/>
            </a:avLst>
          </a:prstGeom>
          <a:solidFill>
            <a:srgbClr val="F4F6FB"/>
          </a:solidFill>
          <a:ln w="12700">
            <a:solidFill>
              <a:srgbClr val="F4F6FB"/>
            </a:solidFill>
            <a:prstDash val="solid"/>
          </a:ln>
        </p:spPr>
      </p:sp>
      <p:sp>
        <p:nvSpPr>
          <p:cNvPr id="7" name="Text 5"/>
          <p:cNvSpPr/>
          <p:nvPr/>
        </p:nvSpPr>
        <p:spPr>
          <a:xfrm>
            <a:off x="1005840" y="1719072"/>
            <a:ext cx="4663440" cy="292608"/>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loan_burden — it does not work</a:t>
            </a:r>
            <a:endParaRPr lang="en-US" sz="1700" dirty="0"/>
          </a:p>
        </p:txBody>
      </p:sp>
      <p:sp>
        <p:nvSpPr>
          <p:cNvPr id="8" name="Text 6"/>
          <p:cNvSpPr/>
          <p:nvPr/>
        </p:nvSpPr>
        <p:spPr>
          <a:xfrm>
            <a:off x="1005840" y="2057400"/>
            <a:ext cx="2103120" cy="640080"/>
          </a:xfrm>
          <a:prstGeom prst="rect">
            <a:avLst/>
          </a:prstGeom>
          <a:noFill/>
          <a:ln/>
        </p:spPr>
        <p:txBody>
          <a:bodyPr wrap="square" lIns="0" tIns="0" rIns="0" bIns="0" rtlCol="0" anchor="ctr"/>
          <a:lstStyle/>
          <a:p>
            <a:pPr indent="0" marL="0">
              <a:buNone/>
            </a:pPr>
            <a:r>
              <a:rPr lang="en-US" sz="3400" b="1" dirty="0">
                <a:solidFill>
                  <a:srgbClr val="C0453F"/>
                </a:solidFill>
                <a:latin typeface="Cambria" pitchFamily="34" charset="0"/>
                <a:ea typeface="Cambria" pitchFamily="34" charset="-122"/>
                <a:cs typeface="Cambria" pitchFamily="34" charset="-120"/>
              </a:rPr>
              <a:t>75.4%</a:t>
            </a:r>
            <a:endParaRPr lang="en-US" sz="3400" dirty="0"/>
          </a:p>
        </p:txBody>
      </p:sp>
      <p:sp>
        <p:nvSpPr>
          <p:cNvPr id="9" name="Text 7"/>
          <p:cNvSpPr/>
          <p:nvPr/>
        </p:nvSpPr>
        <p:spPr>
          <a:xfrm>
            <a:off x="3200400" y="2057400"/>
            <a:ext cx="2468880" cy="731520"/>
          </a:xfrm>
          <a:prstGeom prst="rect">
            <a:avLst/>
          </a:prstGeom>
          <a:noFill/>
          <a:ln/>
        </p:spPr>
        <p:txBody>
          <a:bodyPr wrap="square" lIns="0" tIns="0" rIns="0" bIns="0" rtlCol="0" anchor="ctr"/>
          <a:lstStyle/>
          <a:p>
            <a:pPr indent="0" marL="0">
              <a:lnSpc>
                <a:spcPts val="1600"/>
              </a:lnSpc>
              <a:buNone/>
            </a:pPr>
            <a:r>
              <a:rPr lang="en-US" sz="1200" dirty="0">
                <a:solidFill>
                  <a:srgbClr val="4A5163"/>
                </a:solidFill>
                <a:latin typeface="Calibri" pitchFamily="34" charset="0"/>
                <a:ea typeface="Calibri" pitchFamily="34" charset="-122"/>
                <a:cs typeface="Calibri" pitchFamily="34" charset="-120"/>
              </a:rPr>
              <a:t>of customers have a balance of exactly zero — for three quarters of the book the column is one repeated number.</a:t>
            </a:r>
            <a:endParaRPr lang="en-US" sz="1200" dirty="0"/>
          </a:p>
        </p:txBody>
      </p:sp>
      <p:sp>
        <p:nvSpPr>
          <p:cNvPr id="10" name="Text 8"/>
          <p:cNvSpPr/>
          <p:nvPr/>
        </p:nvSpPr>
        <p:spPr>
          <a:xfrm>
            <a:off x="1005840" y="2816352"/>
            <a:ext cx="4663440" cy="566928"/>
          </a:xfrm>
          <a:prstGeom prst="rect">
            <a:avLst/>
          </a:prstGeom>
          <a:noFill/>
          <a:ln/>
        </p:spPr>
        <p:txBody>
          <a:bodyPr wrap="square" lIns="0" tIns="0" rIns="0" bIns="0" rtlCol="0" anchor="ctr"/>
          <a:lstStyle/>
          <a:p>
            <a:pPr indent="0" marL="0">
              <a:lnSpc>
                <a:spcPts val="1500"/>
              </a:lnSpc>
              <a:buNone/>
            </a:pPr>
            <a:r>
              <a:rPr lang="en-US" sz="1200" dirty="0">
                <a:solidFill>
                  <a:srgbClr val="4A5163"/>
                </a:solidFill>
                <a:latin typeface="Calibri" pitchFamily="34" charset="0"/>
                <a:ea typeface="Calibri" pitchFamily="34" charset="-122"/>
                <a:cs typeface="Calibri" pitchFamily="34" charset="-120"/>
              </a:rPr>
              <a:t>And where it could be measured, the signal reversed. Steepest fallers: 52.2 with a balance, 44.9 without. Middle band: 11.7 against 13.8.</a:t>
            </a:r>
            <a:endParaRPr lang="en-US" sz="1200" dirty="0"/>
          </a:p>
        </p:txBody>
      </p:sp>
      <p:sp>
        <p:nvSpPr>
          <p:cNvPr id="11" name="Shape 9"/>
          <p:cNvSpPr/>
          <p:nvPr/>
        </p:nvSpPr>
        <p:spPr>
          <a:xfrm>
            <a:off x="1005840" y="3401568"/>
            <a:ext cx="4663440" cy="402336"/>
          </a:xfrm>
          <a:prstGeom prst="roundRect">
            <a:avLst>
              <a:gd name="adj" fmla="val 13636"/>
            </a:avLst>
          </a:prstGeom>
          <a:solidFill>
            <a:srgbClr val="C0453F"/>
          </a:solidFill>
          <a:ln w="12700">
            <a:solidFill>
              <a:srgbClr val="C0453F"/>
            </a:solidFill>
            <a:prstDash val="solid"/>
          </a:ln>
        </p:spPr>
      </p:sp>
      <p:sp>
        <p:nvSpPr>
          <p:cNvPr id="12" name="Text 10"/>
          <p:cNvSpPr/>
          <p:nvPr/>
        </p:nvSpPr>
        <p:spPr>
          <a:xfrm>
            <a:off x="1005840" y="3401568"/>
            <a:ext cx="4663440" cy="402336"/>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A SIGNAL THAT REVERSES IS NOT A SIGNAL</a:t>
            </a:r>
            <a:endParaRPr lang="en-US" sz="1250" dirty="0"/>
          </a:p>
        </p:txBody>
      </p:sp>
      <p:sp>
        <p:nvSpPr>
          <p:cNvPr id="13" name="Shape 11"/>
          <p:cNvSpPr/>
          <p:nvPr/>
        </p:nvSpPr>
        <p:spPr>
          <a:xfrm>
            <a:off x="6217920" y="1554480"/>
            <a:ext cx="5257800" cy="2331720"/>
          </a:xfrm>
          <a:prstGeom prst="roundRect">
            <a:avLst>
              <a:gd name="adj" fmla="val 3137"/>
            </a:avLst>
          </a:prstGeom>
          <a:solidFill>
            <a:srgbClr val="1E2761"/>
          </a:solidFill>
          <a:ln w="12700">
            <a:solidFill>
              <a:srgbClr val="1E2761"/>
            </a:solidFill>
            <a:prstDash val="solid"/>
          </a:ln>
        </p:spPr>
      </p:sp>
      <p:sp>
        <p:nvSpPr>
          <p:cNvPr id="14" name="Text 12"/>
          <p:cNvSpPr/>
          <p:nvPr/>
        </p:nvSpPr>
        <p:spPr>
          <a:xfrm>
            <a:off x="6537960" y="1719072"/>
            <a:ext cx="4663440" cy="292608"/>
          </a:xfrm>
          <a:prstGeom prst="rect">
            <a:avLst/>
          </a:prstGeom>
          <a:noFill/>
          <a:ln/>
        </p:spPr>
        <p:txBody>
          <a:bodyPr wrap="square" lIns="0" tIns="0" rIns="0" bIns="0" rtlCol="0" anchor="ctr"/>
          <a:lstStyle/>
          <a:p>
            <a:pPr indent="0" marL="0">
              <a:buNone/>
            </a:pPr>
            <a:r>
              <a:rPr lang="en-US" sz="1700" b="1" dirty="0">
                <a:solidFill>
                  <a:srgbClr val="E39A00"/>
                </a:solidFill>
                <a:latin typeface="Cambria" pitchFamily="34" charset="0"/>
                <a:ea typeface="Cambria" pitchFamily="34" charset="-122"/>
                <a:cs typeface="Cambria" pitchFamily="34" charset="-120"/>
              </a:rPr>
              <a:t>A worry that turned out backwards</a:t>
            </a:r>
            <a:endParaRPr lang="en-US" sz="1700" dirty="0"/>
          </a:p>
        </p:txBody>
      </p:sp>
      <p:sp>
        <p:nvSpPr>
          <p:cNvPr id="15" name="Text 13"/>
          <p:cNvSpPr/>
          <p:nvPr/>
        </p:nvSpPr>
        <p:spPr>
          <a:xfrm>
            <a:off x="6537960" y="2057400"/>
            <a:ext cx="4663440" cy="640080"/>
          </a:xfrm>
          <a:prstGeom prst="rect">
            <a:avLst/>
          </a:prstGeom>
          <a:noFill/>
          <a:ln/>
        </p:spPr>
        <p:txBody>
          <a:bodyPr wrap="square" lIns="0" tIns="0" rIns="0" bIns="0" rtlCol="0" anchor="ctr"/>
          <a:lstStyle/>
          <a:p>
            <a:pPr indent="0" marL="0">
              <a:lnSpc>
                <a:spcPts val="1700"/>
              </a:lnSpc>
              <a:buNone/>
            </a:pPr>
            <a:r>
              <a:rPr lang="en-US" sz="1250" dirty="0">
                <a:solidFill>
                  <a:srgbClr val="C3CCE4"/>
                </a:solidFill>
                <a:latin typeface="Calibri" pitchFamily="34" charset="0"/>
                <a:ea typeface="Calibri" pitchFamily="34" charset="-122"/>
                <a:cs typeface="Calibri" pitchFamily="34" charset="-120"/>
              </a:rPr>
              <a:t>We suspected "jumpy spending" was just the falling trend in disguise, since a falling series is mechanically more variable.</a:t>
            </a:r>
            <a:endParaRPr lang="en-US" sz="1250" dirty="0"/>
          </a:p>
        </p:txBody>
      </p:sp>
      <p:sp>
        <p:nvSpPr>
          <p:cNvPr id="16" name="Text 14"/>
          <p:cNvSpPr/>
          <p:nvPr/>
        </p:nvSpPr>
        <p:spPr>
          <a:xfrm>
            <a:off x="6537960" y="2724912"/>
            <a:ext cx="4663440" cy="640080"/>
          </a:xfrm>
          <a:prstGeom prst="rect">
            <a:avLst/>
          </a:prstGeom>
          <a:noFill/>
          <a:ln/>
        </p:spPr>
        <p:txBody>
          <a:bodyPr wrap="square" lIns="0" tIns="0" rIns="0" bIns="0" rtlCol="0" anchor="ctr"/>
          <a:lstStyle/>
          <a:p>
            <a:pPr indent="0" marL="0">
              <a:lnSpc>
                <a:spcPts val="1700"/>
              </a:lnSpc>
              <a:buNone/>
            </a:pPr>
            <a:r>
              <a:rPr lang="en-US" sz="1250" dirty="0">
                <a:solidFill>
                  <a:srgbClr val="C3CCE4"/>
                </a:solidFill>
                <a:latin typeface="Calibri" pitchFamily="34" charset="0"/>
                <a:ea typeface="Calibri" pitchFamily="34" charset="-122"/>
                <a:cs typeface="Calibri" pitchFamily="34" charset="-120"/>
              </a:rPr>
              <a:t>At the same spending trend: jumpy 52.0 against steady 22.5. And among growing customers it flips — jumpy 3.4, steady 6.1.</a:t>
            </a:r>
            <a:endParaRPr lang="en-US" sz="1250" dirty="0"/>
          </a:p>
        </p:txBody>
      </p:sp>
      <p:sp>
        <p:nvSpPr>
          <p:cNvPr id="17" name="Text 15"/>
          <p:cNvSpPr/>
          <p:nvPr/>
        </p:nvSpPr>
        <p:spPr>
          <a:xfrm>
            <a:off x="6537960" y="3401568"/>
            <a:ext cx="4663440" cy="320040"/>
          </a:xfrm>
          <a:prstGeom prst="rect">
            <a:avLst/>
          </a:prstGeom>
          <a:noFill/>
          <a:ln/>
        </p:spPr>
        <p:txBody>
          <a:bodyPr wrap="square" lIns="0" tIns="0" rIns="0" bIns="0" rtlCol="0" anchor="ctr"/>
          <a:lstStyle/>
          <a:p>
            <a:pPr indent="0" marL="0">
              <a:buNone/>
            </a:pPr>
            <a:r>
              <a:rPr lang="en-US" sz="1350" b="1" i="1" dirty="0">
                <a:solidFill>
                  <a:srgbClr val="FFFFFF"/>
                </a:solidFill>
                <a:latin typeface="Calibri" pitchFamily="34" charset="0"/>
                <a:ea typeface="Calibri" pitchFamily="34" charset="-122"/>
                <a:cs typeface="Calibri" pitchFamily="34" charset="-120"/>
              </a:rPr>
              <a:t>The same measurement, opposite meanings.</a:t>
            </a:r>
            <a:endParaRPr lang="en-US" sz="1350" dirty="0"/>
          </a:p>
        </p:txBody>
      </p:sp>
      <p:sp>
        <p:nvSpPr>
          <p:cNvPr id="18" name="Shape 16"/>
          <p:cNvSpPr/>
          <p:nvPr/>
        </p:nvSpPr>
        <p:spPr>
          <a:xfrm>
            <a:off x="685800" y="4114800"/>
            <a:ext cx="10789920" cy="1965960"/>
          </a:xfrm>
          <a:prstGeom prst="roundRect">
            <a:avLst>
              <a:gd name="adj" fmla="val 3721"/>
            </a:avLst>
          </a:prstGeom>
          <a:solidFill>
            <a:srgbClr val="F4F6FB"/>
          </a:solidFill>
          <a:ln w="12700">
            <a:solidFill>
              <a:srgbClr val="F4F6FB"/>
            </a:solidFill>
            <a:prstDash val="solid"/>
          </a:ln>
        </p:spPr>
      </p:sp>
      <p:sp>
        <p:nvSpPr>
          <p:cNvPr id="19" name="Text 17"/>
          <p:cNvSpPr/>
          <p:nvPr/>
        </p:nvSpPr>
        <p:spPr>
          <a:xfrm>
            <a:off x="1005840" y="4261104"/>
            <a:ext cx="10149840" cy="292608"/>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Three more ideas, rejected before they were built</a:t>
            </a:r>
            <a:endParaRPr lang="en-US" sz="1700" dirty="0"/>
          </a:p>
        </p:txBody>
      </p:sp>
      <p:sp>
        <p:nvSpPr>
          <p:cNvPr id="20" name="Shape 18"/>
          <p:cNvSpPr/>
          <p:nvPr/>
        </p:nvSpPr>
        <p:spPr>
          <a:xfrm>
            <a:off x="1051560" y="4654296"/>
            <a:ext cx="237744" cy="237744"/>
          </a:xfrm>
          <a:prstGeom prst="ellipse">
            <a:avLst/>
          </a:prstGeom>
          <a:solidFill>
            <a:srgbClr val="C0453F"/>
          </a:solidFill>
          <a:ln/>
        </p:spPr>
      </p:sp>
      <p:sp>
        <p:nvSpPr>
          <p:cNvPr id="21" name="Text 19"/>
          <p:cNvSpPr/>
          <p:nvPr/>
        </p:nvSpPr>
        <p:spPr>
          <a:xfrm>
            <a:off x="1463040" y="4599432"/>
            <a:ext cx="4023360" cy="347472"/>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Loyalty crossed with falling spending</a:t>
            </a:r>
            <a:endParaRPr lang="en-US" sz="1250" dirty="0"/>
          </a:p>
        </p:txBody>
      </p:sp>
      <p:sp>
        <p:nvSpPr>
          <p:cNvPr id="22" name="Text 20"/>
          <p:cNvSpPr/>
          <p:nvPr/>
        </p:nvSpPr>
        <p:spPr>
          <a:xfrm>
            <a:off x="5577840" y="4599432"/>
            <a:ext cx="5577840" cy="457200"/>
          </a:xfrm>
          <a:prstGeom prst="rect">
            <a:avLst/>
          </a:prstGeom>
          <a:noFill/>
          <a:ln/>
        </p:spPr>
        <p:txBody>
          <a:bodyPr wrap="square" lIns="0" tIns="0" rIns="0" bIns="0" rtlCol="0" anchor="ctr"/>
          <a:lstStyle/>
          <a:p>
            <a:pPr indent="0" marL="0">
              <a:lnSpc>
                <a:spcPts val="1500"/>
              </a:lnSpc>
              <a:buNone/>
            </a:pPr>
            <a:r>
              <a:rPr lang="en-US" sz="1200" dirty="0">
                <a:solidFill>
                  <a:srgbClr val="4A5163"/>
                </a:solidFill>
                <a:latin typeface="Calibri" pitchFamily="34" charset="0"/>
                <a:ea typeface="Calibri" pitchFamily="34" charset="-122"/>
                <a:cs typeface="Calibri" pitchFamily="34" charset="-120"/>
              </a:rPr>
              <a:t>35.2 against 31.5 — flat. No interaction.</a:t>
            </a:r>
            <a:endParaRPr lang="en-US" sz="1200" dirty="0"/>
          </a:p>
        </p:txBody>
      </p:sp>
      <p:sp>
        <p:nvSpPr>
          <p:cNvPr id="23" name="Shape 21"/>
          <p:cNvSpPr/>
          <p:nvPr/>
        </p:nvSpPr>
        <p:spPr>
          <a:xfrm>
            <a:off x="1051560" y="5148072"/>
            <a:ext cx="237744" cy="237744"/>
          </a:xfrm>
          <a:prstGeom prst="ellipse">
            <a:avLst/>
          </a:prstGeom>
          <a:solidFill>
            <a:srgbClr val="C0453F"/>
          </a:solidFill>
          <a:ln/>
        </p:spPr>
      </p:sp>
      <p:sp>
        <p:nvSpPr>
          <p:cNvPr id="24" name="Text 22"/>
          <p:cNvSpPr/>
          <p:nvPr/>
        </p:nvSpPr>
        <p:spPr>
          <a:xfrm>
            <a:off x="1463040" y="5093208"/>
            <a:ext cx="4023360" cy="347472"/>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Age crossed with falling spending</a:t>
            </a:r>
            <a:endParaRPr lang="en-US" sz="1250" dirty="0"/>
          </a:p>
        </p:txBody>
      </p:sp>
      <p:sp>
        <p:nvSpPr>
          <p:cNvPr id="25" name="Text 23"/>
          <p:cNvSpPr/>
          <p:nvPr/>
        </p:nvSpPr>
        <p:spPr>
          <a:xfrm>
            <a:off x="5577840" y="5093208"/>
            <a:ext cx="5577840" cy="457200"/>
          </a:xfrm>
          <a:prstGeom prst="rect">
            <a:avLst/>
          </a:prstGeom>
          <a:noFill/>
          <a:ln/>
        </p:spPr>
        <p:txBody>
          <a:bodyPr wrap="square" lIns="0" tIns="0" rIns="0" bIns="0" rtlCol="0" anchor="ctr"/>
          <a:lstStyle/>
          <a:p>
            <a:pPr indent="0" marL="0">
              <a:lnSpc>
                <a:spcPts val="1500"/>
              </a:lnSpc>
              <a:buNone/>
            </a:pPr>
            <a:r>
              <a:rPr lang="en-US" sz="1200" dirty="0">
                <a:solidFill>
                  <a:srgbClr val="4A5163"/>
                </a:solidFill>
                <a:latin typeface="Calibri" pitchFamily="34" charset="0"/>
                <a:ea typeface="Calibri" pitchFamily="34" charset="-122"/>
                <a:cs typeface="Calibri" pitchFamily="34" charset="-120"/>
              </a:rPr>
              <a:t>35.3 against 31.6 — flat. No interaction.</a:t>
            </a:r>
            <a:endParaRPr lang="en-US" sz="1200" dirty="0"/>
          </a:p>
        </p:txBody>
      </p:sp>
      <p:sp>
        <p:nvSpPr>
          <p:cNvPr id="26" name="Shape 24"/>
          <p:cNvSpPr/>
          <p:nvPr/>
        </p:nvSpPr>
        <p:spPr>
          <a:xfrm>
            <a:off x="1051560" y="5641848"/>
            <a:ext cx="237744" cy="237744"/>
          </a:xfrm>
          <a:prstGeom prst="ellipse">
            <a:avLst/>
          </a:prstGeom>
          <a:solidFill>
            <a:srgbClr val="C0453F"/>
          </a:solidFill>
          <a:ln/>
        </p:spPr>
      </p:sp>
      <p:sp>
        <p:nvSpPr>
          <p:cNvPr id="27" name="Text 25"/>
          <p:cNvSpPr/>
          <p:nvPr/>
        </p:nvSpPr>
        <p:spPr>
          <a:xfrm>
            <a:off x="1463040" y="5586984"/>
            <a:ext cx="4023360" cy="347472"/>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Years with the bank as a share of adult life</a:t>
            </a:r>
            <a:endParaRPr lang="en-US" sz="1250" dirty="0"/>
          </a:p>
        </p:txBody>
      </p:sp>
      <p:sp>
        <p:nvSpPr>
          <p:cNvPr id="28" name="Text 26"/>
          <p:cNvSpPr/>
          <p:nvPr/>
        </p:nvSpPr>
        <p:spPr>
          <a:xfrm>
            <a:off x="5577840" y="5586984"/>
            <a:ext cx="5577840" cy="457200"/>
          </a:xfrm>
          <a:prstGeom prst="rect">
            <a:avLst/>
          </a:prstGeom>
          <a:noFill/>
          <a:ln/>
        </p:spPr>
        <p:txBody>
          <a:bodyPr wrap="square" lIns="0" tIns="0" rIns="0" bIns="0" rtlCol="0" anchor="ctr"/>
          <a:lstStyle/>
          <a:p>
            <a:pPr indent="0" marL="0">
              <a:lnSpc>
                <a:spcPts val="1500"/>
              </a:lnSpc>
              <a:buNone/>
            </a:pPr>
            <a:r>
              <a:rPr lang="en-US" sz="1200" dirty="0">
                <a:solidFill>
                  <a:srgbClr val="4A5163"/>
                </a:solidFill>
                <a:latin typeface="Calibri" pitchFamily="34" charset="0"/>
                <a:ea typeface="Calibri" pitchFamily="34" charset="-122"/>
                <a:cs typeface="Calibri" pitchFamily="34" charset="-120"/>
              </a:rPr>
              <a:t>24.2, 21.0, 20.0, 16.1, 18.6 — it rises again at the end. Plain loyalty falls cleanly 25.2 to 13.5, so the ratio was worse than the column we already had.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09</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The thing no single column could say</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Some effects only appear when two things are true at once</a:t>
            </a:r>
            <a:endParaRPr lang="en-US" sz="1500" dirty="0"/>
          </a:p>
        </p:txBody>
      </p:sp>
      <p:sp>
        <p:nvSpPr>
          <p:cNvPr id="6" name="Shape 4"/>
          <p:cNvSpPr/>
          <p:nvPr/>
        </p:nvSpPr>
        <p:spPr>
          <a:xfrm>
            <a:off x="685800" y="1600200"/>
            <a:ext cx="6766560" cy="2377440"/>
          </a:xfrm>
          <a:prstGeom prst="roundRect">
            <a:avLst>
              <a:gd name="adj" fmla="val 3077"/>
            </a:avLst>
          </a:prstGeom>
          <a:solidFill>
            <a:srgbClr val="F4F6FB"/>
          </a:solidFill>
          <a:ln w="12700">
            <a:solidFill>
              <a:srgbClr val="F4F6FB"/>
            </a:solidFill>
            <a:prstDash val="solid"/>
          </a:ln>
        </p:spPr>
      </p:sp>
      <p:sp>
        <p:nvSpPr>
          <p:cNvPr id="7" name="Text 5"/>
          <p:cNvSpPr/>
          <p:nvPr/>
        </p:nvSpPr>
        <p:spPr>
          <a:xfrm>
            <a:off x="1005840" y="1783080"/>
            <a:ext cx="6126480" cy="320040"/>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Missed a loan payment, and spending falling</a:t>
            </a:r>
            <a:endParaRPr lang="en-US" sz="1700" dirty="0"/>
          </a:p>
        </p:txBody>
      </p:sp>
      <p:sp>
        <p:nvSpPr>
          <p:cNvPr id="8" name="Text 6"/>
          <p:cNvSpPr/>
          <p:nvPr/>
        </p:nvSpPr>
        <p:spPr>
          <a:xfrm>
            <a:off x="3931920" y="2176272"/>
            <a:ext cx="1737360" cy="274320"/>
          </a:xfrm>
          <a:prstGeom prst="rect">
            <a:avLst/>
          </a:prstGeom>
          <a:noFill/>
          <a:ln/>
        </p:spPr>
        <p:txBody>
          <a:bodyPr wrap="square" lIns="0" tIns="0" rIns="0" bIns="0" rtlCol="0" anchor="ctr"/>
          <a:lstStyle/>
          <a:p>
            <a:pPr algn="ctr" indent="0" marL="0">
              <a:buNone/>
            </a:pPr>
            <a:r>
              <a:rPr lang="en-US" sz="1150" b="1" dirty="0">
                <a:solidFill>
                  <a:srgbClr val="8891A4"/>
                </a:solidFill>
                <a:latin typeface="Calibri" pitchFamily="34" charset="0"/>
                <a:ea typeface="Calibri" pitchFamily="34" charset="-122"/>
                <a:cs typeface="Calibri" pitchFamily="34" charset="-120"/>
              </a:rPr>
              <a:t>Spending steady</a:t>
            </a:r>
            <a:endParaRPr lang="en-US" sz="1150" dirty="0"/>
          </a:p>
        </p:txBody>
      </p:sp>
      <p:sp>
        <p:nvSpPr>
          <p:cNvPr id="9" name="Text 7"/>
          <p:cNvSpPr/>
          <p:nvPr/>
        </p:nvSpPr>
        <p:spPr>
          <a:xfrm>
            <a:off x="5760720" y="2176272"/>
            <a:ext cx="1737360" cy="274320"/>
          </a:xfrm>
          <a:prstGeom prst="rect">
            <a:avLst/>
          </a:prstGeom>
          <a:noFill/>
          <a:ln/>
        </p:spPr>
        <p:txBody>
          <a:bodyPr wrap="square" lIns="0" tIns="0" rIns="0" bIns="0" rtlCol="0" anchor="ctr"/>
          <a:lstStyle/>
          <a:p>
            <a:pPr algn="ctr" indent="0" marL="0">
              <a:buNone/>
            </a:pPr>
            <a:r>
              <a:rPr lang="en-US" sz="1150" b="1" dirty="0">
                <a:solidFill>
                  <a:srgbClr val="8891A4"/>
                </a:solidFill>
                <a:latin typeface="Calibri" pitchFamily="34" charset="0"/>
                <a:ea typeface="Calibri" pitchFamily="34" charset="-122"/>
                <a:cs typeface="Calibri" pitchFamily="34" charset="-120"/>
              </a:rPr>
              <a:t>Spending falling</a:t>
            </a:r>
            <a:endParaRPr lang="en-US" sz="1150" dirty="0"/>
          </a:p>
        </p:txBody>
      </p:sp>
      <p:sp>
        <p:nvSpPr>
          <p:cNvPr id="10" name="Text 8"/>
          <p:cNvSpPr/>
          <p:nvPr/>
        </p:nvSpPr>
        <p:spPr>
          <a:xfrm>
            <a:off x="1005840" y="2487168"/>
            <a:ext cx="2834640" cy="548640"/>
          </a:xfrm>
          <a:prstGeom prst="rect">
            <a:avLst/>
          </a:prstGeom>
          <a:noFill/>
          <a:ln/>
        </p:spPr>
        <p:txBody>
          <a:bodyPr wrap="square" lIns="0" tIns="0" rIns="0" bIns="0" rtlCol="0" anchor="ctr"/>
          <a:lstStyle/>
          <a:p>
            <a:pPr indent="0" marL="0">
              <a:buNone/>
            </a:pPr>
            <a:r>
              <a:rPr lang="en-US" sz="1350" dirty="0">
                <a:solidFill>
                  <a:srgbClr val="1B1F2A"/>
                </a:solidFill>
                <a:latin typeface="Calibri" pitchFamily="34" charset="0"/>
                <a:ea typeface="Calibri" pitchFamily="34" charset="-122"/>
                <a:cs typeface="Calibri" pitchFamily="34" charset="-120"/>
              </a:rPr>
              <a:t>Never missed a payment</a:t>
            </a:r>
            <a:endParaRPr lang="en-US" sz="1350" dirty="0"/>
          </a:p>
        </p:txBody>
      </p:sp>
      <p:sp>
        <p:nvSpPr>
          <p:cNvPr id="11" name="Text 9"/>
          <p:cNvSpPr/>
          <p:nvPr/>
        </p:nvSpPr>
        <p:spPr>
          <a:xfrm>
            <a:off x="3931920" y="2487168"/>
            <a:ext cx="1737360" cy="548640"/>
          </a:xfrm>
          <a:prstGeom prst="rect">
            <a:avLst/>
          </a:prstGeom>
          <a:noFill/>
          <a:ln/>
        </p:spPr>
        <p:txBody>
          <a:bodyPr wrap="square" lIns="0" tIns="0" rIns="0" bIns="0" rtlCol="0" anchor="ctr"/>
          <a:lstStyle/>
          <a:p>
            <a:pPr algn="ctr" indent="0" marL="0">
              <a:buNone/>
            </a:pPr>
            <a:r>
              <a:rPr lang="en-US" sz="2400" b="1" dirty="0">
                <a:solidFill>
                  <a:srgbClr val="8891A4"/>
                </a:solidFill>
                <a:latin typeface="Cambria" pitchFamily="34" charset="0"/>
                <a:ea typeface="Cambria" pitchFamily="34" charset="-122"/>
                <a:cs typeface="Cambria" pitchFamily="34" charset="-120"/>
              </a:rPr>
              <a:t>8</a:t>
            </a:r>
            <a:endParaRPr lang="en-US" sz="2400" dirty="0"/>
          </a:p>
        </p:txBody>
      </p:sp>
      <p:sp>
        <p:nvSpPr>
          <p:cNvPr id="12" name="Text 10"/>
          <p:cNvSpPr/>
          <p:nvPr/>
        </p:nvSpPr>
        <p:spPr>
          <a:xfrm>
            <a:off x="5760720" y="2487168"/>
            <a:ext cx="1737360" cy="548640"/>
          </a:xfrm>
          <a:prstGeom prst="rect">
            <a:avLst/>
          </a:prstGeom>
          <a:noFill/>
          <a:ln/>
        </p:spPr>
        <p:txBody>
          <a:bodyPr wrap="square" lIns="0" tIns="0" rIns="0" bIns="0" rtlCol="0" anchor="ctr"/>
          <a:lstStyle/>
          <a:p>
            <a:pPr algn="ctr" indent="0" marL="0">
              <a:buNone/>
            </a:pPr>
            <a:r>
              <a:rPr lang="en-US" sz="2400" b="1" dirty="0">
                <a:solidFill>
                  <a:srgbClr val="4A5163"/>
                </a:solidFill>
                <a:latin typeface="Cambria" pitchFamily="34" charset="0"/>
                <a:ea typeface="Cambria" pitchFamily="34" charset="-122"/>
                <a:cs typeface="Cambria" pitchFamily="34" charset="-120"/>
              </a:rPr>
              <a:t>31</a:t>
            </a:r>
            <a:endParaRPr lang="en-US" sz="2400" dirty="0"/>
          </a:p>
        </p:txBody>
      </p:sp>
      <p:sp>
        <p:nvSpPr>
          <p:cNvPr id="13" name="Text 11"/>
          <p:cNvSpPr/>
          <p:nvPr/>
        </p:nvSpPr>
        <p:spPr>
          <a:xfrm>
            <a:off x="1005840" y="3127248"/>
            <a:ext cx="2834640" cy="548640"/>
          </a:xfrm>
          <a:prstGeom prst="rect">
            <a:avLst/>
          </a:prstGeom>
          <a:noFill/>
          <a:ln/>
        </p:spPr>
        <p:txBody>
          <a:bodyPr wrap="square" lIns="0" tIns="0" rIns="0" bIns="0" rtlCol="0" anchor="ctr"/>
          <a:lstStyle/>
          <a:p>
            <a:pPr indent="0" marL="0">
              <a:buNone/>
            </a:pPr>
            <a:r>
              <a:rPr lang="en-US" sz="1350" dirty="0">
                <a:solidFill>
                  <a:srgbClr val="1B1F2A"/>
                </a:solidFill>
                <a:latin typeface="Calibri" pitchFamily="34" charset="0"/>
                <a:ea typeface="Calibri" pitchFamily="34" charset="-122"/>
                <a:cs typeface="Calibri" pitchFamily="34" charset="-120"/>
              </a:rPr>
              <a:t>Has missed one</a:t>
            </a:r>
            <a:endParaRPr lang="en-US" sz="1350" dirty="0"/>
          </a:p>
        </p:txBody>
      </p:sp>
      <p:sp>
        <p:nvSpPr>
          <p:cNvPr id="14" name="Text 12"/>
          <p:cNvSpPr/>
          <p:nvPr/>
        </p:nvSpPr>
        <p:spPr>
          <a:xfrm>
            <a:off x="3931920" y="3127248"/>
            <a:ext cx="1737360" cy="548640"/>
          </a:xfrm>
          <a:prstGeom prst="rect">
            <a:avLst/>
          </a:prstGeom>
          <a:noFill/>
          <a:ln/>
        </p:spPr>
        <p:txBody>
          <a:bodyPr wrap="square" lIns="0" tIns="0" rIns="0" bIns="0" rtlCol="0" anchor="ctr"/>
          <a:lstStyle/>
          <a:p>
            <a:pPr algn="ctr" indent="0" marL="0">
              <a:buNone/>
            </a:pPr>
            <a:r>
              <a:rPr lang="en-US" sz="2400" b="1" dirty="0">
                <a:solidFill>
                  <a:srgbClr val="8891A4"/>
                </a:solidFill>
                <a:latin typeface="Cambria" pitchFamily="34" charset="0"/>
                <a:ea typeface="Cambria" pitchFamily="34" charset="-122"/>
                <a:cs typeface="Cambria" pitchFamily="34" charset="-120"/>
              </a:rPr>
              <a:t>14</a:t>
            </a:r>
            <a:endParaRPr lang="en-US" sz="2400" dirty="0"/>
          </a:p>
        </p:txBody>
      </p:sp>
      <p:sp>
        <p:nvSpPr>
          <p:cNvPr id="15" name="Text 13"/>
          <p:cNvSpPr/>
          <p:nvPr/>
        </p:nvSpPr>
        <p:spPr>
          <a:xfrm>
            <a:off x="5760720" y="3127248"/>
            <a:ext cx="1737360" cy="548640"/>
          </a:xfrm>
          <a:prstGeom prst="rect">
            <a:avLst/>
          </a:prstGeom>
          <a:noFill/>
          <a:ln/>
        </p:spPr>
        <p:txBody>
          <a:bodyPr wrap="square" lIns="0" tIns="0" rIns="0" bIns="0" rtlCol="0" anchor="ctr"/>
          <a:lstStyle/>
          <a:p>
            <a:pPr algn="ctr" indent="0" marL="0">
              <a:buNone/>
            </a:pPr>
            <a:r>
              <a:rPr lang="en-US" sz="2400" b="1" dirty="0">
                <a:solidFill>
                  <a:srgbClr val="C0453F"/>
                </a:solidFill>
                <a:latin typeface="Cambria" pitchFamily="34" charset="0"/>
                <a:ea typeface="Cambria" pitchFamily="34" charset="-122"/>
                <a:cs typeface="Cambria" pitchFamily="34" charset="-120"/>
              </a:rPr>
              <a:t>52</a:t>
            </a:r>
            <a:endParaRPr lang="en-US" sz="2400" dirty="0"/>
          </a:p>
        </p:txBody>
      </p:sp>
      <p:sp>
        <p:nvSpPr>
          <p:cNvPr id="16" name="Text 14"/>
          <p:cNvSpPr/>
          <p:nvPr/>
        </p:nvSpPr>
        <p:spPr>
          <a:xfrm>
            <a:off x="1005840" y="3703320"/>
            <a:ext cx="6126480" cy="274320"/>
          </a:xfrm>
          <a:prstGeom prst="rect">
            <a:avLst/>
          </a:prstGeom>
          <a:noFill/>
          <a:ln/>
        </p:spPr>
        <p:txBody>
          <a:bodyPr wrap="square" lIns="0" tIns="0" rIns="0" bIns="0"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Neither fact on its own explains that corner of 52.</a:t>
            </a:r>
            <a:endParaRPr lang="en-US" sz="1250" dirty="0"/>
          </a:p>
        </p:txBody>
      </p:sp>
      <p:sp>
        <p:nvSpPr>
          <p:cNvPr id="17" name="Shape 15"/>
          <p:cNvSpPr/>
          <p:nvPr/>
        </p:nvSpPr>
        <p:spPr>
          <a:xfrm>
            <a:off x="7680960" y="1600200"/>
            <a:ext cx="3794760" cy="2377440"/>
          </a:xfrm>
          <a:prstGeom prst="roundRect">
            <a:avLst>
              <a:gd name="adj" fmla="val 3077"/>
            </a:avLst>
          </a:prstGeom>
          <a:solidFill>
            <a:srgbClr val="1E2761"/>
          </a:solidFill>
          <a:ln w="12700">
            <a:solidFill>
              <a:srgbClr val="1E2761"/>
            </a:solidFill>
            <a:prstDash val="solid"/>
          </a:ln>
        </p:spPr>
      </p:sp>
      <p:sp>
        <p:nvSpPr>
          <p:cNvPr id="18" name="Text 16"/>
          <p:cNvSpPr/>
          <p:nvPr/>
        </p:nvSpPr>
        <p:spPr>
          <a:xfrm>
            <a:off x="8001000" y="1783080"/>
            <a:ext cx="3200400" cy="320040"/>
          </a:xfrm>
          <a:prstGeom prst="rect">
            <a:avLst/>
          </a:prstGeom>
          <a:noFill/>
          <a:ln/>
        </p:spPr>
        <p:txBody>
          <a:bodyPr wrap="square" lIns="0" tIns="0" rIns="0" bIns="0" rtlCol="0" anchor="ctr"/>
          <a:lstStyle/>
          <a:p>
            <a:pPr indent="0" marL="0">
              <a:buNone/>
            </a:pPr>
            <a:r>
              <a:rPr lang="en-US" sz="1700" b="1" dirty="0">
                <a:solidFill>
                  <a:srgbClr val="E39A00"/>
                </a:solidFill>
                <a:latin typeface="Cambria" pitchFamily="34" charset="0"/>
                <a:ea typeface="Cambria" pitchFamily="34" charset="-122"/>
                <a:cs typeface="Cambria" pitchFamily="34" charset="-120"/>
              </a:rPr>
              <a:t>Why this mattered</a:t>
            </a:r>
            <a:endParaRPr lang="en-US" sz="1700" dirty="0"/>
          </a:p>
        </p:txBody>
      </p:sp>
      <p:sp>
        <p:nvSpPr>
          <p:cNvPr id="19" name="Text 17"/>
          <p:cNvSpPr/>
          <p:nvPr/>
        </p:nvSpPr>
        <p:spPr>
          <a:xfrm>
            <a:off x="8001000" y="2148840"/>
            <a:ext cx="3200400" cy="1691640"/>
          </a:xfrm>
          <a:prstGeom prst="rect">
            <a:avLst/>
          </a:prstGeom>
          <a:noFill/>
          <a:ln/>
        </p:spPr>
        <p:txBody>
          <a:bodyPr wrap="square" lIns="0" tIns="0" rIns="0" bIns="0" rtlCol="0" anchor="ctr"/>
          <a:lstStyle/>
          <a:p>
            <a:pPr indent="0" marL="0">
              <a:lnSpc>
                <a:spcPts val="1800"/>
              </a:lnSpc>
              <a:buNone/>
            </a:pPr>
            <a:r>
              <a:rPr lang="en-US" sz="1300" dirty="0">
                <a:solidFill>
                  <a:srgbClr val="C3CCE4"/>
                </a:solidFill>
                <a:latin typeface="Calibri" pitchFamily="34" charset="0"/>
                <a:ea typeface="Calibri" pitchFamily="34" charset="-122"/>
                <a:cs typeface="Calibri" pitchFamily="34" charset="-120"/>
              </a:rPr>
              <a:t>A straight-line model adds columns together. It can never multiply two of them, so it is blind to every corner like this one.</a:t>
            </a:r>
            <a:endParaRPr lang="en-US" sz="1300" dirty="0"/>
          </a:p>
          <a:p>
            <a:pPr indent="0" marL="0">
              <a:lnSpc>
                <a:spcPts val="1800"/>
              </a:lnSpc>
              <a:buNone/>
            </a:pPr>
            <a:endParaRPr lang="en-US" sz="1300" dirty="0"/>
          </a:p>
          <a:p>
            <a:pPr indent="0" marL="0">
              <a:lnSpc>
                <a:spcPts val="1800"/>
              </a:lnSpc>
              <a:buNone/>
            </a:pPr>
            <a:r>
              <a:rPr lang="en-US" sz="1300" dirty="0">
                <a:solidFill>
                  <a:srgbClr val="C3CCE4"/>
                </a:solidFill>
                <a:latin typeface="Calibri" pitchFamily="34" charset="0"/>
                <a:ea typeface="Calibri" pitchFamily="34" charset="-122"/>
                <a:cs typeface="Calibri" pitchFamily="34" charset="-120"/>
              </a:rPr>
              <a:t>So we handed the combinations over directly — eleven new columns, each pairing the spending trend with another fact.</a:t>
            </a:r>
            <a:endParaRPr lang="en-US" sz="1300" dirty="0"/>
          </a:p>
        </p:txBody>
      </p:sp>
      <p:sp>
        <p:nvSpPr>
          <p:cNvPr id="20" name="Shape 18"/>
          <p:cNvSpPr/>
          <p:nvPr/>
        </p:nvSpPr>
        <p:spPr>
          <a:xfrm>
            <a:off x="685800" y="4160520"/>
            <a:ext cx="10789920" cy="1920240"/>
          </a:xfrm>
          <a:prstGeom prst="roundRect">
            <a:avLst>
              <a:gd name="adj" fmla="val 3810"/>
            </a:avLst>
          </a:prstGeom>
          <a:solidFill>
            <a:srgbClr val="F4F6FB"/>
          </a:solidFill>
          <a:ln w="12700">
            <a:solidFill>
              <a:srgbClr val="F4F6FB"/>
            </a:solidFill>
            <a:prstDash val="solid"/>
          </a:ln>
        </p:spPr>
      </p:sp>
      <p:sp>
        <p:nvSpPr>
          <p:cNvPr id="21" name="Text 19"/>
          <p:cNvSpPr/>
          <p:nvPr/>
        </p:nvSpPr>
        <p:spPr>
          <a:xfrm>
            <a:off x="1005840" y="4315968"/>
            <a:ext cx="10149840" cy="292608"/>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The eleventh pairing was the newest idea in the project</a:t>
            </a:r>
            <a:endParaRPr lang="en-US" sz="1700" dirty="0"/>
          </a:p>
        </p:txBody>
      </p:sp>
      <p:sp>
        <p:nvSpPr>
          <p:cNvPr id="22" name="Text 20"/>
          <p:cNvSpPr/>
          <p:nvPr/>
        </p:nvSpPr>
        <p:spPr>
          <a:xfrm>
            <a:off x="1005840" y="4645152"/>
            <a:ext cx="10149840" cy="457200"/>
          </a:xfrm>
          <a:prstGeom prst="rect">
            <a:avLst/>
          </a:prstGeom>
          <a:noFill/>
          <a:ln/>
        </p:spPr>
        <p:txBody>
          <a:bodyPr wrap="square" lIns="0" tIns="0" rIns="0" bIns="0" rtlCol="0" anchor="ctr"/>
          <a:lstStyle/>
          <a:p>
            <a:pPr indent="0" marL="0">
              <a:lnSpc>
                <a:spcPts val="1800"/>
              </a:lnSpc>
              <a:buNone/>
            </a:pPr>
            <a:r>
              <a:rPr lang="en-US" sz="1350" dirty="0">
                <a:solidFill>
                  <a:srgbClr val="4A5163"/>
                </a:solidFill>
                <a:latin typeface="Calibri" pitchFamily="34" charset="0"/>
                <a:ea typeface="Calibri" pitchFamily="34" charset="-122"/>
                <a:cs typeface="Calibri" pitchFamily="34" charset="-120"/>
              </a:rPr>
              <a:t>How often a customer borrows from us was the one column nothing had used. On its own it is weak. Crossed with the spending trend it earns its place — out of 100 customers:</a:t>
            </a:r>
            <a:endParaRPr lang="en-US" sz="1350" dirty="0"/>
          </a:p>
        </p:txBody>
      </p:sp>
      <p:sp>
        <p:nvSpPr>
          <p:cNvPr id="23" name="Text 21"/>
          <p:cNvSpPr/>
          <p:nvPr/>
        </p:nvSpPr>
        <p:spPr>
          <a:xfrm>
            <a:off x="1005840" y="5138928"/>
            <a:ext cx="1014984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spending steady, borrows rarely  6.8   ·   borrows often  5.5          spending falling, borrows rarely  29.0   ·   borrows often  37.7</a:t>
            </a:r>
            <a:endParaRPr lang="en-US" sz="1350" dirty="0"/>
          </a:p>
        </p:txBody>
      </p:sp>
      <p:sp>
        <p:nvSpPr>
          <p:cNvPr id="24" name="Text 22"/>
          <p:cNvSpPr/>
          <p:nvPr/>
        </p:nvSpPr>
        <p:spPr>
          <a:xfrm>
            <a:off x="1005840" y="5486400"/>
            <a:ext cx="10149840" cy="457200"/>
          </a:xfrm>
          <a:prstGeom prst="rect">
            <a:avLst/>
          </a:prstGeom>
          <a:noFill/>
          <a:ln/>
        </p:spPr>
        <p:txBody>
          <a:bodyPr wrap="square" lIns="0" tIns="0" rIns="0" bIns="0" rtlCol="0" anchor="ctr"/>
          <a:lstStyle/>
          <a:p>
            <a:pPr indent="0" marL="0">
              <a:lnSpc>
                <a:spcPts val="1700"/>
              </a:lnSpc>
              <a:buNone/>
            </a:pPr>
            <a:r>
              <a:rPr lang="en-US" sz="1300" i="1" dirty="0">
                <a:solidFill>
                  <a:srgbClr val="8891A4"/>
                </a:solidFill>
                <a:latin typeface="Calibri" pitchFamily="34" charset="0"/>
                <a:ea typeface="Calibri" pitchFamily="34" charset="-122"/>
                <a:cs typeface="Calibri" pitchFamily="34" charset="-120"/>
              </a:rPr>
              <a:t>Steady spending — borrowing changes nothing. Falling spending — it moves the rate by nearly nine points. That is what an interaction means, and it is the last thing Chapter One produced.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2148840"/>
            <a:ext cx="1371600" cy="1371600"/>
          </a:xfrm>
          <a:prstGeom prst="ellipse">
            <a:avLst/>
          </a:prstGeom>
          <a:solidFill>
            <a:srgbClr val="E39A00"/>
          </a:solidFill>
          <a:ln/>
        </p:spPr>
      </p:sp>
      <p:sp>
        <p:nvSpPr>
          <p:cNvPr id="3" name="Text 1"/>
          <p:cNvSpPr/>
          <p:nvPr/>
        </p:nvSpPr>
        <p:spPr>
          <a:xfrm>
            <a:off x="822960" y="2148840"/>
            <a:ext cx="1371600" cy="13716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2651760" y="2148840"/>
            <a:ext cx="8686800" cy="365760"/>
          </a:xfrm>
          <a:prstGeom prst="rect">
            <a:avLst/>
          </a:prstGeom>
          <a:noFill/>
          <a:ln/>
        </p:spPr>
        <p:txBody>
          <a:bodyPr wrap="square" lIns="0" tIns="0" rIns="0" bIns="0" rtlCol="0" anchor="ctr"/>
          <a:lstStyle/>
          <a:p>
            <a:pPr indent="0" marL="0">
              <a:buNone/>
            </a:pPr>
            <a:r>
              <a:rPr lang="en-US" sz="1400" b="1" spc="300" kern="0" dirty="0">
                <a:solidFill>
                  <a:srgbClr val="E39A00"/>
                </a:solidFill>
                <a:latin typeface="Calibri" pitchFamily="34" charset="0"/>
                <a:ea typeface="Calibri" pitchFamily="34" charset="-122"/>
                <a:cs typeface="Calibri" pitchFamily="34" charset="-120"/>
              </a:rPr>
              <a:t>CHAPTER TWO</a:t>
            </a:r>
            <a:endParaRPr lang="en-US" sz="1400" dirty="0"/>
          </a:p>
        </p:txBody>
      </p:sp>
      <p:sp>
        <p:nvSpPr>
          <p:cNvPr id="5" name="Text 3"/>
          <p:cNvSpPr/>
          <p:nvPr/>
        </p:nvSpPr>
        <p:spPr>
          <a:xfrm>
            <a:off x="2651760" y="2560320"/>
            <a:ext cx="86868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Building the model</a:t>
            </a:r>
            <a:endParaRPr lang="en-US" sz="4000" dirty="0"/>
          </a:p>
        </p:txBody>
      </p:sp>
      <p:sp>
        <p:nvSpPr>
          <p:cNvPr id="6" name="Text 4"/>
          <p:cNvSpPr/>
          <p:nvPr/>
        </p:nvSpPr>
        <p:spPr>
          <a:xfrm>
            <a:off x="2651760" y="3520440"/>
            <a:ext cx="8046720" cy="822960"/>
          </a:xfrm>
          <a:prstGeom prst="rect">
            <a:avLst/>
          </a:prstGeom>
          <a:noFill/>
          <a:ln/>
        </p:spPr>
        <p:txBody>
          <a:bodyPr wrap="square" lIns="0" tIns="0" rIns="0" bIns="0" rtlCol="0" anchor="ctr"/>
          <a:lstStyle/>
          <a:p>
            <a:pPr indent="0" marL="0">
              <a:lnSpc>
                <a:spcPts val="2400"/>
              </a:lnSpc>
              <a:buNone/>
            </a:pPr>
            <a:r>
              <a:rPr lang="en-US" sz="1600" dirty="0">
                <a:solidFill>
                  <a:srgbClr val="C3CCE4"/>
                </a:solidFill>
                <a:latin typeface="Calibri" pitchFamily="34" charset="0"/>
                <a:ea typeface="Calibri" pitchFamily="34" charset="-122"/>
                <a:cs typeface="Calibri" pitchFamily="34" charset="-120"/>
              </a:rPr>
              <a:t>Thirteen slides of testing. Almost none of it worked — and demonstrating that is the entire point of this chapter.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How every number in this chapter was measured</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Fixed before anything was run, so the goalposts could not move</a:t>
            </a:r>
            <a:endParaRPr lang="en-US" sz="1500" dirty="0"/>
          </a:p>
        </p:txBody>
      </p:sp>
      <p:sp>
        <p:nvSpPr>
          <p:cNvPr id="6" name="Shape 4"/>
          <p:cNvSpPr/>
          <p:nvPr/>
        </p:nvSpPr>
        <p:spPr>
          <a:xfrm>
            <a:off x="685800" y="1554480"/>
            <a:ext cx="3429000" cy="2331720"/>
          </a:xfrm>
          <a:prstGeom prst="roundRect">
            <a:avLst>
              <a:gd name="adj" fmla="val 3137"/>
            </a:avLst>
          </a:prstGeom>
          <a:solidFill>
            <a:srgbClr val="F4F6FB"/>
          </a:solidFill>
          <a:ln w="12700">
            <a:solidFill>
              <a:srgbClr val="F4F6FB"/>
            </a:solidFill>
            <a:prstDash val="solid"/>
          </a:ln>
        </p:spPr>
      </p:sp>
      <p:sp>
        <p:nvSpPr>
          <p:cNvPr id="7" name="Text 5"/>
          <p:cNvSpPr/>
          <p:nvPr/>
        </p:nvSpPr>
        <p:spPr>
          <a:xfrm>
            <a:off x="960120" y="1737360"/>
            <a:ext cx="2880360" cy="292608"/>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Cross-validation</a:t>
            </a:r>
            <a:endParaRPr lang="en-US" sz="1700" dirty="0"/>
          </a:p>
        </p:txBody>
      </p:sp>
      <p:sp>
        <p:nvSpPr>
          <p:cNvPr id="8" name="Text 6"/>
          <p:cNvSpPr/>
          <p:nvPr/>
        </p:nvSpPr>
        <p:spPr>
          <a:xfrm>
            <a:off x="960120" y="2084832"/>
            <a:ext cx="2880360" cy="1645920"/>
          </a:xfrm>
          <a:prstGeom prst="rect">
            <a:avLst/>
          </a:prstGeom>
          <a:noFill/>
          <a:ln/>
        </p:spPr>
        <p:txBody>
          <a:bodyPr wrap="square" lIns="0" tIns="0" rIns="0" bIns="0" rtlCol="0" anchor="ctr"/>
          <a:lstStyle/>
          <a:p>
            <a:pPr indent="0" marL="0">
              <a:lnSpc>
                <a:spcPts val="1800"/>
              </a:lnSpc>
              <a:buNone/>
            </a:pPr>
            <a:r>
              <a:rPr lang="en-US" sz="1300" dirty="0">
                <a:solidFill>
                  <a:srgbClr val="4A5163"/>
                </a:solidFill>
                <a:latin typeface="Calibri" pitchFamily="34" charset="0"/>
                <a:ea typeface="Calibri" pitchFamily="34" charset="-122"/>
                <a:cs typeface="Calibri" pitchFamily="34" charset="-120"/>
              </a:rPr>
              <a:t>Split the 8,500 customers into five groups. Train on four, predict the fifth. Five times over, so every customer gets a prediction from a model that never saw them.</a:t>
            </a:r>
            <a:endParaRPr lang="en-US" sz="1300" dirty="0"/>
          </a:p>
        </p:txBody>
      </p:sp>
      <p:sp>
        <p:nvSpPr>
          <p:cNvPr id="9" name="Shape 7"/>
          <p:cNvSpPr/>
          <p:nvPr/>
        </p:nvSpPr>
        <p:spPr>
          <a:xfrm>
            <a:off x="4370832" y="1554480"/>
            <a:ext cx="3429000" cy="2331720"/>
          </a:xfrm>
          <a:prstGeom prst="roundRect">
            <a:avLst>
              <a:gd name="adj" fmla="val 3137"/>
            </a:avLst>
          </a:prstGeom>
          <a:solidFill>
            <a:srgbClr val="F4F6FB"/>
          </a:solidFill>
          <a:ln w="12700">
            <a:solidFill>
              <a:srgbClr val="F4F6FB"/>
            </a:solidFill>
            <a:prstDash val="solid"/>
          </a:ln>
        </p:spPr>
      </p:sp>
      <p:sp>
        <p:nvSpPr>
          <p:cNvPr id="10" name="Text 8"/>
          <p:cNvSpPr/>
          <p:nvPr/>
        </p:nvSpPr>
        <p:spPr>
          <a:xfrm>
            <a:off x="4645152" y="1737360"/>
            <a:ext cx="2880360" cy="292608"/>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Two measurements</a:t>
            </a:r>
            <a:endParaRPr lang="en-US" sz="1700" dirty="0"/>
          </a:p>
        </p:txBody>
      </p:sp>
      <p:sp>
        <p:nvSpPr>
          <p:cNvPr id="11" name="Text 9"/>
          <p:cNvSpPr/>
          <p:nvPr/>
        </p:nvSpPr>
        <p:spPr>
          <a:xfrm>
            <a:off x="4645152" y="2084832"/>
            <a:ext cx="2880360" cy="1691640"/>
          </a:xfrm>
          <a:prstGeom prst="rect">
            <a:avLst/>
          </a:prstGeom>
          <a:noFill/>
          <a:ln/>
        </p:spPr>
        <p:txBody>
          <a:bodyPr wrap="square" lIns="0" tIns="0" rIns="0" bIns="0" rtlCol="0" anchor="ctr"/>
          <a:lstStyle/>
          <a:p>
            <a:pPr indent="0" marL="0">
              <a:lnSpc>
                <a:spcPts val="1800"/>
              </a:lnSpc>
              <a:buNone/>
            </a:pPr>
            <a:r>
              <a:rPr lang="en-US" sz="1300" dirty="0">
                <a:solidFill>
                  <a:srgbClr val="4A5163"/>
                </a:solidFill>
                <a:latin typeface="Calibri" pitchFamily="34" charset="0"/>
                <a:ea typeface="Calibri" pitchFamily="34" charset="-122"/>
                <a:cs typeface="Calibri" pitchFamily="34" charset="-120"/>
              </a:rPr>
              <a:t>AUC: take one leaver and one stayer at random — how often does the model rank the leaver as riskier?</a:t>
            </a:r>
            <a:endParaRPr lang="en-US" sz="1300" dirty="0"/>
          </a:p>
          <a:p>
            <a:pPr indent="0" marL="0">
              <a:lnSpc>
                <a:spcPts val="1800"/>
              </a:lnSpc>
              <a:buNone/>
            </a:pPr>
            <a:endParaRPr lang="en-US" sz="1300" dirty="0"/>
          </a:p>
          <a:p>
            <a:pPr indent="0" marL="0">
              <a:lnSpc>
                <a:spcPts val="1800"/>
              </a:lnSpc>
              <a:buNone/>
            </a:pPr>
            <a:r>
              <a:rPr lang="en-US" sz="1300" dirty="0">
                <a:solidFill>
                  <a:srgbClr val="4A5163"/>
                </a:solidFill>
                <a:latin typeface="Calibri" pitchFamily="34" charset="0"/>
                <a:ea typeface="Calibri" pitchFamily="34" charset="-122"/>
                <a:cs typeface="Calibri" pitchFamily="34" charset="-120"/>
              </a:rPr>
              <a:t>F1: of those we flag, how many leave — and of those who leave, how many did we flag?</a:t>
            </a:r>
            <a:endParaRPr lang="en-US" sz="1300" dirty="0"/>
          </a:p>
        </p:txBody>
      </p:sp>
      <p:sp>
        <p:nvSpPr>
          <p:cNvPr id="12" name="Shape 10"/>
          <p:cNvSpPr/>
          <p:nvPr/>
        </p:nvSpPr>
        <p:spPr>
          <a:xfrm>
            <a:off x="8046720" y="1554480"/>
            <a:ext cx="3429000" cy="2331720"/>
          </a:xfrm>
          <a:prstGeom prst="roundRect">
            <a:avLst>
              <a:gd name="adj" fmla="val 3137"/>
            </a:avLst>
          </a:prstGeom>
          <a:solidFill>
            <a:srgbClr val="1E2761"/>
          </a:solidFill>
          <a:ln w="12700">
            <a:solidFill>
              <a:srgbClr val="1E2761"/>
            </a:solidFill>
            <a:prstDash val="solid"/>
          </a:ln>
        </p:spPr>
      </p:sp>
      <p:sp>
        <p:nvSpPr>
          <p:cNvPr id="13" name="Text 11"/>
          <p:cNvSpPr/>
          <p:nvPr/>
        </p:nvSpPr>
        <p:spPr>
          <a:xfrm>
            <a:off x="8321040" y="1737360"/>
            <a:ext cx="2880360" cy="292608"/>
          </a:xfrm>
          <a:prstGeom prst="rect">
            <a:avLst/>
          </a:prstGeom>
          <a:noFill/>
          <a:ln/>
        </p:spPr>
        <p:txBody>
          <a:bodyPr wrap="square" lIns="0" tIns="0" rIns="0" bIns="0" rtlCol="0" anchor="ctr"/>
          <a:lstStyle/>
          <a:p>
            <a:pPr indent="0" marL="0">
              <a:buNone/>
            </a:pPr>
            <a:r>
              <a:rPr lang="en-US" sz="1700" b="1" dirty="0">
                <a:solidFill>
                  <a:srgbClr val="E39A00"/>
                </a:solidFill>
                <a:latin typeface="Cambria" pitchFamily="34" charset="0"/>
                <a:ea typeface="Cambria" pitchFamily="34" charset="-122"/>
                <a:cs typeface="Cambria" pitchFamily="34" charset="-120"/>
              </a:rPr>
              <a:t>The noise floor</a:t>
            </a:r>
            <a:endParaRPr lang="en-US" sz="1700" dirty="0"/>
          </a:p>
        </p:txBody>
      </p:sp>
      <p:sp>
        <p:nvSpPr>
          <p:cNvPr id="14" name="Text 12"/>
          <p:cNvSpPr/>
          <p:nvPr/>
        </p:nvSpPr>
        <p:spPr>
          <a:xfrm>
            <a:off x="8321040" y="2057400"/>
            <a:ext cx="288036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0.005</a:t>
            </a:r>
            <a:endParaRPr lang="en-US" sz="3800" dirty="0"/>
          </a:p>
        </p:txBody>
      </p:sp>
      <p:sp>
        <p:nvSpPr>
          <p:cNvPr id="15" name="Text 13"/>
          <p:cNvSpPr/>
          <p:nvPr/>
        </p:nvSpPr>
        <p:spPr>
          <a:xfrm>
            <a:off x="8321040" y="2724912"/>
            <a:ext cx="2880360" cy="1051560"/>
          </a:xfrm>
          <a:prstGeom prst="rect">
            <a:avLst/>
          </a:prstGeom>
          <a:noFill/>
          <a:ln/>
        </p:spPr>
        <p:txBody>
          <a:bodyPr wrap="square" lIns="0" tIns="0" rIns="0" bIns="0" rtlCol="0" anchor="ctr"/>
          <a:lstStyle/>
          <a:p>
            <a:pPr indent="0" marL="0">
              <a:lnSpc>
                <a:spcPts val="1700"/>
              </a:lnSpc>
              <a:buNone/>
            </a:pPr>
            <a:r>
              <a:rPr lang="en-US" sz="1250" dirty="0">
                <a:solidFill>
                  <a:srgbClr val="C3CCE4"/>
                </a:solidFill>
                <a:latin typeface="Calibri" pitchFamily="34" charset="0"/>
                <a:ea typeface="Calibri" pitchFamily="34" charset="-122"/>
                <a:cs typeface="Calibri" pitchFamily="34" charset="-120"/>
              </a:rPr>
              <a:t>Any difference smaller than this is the random draw, not an improvement. Agreeing that in advance is the only reason nothing in this chapter got written up as a win.</a:t>
            </a:r>
            <a:endParaRPr lang="en-US" sz="1250" dirty="0"/>
          </a:p>
        </p:txBody>
      </p:sp>
      <p:sp>
        <p:nvSpPr>
          <p:cNvPr id="16" name="Shape 14"/>
          <p:cNvSpPr/>
          <p:nvPr/>
        </p:nvSpPr>
        <p:spPr>
          <a:xfrm>
            <a:off x="685800" y="4160520"/>
            <a:ext cx="10789920" cy="1920240"/>
          </a:xfrm>
          <a:prstGeom prst="roundRect">
            <a:avLst>
              <a:gd name="adj" fmla="val 3810"/>
            </a:avLst>
          </a:prstGeom>
          <a:solidFill>
            <a:srgbClr val="F4F6FB"/>
          </a:solidFill>
          <a:ln w="12700">
            <a:solidFill>
              <a:srgbClr val="F4F6FB"/>
            </a:solidFill>
            <a:prstDash val="solid"/>
          </a:ln>
        </p:spPr>
      </p:sp>
      <p:sp>
        <p:nvSpPr>
          <p:cNvPr id="17" name="Text 15"/>
          <p:cNvSpPr/>
          <p:nvPr/>
        </p:nvSpPr>
        <p:spPr>
          <a:xfrm>
            <a:off x="1005840" y="4315968"/>
            <a:ext cx="10149840" cy="292608"/>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Where we started, and where we ended</a:t>
            </a:r>
            <a:endParaRPr lang="en-US" sz="1700" dirty="0"/>
          </a:p>
        </p:txBody>
      </p:sp>
      <p:sp>
        <p:nvSpPr>
          <p:cNvPr id="18" name="Text 16"/>
          <p:cNvSpPr/>
          <p:nvPr/>
        </p:nvSpPr>
        <p:spPr>
          <a:xfrm>
            <a:off x="1280160" y="4645152"/>
            <a:ext cx="5669280" cy="274320"/>
          </a:xfrm>
          <a:prstGeom prst="rect">
            <a:avLst/>
          </a:prstGeom>
          <a:noFill/>
          <a:ln/>
        </p:spPr>
        <p:txBody>
          <a:bodyPr wrap="square" lIns="0" tIns="0" rIns="0" bIns="0" rtlCol="0" anchor="ctr"/>
          <a:lstStyle/>
          <a:p>
            <a:pPr indent="0" marL="0">
              <a:buNone/>
            </a:pPr>
            <a:endParaRPr lang="en-US" sz="1100" dirty="0"/>
          </a:p>
        </p:txBody>
      </p:sp>
      <p:sp>
        <p:nvSpPr>
          <p:cNvPr id="19" name="Text 17"/>
          <p:cNvSpPr/>
          <p:nvPr/>
        </p:nvSpPr>
        <p:spPr>
          <a:xfrm>
            <a:off x="6995160" y="4645152"/>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AUC</a:t>
            </a:r>
            <a:endParaRPr lang="en-US" sz="1100" dirty="0"/>
          </a:p>
        </p:txBody>
      </p:sp>
      <p:sp>
        <p:nvSpPr>
          <p:cNvPr id="20" name="Text 18"/>
          <p:cNvSpPr/>
          <p:nvPr/>
        </p:nvSpPr>
        <p:spPr>
          <a:xfrm>
            <a:off x="8138160" y="4645152"/>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F1</a:t>
            </a:r>
            <a:endParaRPr lang="en-US" sz="1100" dirty="0"/>
          </a:p>
        </p:txBody>
      </p:sp>
      <p:sp>
        <p:nvSpPr>
          <p:cNvPr id="21" name="Shape 19"/>
          <p:cNvSpPr/>
          <p:nvPr/>
        </p:nvSpPr>
        <p:spPr>
          <a:xfrm>
            <a:off x="1005840" y="4956048"/>
            <a:ext cx="10149840" cy="457200"/>
          </a:xfrm>
          <a:prstGeom prst="roundRect">
            <a:avLst>
              <a:gd name="adj" fmla="val 16000"/>
            </a:avLst>
          </a:prstGeom>
          <a:solidFill>
            <a:srgbClr val="F4F6FB"/>
          </a:solidFill>
          <a:ln w="12700">
            <a:solidFill>
              <a:srgbClr val="F4F6FB"/>
            </a:solidFill>
            <a:prstDash val="solid"/>
          </a:ln>
        </p:spPr>
      </p:sp>
      <p:sp>
        <p:nvSpPr>
          <p:cNvPr id="22" name="Text 20"/>
          <p:cNvSpPr/>
          <p:nvPr/>
        </p:nvSpPr>
        <p:spPr>
          <a:xfrm>
            <a:off x="1280160" y="4956048"/>
            <a:ext cx="566928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The raw file — nothing built, simplest model</a:t>
            </a:r>
            <a:endParaRPr lang="en-US" sz="1300" dirty="0"/>
          </a:p>
        </p:txBody>
      </p:sp>
      <p:sp>
        <p:nvSpPr>
          <p:cNvPr id="23" name="Text 21"/>
          <p:cNvSpPr/>
          <p:nvPr/>
        </p:nvSpPr>
        <p:spPr>
          <a:xfrm>
            <a:off x="6995160" y="4956048"/>
            <a:ext cx="1143000" cy="457200"/>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0.8000</a:t>
            </a:r>
            <a:endParaRPr lang="en-US" sz="1500" dirty="0"/>
          </a:p>
        </p:txBody>
      </p:sp>
      <p:sp>
        <p:nvSpPr>
          <p:cNvPr id="24" name="Text 22"/>
          <p:cNvSpPr/>
          <p:nvPr/>
        </p:nvSpPr>
        <p:spPr>
          <a:xfrm>
            <a:off x="8138160" y="4956048"/>
            <a:ext cx="1143000" cy="457200"/>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0.5353</a:t>
            </a:r>
            <a:endParaRPr lang="en-US" sz="1500" dirty="0"/>
          </a:p>
        </p:txBody>
      </p:sp>
      <p:sp>
        <p:nvSpPr>
          <p:cNvPr id="25" name="Text 23"/>
          <p:cNvSpPr/>
          <p:nvPr/>
        </p:nvSpPr>
        <p:spPr>
          <a:xfrm>
            <a:off x="9372600" y="4956048"/>
            <a:ext cx="1600200" cy="45720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the starting point</a:t>
            </a:r>
            <a:endParaRPr lang="en-US" sz="1050" dirty="0"/>
          </a:p>
        </p:txBody>
      </p:sp>
      <p:sp>
        <p:nvSpPr>
          <p:cNvPr id="26" name="Shape 24"/>
          <p:cNvSpPr/>
          <p:nvPr/>
        </p:nvSpPr>
        <p:spPr>
          <a:xfrm>
            <a:off x="1005840" y="5486400"/>
            <a:ext cx="10149840" cy="457200"/>
          </a:xfrm>
          <a:prstGeom prst="roundRect">
            <a:avLst>
              <a:gd name="adj" fmla="val 16000"/>
            </a:avLst>
          </a:prstGeom>
          <a:solidFill>
            <a:srgbClr val="F4F6FB"/>
          </a:solidFill>
          <a:ln w="12700">
            <a:solidFill>
              <a:srgbClr val="F4F6FB"/>
            </a:solidFill>
            <a:prstDash val="solid"/>
          </a:ln>
        </p:spPr>
      </p:sp>
      <p:sp>
        <p:nvSpPr>
          <p:cNvPr id="27" name="Text 25"/>
          <p:cNvSpPr/>
          <p:nvPr/>
        </p:nvSpPr>
        <p:spPr>
          <a:xfrm>
            <a:off x="1280160" y="5486400"/>
            <a:ext cx="5669280" cy="457200"/>
          </a:xfrm>
          <a:prstGeom prst="rect">
            <a:avLst/>
          </a:prstGeom>
          <a:noFill/>
          <a:ln/>
        </p:spPr>
        <p:txBody>
          <a:bodyPr wrap="square" lIns="0" tIns="0" rIns="0" bIns="0" rtlCol="0" anchor="ctr"/>
          <a:lstStyle/>
          <a:p>
            <a:pPr indent="0" marL="0">
              <a:buNone/>
            </a:pPr>
            <a:r>
              <a:rPr lang="en-US" sz="1300" b="1" dirty="0">
                <a:solidFill>
                  <a:srgbClr val="3F7D68"/>
                </a:solidFill>
                <a:latin typeface="Calibri" pitchFamily="34" charset="0"/>
                <a:ea typeface="Calibri" pitchFamily="34" charset="-122"/>
                <a:cs typeface="Calibri" pitchFamily="34" charset="-120"/>
              </a:rPr>
              <a:t>Everything built, everything tuned</a:t>
            </a:r>
            <a:endParaRPr lang="en-US" sz="1300" dirty="0"/>
          </a:p>
        </p:txBody>
      </p:sp>
      <p:sp>
        <p:nvSpPr>
          <p:cNvPr id="28" name="Text 26"/>
          <p:cNvSpPr/>
          <p:nvPr/>
        </p:nvSpPr>
        <p:spPr>
          <a:xfrm>
            <a:off x="6995160" y="5486400"/>
            <a:ext cx="1143000" cy="457200"/>
          </a:xfrm>
          <a:prstGeom prst="rect">
            <a:avLst/>
          </a:prstGeom>
          <a:noFill/>
          <a:ln/>
        </p:spPr>
        <p:txBody>
          <a:bodyPr wrap="square" lIns="0" tIns="0" rIns="0" bIns="0" rtlCol="0" anchor="ctr"/>
          <a:lstStyle/>
          <a:p>
            <a:pPr algn="ctr" indent="0" marL="0">
              <a:buNone/>
            </a:pPr>
            <a:r>
              <a:rPr lang="en-US" sz="1500" b="1" dirty="0">
                <a:solidFill>
                  <a:srgbClr val="3F7D68"/>
                </a:solidFill>
                <a:latin typeface="Cambria" pitchFamily="34" charset="0"/>
                <a:ea typeface="Cambria" pitchFamily="34" charset="-122"/>
                <a:cs typeface="Cambria" pitchFamily="34" charset="-120"/>
              </a:rPr>
              <a:t>0.8069</a:t>
            </a:r>
            <a:endParaRPr lang="en-US" sz="1500" dirty="0"/>
          </a:p>
        </p:txBody>
      </p:sp>
      <p:sp>
        <p:nvSpPr>
          <p:cNvPr id="29" name="Text 27"/>
          <p:cNvSpPr/>
          <p:nvPr/>
        </p:nvSpPr>
        <p:spPr>
          <a:xfrm>
            <a:off x="8138160" y="5486400"/>
            <a:ext cx="1143000" cy="457200"/>
          </a:xfrm>
          <a:prstGeom prst="rect">
            <a:avLst/>
          </a:prstGeom>
          <a:noFill/>
          <a:ln/>
        </p:spPr>
        <p:txBody>
          <a:bodyPr wrap="square" lIns="0" tIns="0" rIns="0" bIns="0" rtlCol="0" anchor="ctr"/>
          <a:lstStyle/>
          <a:p>
            <a:pPr algn="ctr" indent="0" marL="0">
              <a:buNone/>
            </a:pPr>
            <a:r>
              <a:rPr lang="en-US" sz="1500" b="1" dirty="0">
                <a:solidFill>
                  <a:srgbClr val="3F7D68"/>
                </a:solidFill>
                <a:latin typeface="Cambria" pitchFamily="34" charset="0"/>
                <a:ea typeface="Cambria" pitchFamily="34" charset="-122"/>
                <a:cs typeface="Cambria" pitchFamily="34" charset="-120"/>
              </a:rPr>
              <a:t>0.5509</a:t>
            </a:r>
            <a:endParaRPr lang="en-US" sz="1500" dirty="0"/>
          </a:p>
        </p:txBody>
      </p:sp>
      <p:sp>
        <p:nvSpPr>
          <p:cNvPr id="30" name="Text 28"/>
          <p:cNvSpPr/>
          <p:nvPr/>
        </p:nvSpPr>
        <p:spPr>
          <a:xfrm>
            <a:off x="9372600" y="5486400"/>
            <a:ext cx="1600200" cy="45720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+0.016 in total</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Step one — try roughly thirty model families</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We had planned on the powerful one. We tested anyway</a:t>
            </a:r>
            <a:endParaRPr lang="en-US" sz="1500" dirty="0"/>
          </a:p>
        </p:txBody>
      </p:sp>
      <p:graphicFrame>
        <p:nvGraphicFramePr>
          <p:cNvPr id="6" name="Chart 0" descr=""/>
          <p:cNvGraphicFramePr/>
          <p:nvPr/>
        </p:nvGraphicFramePr>
        <p:xfrm>
          <a:off x="685800" y="16002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955280" y="1600200"/>
            <a:ext cx="3520440" cy="2194560"/>
          </a:xfrm>
          <a:prstGeom prst="roundRect">
            <a:avLst>
              <a:gd name="adj" fmla="val 3333"/>
            </a:avLst>
          </a:prstGeom>
          <a:solidFill>
            <a:srgbClr val="1E2761"/>
          </a:solidFill>
          <a:ln w="12700">
            <a:solidFill>
              <a:srgbClr val="1E2761"/>
            </a:solidFill>
            <a:prstDash val="solid"/>
          </a:ln>
        </p:spPr>
      </p:sp>
      <p:sp>
        <p:nvSpPr>
          <p:cNvPr id="8" name="Text 5"/>
          <p:cNvSpPr/>
          <p:nvPr/>
        </p:nvSpPr>
        <p:spPr>
          <a:xfrm>
            <a:off x="8229600" y="1783080"/>
            <a:ext cx="3017520" cy="548640"/>
          </a:xfrm>
          <a:prstGeom prst="rect">
            <a:avLst/>
          </a:prstGeom>
          <a:noFill/>
          <a:ln/>
        </p:spPr>
        <p:txBody>
          <a:bodyPr wrap="square" lIns="0" tIns="0" rIns="0" bIns="0" rtlCol="0" anchor="ctr"/>
          <a:lstStyle/>
          <a:p>
            <a:pPr indent="0" marL="0">
              <a:buNone/>
            </a:pPr>
            <a:r>
              <a:rPr lang="en-US" sz="1900" b="1" dirty="0">
                <a:solidFill>
                  <a:srgbClr val="E39A00"/>
                </a:solidFill>
                <a:latin typeface="Cambria" pitchFamily="34" charset="0"/>
                <a:ea typeface="Cambria" pitchFamily="34" charset="-122"/>
                <a:cs typeface="Cambria" pitchFamily="34" charset="-120"/>
              </a:rPr>
              <a:t>The simplest one won</a:t>
            </a:r>
            <a:endParaRPr lang="en-US" sz="1900" dirty="0"/>
          </a:p>
        </p:txBody>
      </p:sp>
      <p:sp>
        <p:nvSpPr>
          <p:cNvPr id="9" name="Text 6"/>
          <p:cNvSpPr/>
          <p:nvPr/>
        </p:nvSpPr>
        <p:spPr>
          <a:xfrm>
            <a:off x="8229600" y="2377440"/>
            <a:ext cx="3017520" cy="1280160"/>
          </a:xfrm>
          <a:prstGeom prst="rect">
            <a:avLst/>
          </a:prstGeom>
          <a:noFill/>
          <a:ln/>
        </p:spPr>
        <p:txBody>
          <a:bodyPr wrap="square" lIns="0" tIns="0" rIns="0" bIns="0" rtlCol="0" anchor="ctr"/>
          <a:lstStyle/>
          <a:p>
            <a:pPr indent="0" marL="0">
              <a:lnSpc>
                <a:spcPts val="1800"/>
              </a:lnSpc>
              <a:buNone/>
            </a:pPr>
            <a:r>
              <a:rPr lang="en-US" sz="1300" dirty="0">
                <a:solidFill>
                  <a:srgbClr val="C3CCE4"/>
                </a:solidFill>
                <a:latin typeface="Calibri" pitchFamily="34" charset="0"/>
                <a:ea typeface="Calibri" pitchFamily="34" charset="-122"/>
                <a:cs typeface="Calibri" pitchFamily="34" charset="-120"/>
              </a:rPr>
              <a:t>Four straight-line models beat every tree-based one. The whole plan had been built around XGBoost — it came last, at 0.7467.</a:t>
            </a:r>
            <a:endParaRPr lang="en-US" sz="1300" dirty="0"/>
          </a:p>
          <a:p>
            <a:pPr indent="0" marL="0">
              <a:lnSpc>
                <a:spcPts val="1800"/>
              </a:lnSpc>
              <a:buNone/>
            </a:pPr>
            <a:endParaRPr lang="en-US" sz="1300" dirty="0"/>
          </a:p>
          <a:p>
            <a:pPr indent="0" marL="0">
              <a:lnSpc>
                <a:spcPts val="1800"/>
              </a:lnSpc>
              <a:buNone/>
            </a:pPr>
            <a:r>
              <a:rPr lang="en-US" sz="1300" dirty="0">
                <a:solidFill>
                  <a:srgbClr val="C3CCE4"/>
                </a:solidFill>
                <a:latin typeface="Calibri" pitchFamily="34" charset="0"/>
                <a:ea typeface="Calibri" pitchFamily="34" charset="-122"/>
                <a:cs typeface="Calibri" pitchFamily="34" charset="-120"/>
              </a:rPr>
              <a:t>This is the moment that redirected the project.</a:t>
            </a:r>
            <a:endParaRPr lang="en-US" sz="1300" dirty="0"/>
          </a:p>
        </p:txBody>
      </p:sp>
      <p:sp>
        <p:nvSpPr>
          <p:cNvPr id="10" name="Shape 7"/>
          <p:cNvSpPr/>
          <p:nvPr/>
        </p:nvSpPr>
        <p:spPr>
          <a:xfrm>
            <a:off x="7955280" y="3931920"/>
            <a:ext cx="3520440" cy="1874520"/>
          </a:xfrm>
          <a:prstGeom prst="roundRect">
            <a:avLst>
              <a:gd name="adj" fmla="val 3902"/>
            </a:avLst>
          </a:prstGeom>
          <a:solidFill>
            <a:srgbClr val="F4F6FB"/>
          </a:solidFill>
          <a:ln w="12700">
            <a:solidFill>
              <a:srgbClr val="F4F6FB"/>
            </a:solidFill>
            <a:prstDash val="solid"/>
          </a:ln>
        </p:spPr>
      </p:sp>
      <p:sp>
        <p:nvSpPr>
          <p:cNvPr id="11" name="Text 8"/>
          <p:cNvSpPr/>
          <p:nvPr/>
        </p:nvSpPr>
        <p:spPr>
          <a:xfrm>
            <a:off x="8229600" y="4096512"/>
            <a:ext cx="3017520" cy="292608"/>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A trap we avoided</a:t>
            </a:r>
            <a:endParaRPr lang="en-US" sz="1600" dirty="0"/>
          </a:p>
        </p:txBody>
      </p:sp>
      <p:sp>
        <p:nvSpPr>
          <p:cNvPr id="12" name="Text 9"/>
          <p:cNvSpPr/>
          <p:nvPr/>
        </p:nvSpPr>
        <p:spPr>
          <a:xfrm>
            <a:off x="8229600" y="4425696"/>
            <a:ext cx="3017520" cy="1234440"/>
          </a:xfrm>
          <a:prstGeom prst="rect">
            <a:avLst/>
          </a:prstGeom>
          <a:noFill/>
          <a:ln/>
        </p:spPr>
        <p:txBody>
          <a:bodyPr wrap="square" lIns="0" tIns="0" rIns="0" bIns="0" rtlCol="0" anchor="ctr"/>
          <a:lstStyle/>
          <a:p>
            <a:pPr indent="0" marL="0">
              <a:lnSpc>
                <a:spcPts val="1600"/>
              </a:lnSpc>
              <a:buNone/>
            </a:pPr>
            <a:r>
              <a:rPr lang="en-US" sz="1200" dirty="0">
                <a:solidFill>
                  <a:srgbClr val="4A5163"/>
                </a:solidFill>
                <a:latin typeface="Calibri" pitchFamily="34" charset="0"/>
                <a:ea typeface="Calibri" pitchFamily="34" charset="-122"/>
                <a:cs typeface="Calibri" pitchFamily="34" charset="-120"/>
              </a:rPr>
              <a:t>This tool also reports F1, but averaged across both groups — around 0.80, when the number that matters is around 0.53. Reading that column would have meant optimising the wrong thing entirely.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Step two — the shortlist, measured properly</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Five folds each, not one lucky split</a:t>
            </a:r>
            <a:endParaRPr lang="en-US" sz="1500" dirty="0"/>
          </a:p>
        </p:txBody>
      </p:sp>
      <p:sp>
        <p:nvSpPr>
          <p:cNvPr id="6" name="Text 4"/>
          <p:cNvSpPr/>
          <p:nvPr/>
        </p:nvSpPr>
        <p:spPr>
          <a:xfrm>
            <a:off x="960120" y="1554480"/>
            <a:ext cx="6309360" cy="274320"/>
          </a:xfrm>
          <a:prstGeom prst="rect">
            <a:avLst/>
          </a:prstGeom>
          <a:noFill/>
          <a:ln/>
        </p:spPr>
        <p:txBody>
          <a:bodyPr wrap="square" lIns="0" tIns="0" rIns="0" bIns="0" rtlCol="0" anchor="ctr"/>
          <a:lstStyle/>
          <a:p>
            <a:pPr indent="0" marL="0">
              <a:buNone/>
            </a:pPr>
            <a:endParaRPr lang="en-US" sz="1100" dirty="0"/>
          </a:p>
        </p:txBody>
      </p:sp>
      <p:sp>
        <p:nvSpPr>
          <p:cNvPr id="7" name="Text 5"/>
          <p:cNvSpPr/>
          <p:nvPr/>
        </p:nvSpPr>
        <p:spPr>
          <a:xfrm>
            <a:off x="7315200" y="1554480"/>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AUC</a:t>
            </a:r>
            <a:endParaRPr lang="en-US" sz="1100" dirty="0"/>
          </a:p>
        </p:txBody>
      </p:sp>
      <p:sp>
        <p:nvSpPr>
          <p:cNvPr id="8" name="Text 6"/>
          <p:cNvSpPr/>
          <p:nvPr/>
        </p:nvSpPr>
        <p:spPr>
          <a:xfrm>
            <a:off x="8458200" y="1554480"/>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F1</a:t>
            </a:r>
            <a:endParaRPr lang="en-US" sz="1100" dirty="0"/>
          </a:p>
        </p:txBody>
      </p:sp>
      <p:sp>
        <p:nvSpPr>
          <p:cNvPr id="9" name="Shape 7"/>
          <p:cNvSpPr/>
          <p:nvPr/>
        </p:nvSpPr>
        <p:spPr>
          <a:xfrm>
            <a:off x="685800" y="1865376"/>
            <a:ext cx="10789920" cy="566928"/>
          </a:xfrm>
          <a:prstGeom prst="roundRect">
            <a:avLst>
              <a:gd name="adj" fmla="val 12903"/>
            </a:avLst>
          </a:prstGeom>
          <a:solidFill>
            <a:srgbClr val="F4F6FB"/>
          </a:solidFill>
          <a:ln w="12700">
            <a:solidFill>
              <a:srgbClr val="F4F6FB"/>
            </a:solidFill>
            <a:prstDash val="solid"/>
          </a:ln>
        </p:spPr>
      </p:sp>
      <p:sp>
        <p:nvSpPr>
          <p:cNvPr id="10" name="Text 8"/>
          <p:cNvSpPr/>
          <p:nvPr/>
        </p:nvSpPr>
        <p:spPr>
          <a:xfrm>
            <a:off x="960120" y="1865376"/>
            <a:ext cx="6309360" cy="566928"/>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XGBoost — modest settings</a:t>
            </a:r>
            <a:endParaRPr lang="en-US" sz="1300" dirty="0"/>
          </a:p>
        </p:txBody>
      </p:sp>
      <p:sp>
        <p:nvSpPr>
          <p:cNvPr id="11" name="Text 9"/>
          <p:cNvSpPr/>
          <p:nvPr/>
        </p:nvSpPr>
        <p:spPr>
          <a:xfrm>
            <a:off x="7315200" y="186537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0.7921</a:t>
            </a:r>
            <a:endParaRPr lang="en-US" sz="1500" dirty="0"/>
          </a:p>
        </p:txBody>
      </p:sp>
      <p:sp>
        <p:nvSpPr>
          <p:cNvPr id="12" name="Text 10"/>
          <p:cNvSpPr/>
          <p:nvPr/>
        </p:nvSpPr>
        <p:spPr>
          <a:xfrm>
            <a:off x="8458200" y="186537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0.5236</a:t>
            </a:r>
            <a:endParaRPr lang="en-US" sz="1500" dirty="0"/>
          </a:p>
        </p:txBody>
      </p:sp>
      <p:sp>
        <p:nvSpPr>
          <p:cNvPr id="13" name="Text 11"/>
          <p:cNvSpPr/>
          <p:nvPr/>
        </p:nvSpPr>
        <p:spPr>
          <a:xfrm>
            <a:off x="9692640" y="1865376"/>
            <a:ext cx="1600200" cy="566928"/>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where we began</a:t>
            </a:r>
            <a:endParaRPr lang="en-US" sz="1050" dirty="0"/>
          </a:p>
        </p:txBody>
      </p:sp>
      <p:sp>
        <p:nvSpPr>
          <p:cNvPr id="14" name="Shape 12"/>
          <p:cNvSpPr/>
          <p:nvPr/>
        </p:nvSpPr>
        <p:spPr>
          <a:xfrm>
            <a:off x="685800" y="2505456"/>
            <a:ext cx="10789920" cy="566928"/>
          </a:xfrm>
          <a:prstGeom prst="roundRect">
            <a:avLst>
              <a:gd name="adj" fmla="val 12903"/>
            </a:avLst>
          </a:prstGeom>
          <a:solidFill>
            <a:srgbClr val="F4F6FB"/>
          </a:solidFill>
          <a:ln w="12700">
            <a:solidFill>
              <a:srgbClr val="F4F6FB"/>
            </a:solidFill>
            <a:prstDash val="solid"/>
          </a:ln>
        </p:spPr>
      </p:sp>
      <p:sp>
        <p:nvSpPr>
          <p:cNvPr id="15" name="Text 13"/>
          <p:cNvSpPr/>
          <p:nvPr/>
        </p:nvSpPr>
        <p:spPr>
          <a:xfrm>
            <a:off x="960120" y="2505456"/>
            <a:ext cx="6309360" cy="566928"/>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XGBoost — deeper: depth 6, 800 trees</a:t>
            </a:r>
            <a:endParaRPr lang="en-US" sz="1300" dirty="0"/>
          </a:p>
        </p:txBody>
      </p:sp>
      <p:sp>
        <p:nvSpPr>
          <p:cNvPr id="16" name="Text 14"/>
          <p:cNvSpPr/>
          <p:nvPr/>
        </p:nvSpPr>
        <p:spPr>
          <a:xfrm>
            <a:off x="7315200" y="250545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0.7756</a:t>
            </a:r>
            <a:endParaRPr lang="en-US" sz="1500" dirty="0"/>
          </a:p>
        </p:txBody>
      </p:sp>
      <p:sp>
        <p:nvSpPr>
          <p:cNvPr id="17" name="Text 15"/>
          <p:cNvSpPr/>
          <p:nvPr/>
        </p:nvSpPr>
        <p:spPr>
          <a:xfrm>
            <a:off x="8458200" y="250545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0.5080</a:t>
            </a:r>
            <a:endParaRPr lang="en-US" sz="1500" dirty="0"/>
          </a:p>
        </p:txBody>
      </p:sp>
      <p:sp>
        <p:nvSpPr>
          <p:cNvPr id="18" name="Text 16"/>
          <p:cNvSpPr/>
          <p:nvPr/>
        </p:nvSpPr>
        <p:spPr>
          <a:xfrm>
            <a:off x="9692640" y="2505456"/>
            <a:ext cx="1600200" cy="566928"/>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biggest model, worst score</a:t>
            </a:r>
            <a:endParaRPr lang="en-US" sz="1050" dirty="0"/>
          </a:p>
        </p:txBody>
      </p:sp>
      <p:sp>
        <p:nvSpPr>
          <p:cNvPr id="19" name="Shape 17"/>
          <p:cNvSpPr/>
          <p:nvPr/>
        </p:nvSpPr>
        <p:spPr>
          <a:xfrm>
            <a:off x="685800" y="3145536"/>
            <a:ext cx="10789920" cy="566928"/>
          </a:xfrm>
          <a:prstGeom prst="roundRect">
            <a:avLst>
              <a:gd name="adj" fmla="val 12903"/>
            </a:avLst>
          </a:prstGeom>
          <a:solidFill>
            <a:srgbClr val="F4F6FB"/>
          </a:solidFill>
          <a:ln w="12700">
            <a:solidFill>
              <a:srgbClr val="F4F6FB"/>
            </a:solidFill>
            <a:prstDash val="solid"/>
          </a:ln>
        </p:spPr>
      </p:sp>
      <p:sp>
        <p:nvSpPr>
          <p:cNvPr id="20" name="Text 18"/>
          <p:cNvSpPr/>
          <p:nvPr/>
        </p:nvSpPr>
        <p:spPr>
          <a:xfrm>
            <a:off x="960120" y="3145536"/>
            <a:ext cx="6309360" cy="566928"/>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CatBoost — default settings</a:t>
            </a:r>
            <a:endParaRPr lang="en-US" sz="1300" dirty="0"/>
          </a:p>
        </p:txBody>
      </p:sp>
      <p:sp>
        <p:nvSpPr>
          <p:cNvPr id="21" name="Text 19"/>
          <p:cNvSpPr/>
          <p:nvPr/>
        </p:nvSpPr>
        <p:spPr>
          <a:xfrm>
            <a:off x="7315200" y="314553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0.7897</a:t>
            </a:r>
            <a:endParaRPr lang="en-US" sz="1500" dirty="0"/>
          </a:p>
        </p:txBody>
      </p:sp>
      <p:sp>
        <p:nvSpPr>
          <p:cNvPr id="22" name="Text 20"/>
          <p:cNvSpPr/>
          <p:nvPr/>
        </p:nvSpPr>
        <p:spPr>
          <a:xfrm>
            <a:off x="8458200" y="314553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0.5380</a:t>
            </a:r>
            <a:endParaRPr lang="en-US" sz="1500" dirty="0"/>
          </a:p>
        </p:txBody>
      </p:sp>
      <p:sp>
        <p:nvSpPr>
          <p:cNvPr id="23" name="Text 21"/>
          <p:cNvSpPr/>
          <p:nvPr/>
        </p:nvSpPr>
        <p:spPr>
          <a:xfrm>
            <a:off x="9692640" y="3145536"/>
            <a:ext cx="1600200" cy="566928"/>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the Kaggle suggestion</a:t>
            </a:r>
            <a:endParaRPr lang="en-US" sz="1050" dirty="0"/>
          </a:p>
        </p:txBody>
      </p:sp>
      <p:sp>
        <p:nvSpPr>
          <p:cNvPr id="24" name="Shape 22"/>
          <p:cNvSpPr/>
          <p:nvPr/>
        </p:nvSpPr>
        <p:spPr>
          <a:xfrm>
            <a:off x="685800" y="3785616"/>
            <a:ext cx="10789920" cy="566928"/>
          </a:xfrm>
          <a:prstGeom prst="roundRect">
            <a:avLst>
              <a:gd name="adj" fmla="val 12903"/>
            </a:avLst>
          </a:prstGeom>
          <a:solidFill>
            <a:srgbClr val="F4F6FB"/>
          </a:solidFill>
          <a:ln w="12700">
            <a:solidFill>
              <a:srgbClr val="F4F6FB"/>
            </a:solidFill>
            <a:prstDash val="solid"/>
          </a:ln>
        </p:spPr>
      </p:sp>
      <p:sp>
        <p:nvSpPr>
          <p:cNvPr id="25" name="Text 23"/>
          <p:cNvSpPr/>
          <p:nvPr/>
        </p:nvSpPr>
        <p:spPr>
          <a:xfrm>
            <a:off x="960120" y="3785616"/>
            <a:ext cx="6309360" cy="566928"/>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XGBoost — tuned, 40 combinations</a:t>
            </a:r>
            <a:endParaRPr lang="en-US" sz="1300" dirty="0"/>
          </a:p>
        </p:txBody>
      </p:sp>
      <p:sp>
        <p:nvSpPr>
          <p:cNvPr id="26" name="Text 24"/>
          <p:cNvSpPr/>
          <p:nvPr/>
        </p:nvSpPr>
        <p:spPr>
          <a:xfrm>
            <a:off x="7315200" y="378561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0.8052</a:t>
            </a:r>
            <a:endParaRPr lang="en-US" sz="1500" dirty="0"/>
          </a:p>
        </p:txBody>
      </p:sp>
      <p:sp>
        <p:nvSpPr>
          <p:cNvPr id="27" name="Text 25"/>
          <p:cNvSpPr/>
          <p:nvPr/>
        </p:nvSpPr>
        <p:spPr>
          <a:xfrm>
            <a:off x="8458200" y="378561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0.5436</a:t>
            </a:r>
            <a:endParaRPr lang="en-US" sz="1500" dirty="0"/>
          </a:p>
        </p:txBody>
      </p:sp>
      <p:sp>
        <p:nvSpPr>
          <p:cNvPr id="28" name="Text 26"/>
          <p:cNvSpPr/>
          <p:nvPr/>
        </p:nvSpPr>
        <p:spPr>
          <a:xfrm>
            <a:off x="9692640" y="3785616"/>
            <a:ext cx="1600200" cy="566928"/>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after all the tuning</a:t>
            </a:r>
            <a:endParaRPr lang="en-US" sz="1050" dirty="0"/>
          </a:p>
        </p:txBody>
      </p:sp>
      <p:sp>
        <p:nvSpPr>
          <p:cNvPr id="29" name="Shape 27"/>
          <p:cNvSpPr/>
          <p:nvPr/>
        </p:nvSpPr>
        <p:spPr>
          <a:xfrm>
            <a:off x="685800" y="4425696"/>
            <a:ext cx="10789920" cy="566928"/>
          </a:xfrm>
          <a:prstGeom prst="roundRect">
            <a:avLst>
              <a:gd name="adj" fmla="val 12903"/>
            </a:avLst>
          </a:prstGeom>
          <a:solidFill>
            <a:srgbClr val="F4F6FB"/>
          </a:solidFill>
          <a:ln w="12700">
            <a:solidFill>
              <a:srgbClr val="F4F6FB"/>
            </a:solidFill>
            <a:prstDash val="solid"/>
          </a:ln>
        </p:spPr>
      </p:sp>
      <p:sp>
        <p:nvSpPr>
          <p:cNvPr id="30" name="Text 28"/>
          <p:cNvSpPr/>
          <p:nvPr/>
        </p:nvSpPr>
        <p:spPr>
          <a:xfrm>
            <a:off x="960120" y="4425696"/>
            <a:ext cx="6309360" cy="566928"/>
          </a:xfrm>
          <a:prstGeom prst="rect">
            <a:avLst/>
          </a:prstGeom>
          <a:noFill/>
          <a:ln/>
        </p:spPr>
        <p:txBody>
          <a:bodyPr wrap="square" lIns="0" tIns="0" rIns="0" bIns="0" rtlCol="0" anchor="ctr"/>
          <a:lstStyle/>
          <a:p>
            <a:pPr indent="0" marL="0">
              <a:buNone/>
            </a:pPr>
            <a:r>
              <a:rPr lang="en-US" sz="1300" b="1" dirty="0">
                <a:solidFill>
                  <a:srgbClr val="3F7D68"/>
                </a:solidFill>
                <a:latin typeface="Calibri" pitchFamily="34" charset="0"/>
                <a:ea typeface="Calibri" pitchFamily="34" charset="-122"/>
                <a:cs typeface="Calibri" pitchFamily="34" charset="-120"/>
              </a:rPr>
              <a:t>Logistic regression — plain, untuned</a:t>
            </a:r>
            <a:endParaRPr lang="en-US" sz="1300" dirty="0"/>
          </a:p>
        </p:txBody>
      </p:sp>
      <p:sp>
        <p:nvSpPr>
          <p:cNvPr id="31" name="Text 29"/>
          <p:cNvSpPr/>
          <p:nvPr/>
        </p:nvSpPr>
        <p:spPr>
          <a:xfrm>
            <a:off x="7315200" y="4425696"/>
            <a:ext cx="1143000" cy="566928"/>
          </a:xfrm>
          <a:prstGeom prst="rect">
            <a:avLst/>
          </a:prstGeom>
          <a:noFill/>
          <a:ln/>
        </p:spPr>
        <p:txBody>
          <a:bodyPr wrap="square" lIns="0" tIns="0" rIns="0" bIns="0" rtlCol="0" anchor="ctr"/>
          <a:lstStyle/>
          <a:p>
            <a:pPr algn="ctr" indent="0" marL="0">
              <a:buNone/>
            </a:pPr>
            <a:r>
              <a:rPr lang="en-US" sz="1500" b="1" dirty="0">
                <a:solidFill>
                  <a:srgbClr val="3F7D68"/>
                </a:solidFill>
                <a:latin typeface="Cambria" pitchFamily="34" charset="0"/>
                <a:ea typeface="Cambria" pitchFamily="34" charset="-122"/>
                <a:cs typeface="Cambria" pitchFamily="34" charset="-120"/>
              </a:rPr>
              <a:t>0.8002</a:t>
            </a:r>
            <a:endParaRPr lang="en-US" sz="1500" dirty="0"/>
          </a:p>
        </p:txBody>
      </p:sp>
      <p:sp>
        <p:nvSpPr>
          <p:cNvPr id="32" name="Text 30"/>
          <p:cNvSpPr/>
          <p:nvPr/>
        </p:nvSpPr>
        <p:spPr>
          <a:xfrm>
            <a:off x="8458200" y="4425696"/>
            <a:ext cx="1143000" cy="566928"/>
          </a:xfrm>
          <a:prstGeom prst="rect">
            <a:avLst/>
          </a:prstGeom>
          <a:noFill/>
          <a:ln/>
        </p:spPr>
        <p:txBody>
          <a:bodyPr wrap="square" lIns="0" tIns="0" rIns="0" bIns="0" rtlCol="0" anchor="ctr"/>
          <a:lstStyle/>
          <a:p>
            <a:pPr algn="ctr" indent="0" marL="0">
              <a:buNone/>
            </a:pPr>
            <a:r>
              <a:rPr lang="en-US" sz="1500" b="1" dirty="0">
                <a:solidFill>
                  <a:srgbClr val="3F7D68"/>
                </a:solidFill>
                <a:latin typeface="Cambria" pitchFamily="34" charset="0"/>
                <a:ea typeface="Cambria" pitchFamily="34" charset="-122"/>
                <a:cs typeface="Cambria" pitchFamily="34" charset="-120"/>
              </a:rPr>
              <a:t>0.5434</a:t>
            </a:r>
            <a:endParaRPr lang="en-US" sz="1500" dirty="0"/>
          </a:p>
        </p:txBody>
      </p:sp>
      <p:sp>
        <p:nvSpPr>
          <p:cNvPr id="33" name="Text 31"/>
          <p:cNvSpPr/>
          <p:nvPr/>
        </p:nvSpPr>
        <p:spPr>
          <a:xfrm>
            <a:off x="9692640" y="4425696"/>
            <a:ext cx="1600200" cy="566928"/>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matches it with none</a:t>
            </a:r>
            <a:endParaRPr lang="en-US" sz="1050" dirty="0"/>
          </a:p>
        </p:txBody>
      </p:sp>
      <p:sp>
        <p:nvSpPr>
          <p:cNvPr id="34" name="Shape 32"/>
          <p:cNvSpPr/>
          <p:nvPr/>
        </p:nvSpPr>
        <p:spPr>
          <a:xfrm>
            <a:off x="685800" y="5074920"/>
            <a:ext cx="5257800" cy="1188720"/>
          </a:xfrm>
          <a:prstGeom prst="roundRect">
            <a:avLst>
              <a:gd name="adj" fmla="val 6154"/>
            </a:avLst>
          </a:prstGeom>
          <a:solidFill>
            <a:srgbClr val="1E2761"/>
          </a:solidFill>
          <a:ln w="12700">
            <a:solidFill>
              <a:srgbClr val="1E2761"/>
            </a:solidFill>
            <a:prstDash val="solid"/>
          </a:ln>
        </p:spPr>
      </p:sp>
      <p:sp>
        <p:nvSpPr>
          <p:cNvPr id="35" name="Text 33"/>
          <p:cNvSpPr/>
          <p:nvPr/>
        </p:nvSpPr>
        <p:spPr>
          <a:xfrm>
            <a:off x="1005840" y="5212080"/>
            <a:ext cx="4663440" cy="292608"/>
          </a:xfrm>
          <a:prstGeom prst="rect">
            <a:avLst/>
          </a:prstGeom>
          <a:noFill/>
          <a:ln/>
        </p:spPr>
        <p:txBody>
          <a:bodyPr wrap="square" lIns="0" tIns="0" rIns="0" bIns="0" rtlCol="0" anchor="ctr"/>
          <a:lstStyle/>
          <a:p>
            <a:pPr indent="0" marL="0">
              <a:buNone/>
            </a:pPr>
            <a:r>
              <a:rPr lang="en-US" sz="1600" b="1" dirty="0">
                <a:solidFill>
                  <a:srgbClr val="E39A00"/>
                </a:solidFill>
                <a:latin typeface="Cambria" pitchFamily="34" charset="0"/>
                <a:ea typeface="Cambria" pitchFamily="34" charset="-122"/>
                <a:cs typeface="Cambria" pitchFamily="34" charset="-120"/>
              </a:rPr>
              <a:t>The bigger model was worse</a:t>
            </a:r>
            <a:endParaRPr lang="en-US" sz="1600" dirty="0"/>
          </a:p>
        </p:txBody>
      </p:sp>
      <p:sp>
        <p:nvSpPr>
          <p:cNvPr id="36" name="Text 34"/>
          <p:cNvSpPr/>
          <p:nvPr/>
        </p:nvSpPr>
        <p:spPr>
          <a:xfrm>
            <a:off x="1005840" y="5541264"/>
            <a:ext cx="4663440" cy="658368"/>
          </a:xfrm>
          <a:prstGeom prst="rect">
            <a:avLst/>
          </a:prstGeom>
          <a:noFill/>
          <a:ln/>
        </p:spPr>
        <p:txBody>
          <a:bodyPr wrap="square" lIns="0" tIns="0" rIns="0" bIns="0" rtlCol="0" anchor="ctr"/>
          <a:lstStyle/>
          <a:p>
            <a:pPr indent="0" marL="0">
              <a:lnSpc>
                <a:spcPts val="1600"/>
              </a:lnSpc>
              <a:buNone/>
            </a:pPr>
            <a:r>
              <a:rPr lang="en-US" sz="1250" dirty="0">
                <a:solidFill>
                  <a:srgbClr val="C3CCE4"/>
                </a:solidFill>
                <a:latin typeface="Calibri" pitchFamily="34" charset="0"/>
                <a:ea typeface="Calibri" pitchFamily="34" charset="-122"/>
                <a:cs typeface="Calibri" pitchFamily="34" charset="-120"/>
              </a:rPr>
              <a:t>Deeper trees lost 0.014 AUC. That is overfitting — memorising these 8,500 customers instead of learning a pattern.</a:t>
            </a:r>
            <a:endParaRPr lang="en-US" sz="1250" dirty="0"/>
          </a:p>
        </p:txBody>
      </p:sp>
      <p:sp>
        <p:nvSpPr>
          <p:cNvPr id="37" name="Shape 35"/>
          <p:cNvSpPr/>
          <p:nvPr/>
        </p:nvSpPr>
        <p:spPr>
          <a:xfrm>
            <a:off x="6217920" y="5074920"/>
            <a:ext cx="5257800" cy="1188720"/>
          </a:xfrm>
          <a:prstGeom prst="roundRect">
            <a:avLst>
              <a:gd name="adj" fmla="val 6154"/>
            </a:avLst>
          </a:prstGeom>
          <a:solidFill>
            <a:srgbClr val="F4F6FB"/>
          </a:solidFill>
          <a:ln w="12700">
            <a:solidFill>
              <a:srgbClr val="F4F6FB"/>
            </a:solidFill>
            <a:prstDash val="solid"/>
          </a:ln>
        </p:spPr>
      </p:sp>
      <p:sp>
        <p:nvSpPr>
          <p:cNvPr id="38" name="Text 36"/>
          <p:cNvSpPr/>
          <p:nvPr/>
        </p:nvSpPr>
        <p:spPr>
          <a:xfrm>
            <a:off x="6537960" y="5212080"/>
            <a:ext cx="4663440" cy="292608"/>
          </a:xfrm>
          <a:prstGeom prst="rect">
            <a:avLst/>
          </a:prstGeom>
          <a:noFill/>
          <a:ln/>
        </p:spPr>
        <p:txBody>
          <a:bodyPr wrap="square" lIns="0" tIns="0" rIns="0" bIns="0" rtlCol="0" anchor="ctr"/>
          <a:lstStyle/>
          <a:p>
            <a:pPr indent="0" marL="0">
              <a:buNone/>
            </a:pPr>
            <a:r>
              <a:rPr lang="en-US" sz="1550" b="1" dirty="0">
                <a:solidFill>
                  <a:srgbClr val="1B1F2A"/>
                </a:solidFill>
                <a:latin typeface="Cambria" pitchFamily="34" charset="0"/>
                <a:ea typeface="Cambria" pitchFamily="34" charset="-122"/>
                <a:cs typeface="Cambria" pitchFamily="34" charset="-120"/>
              </a:rPr>
              <a:t>An untuned simple model matched a tuned complex one</a:t>
            </a:r>
            <a:endParaRPr lang="en-US" sz="1550" dirty="0"/>
          </a:p>
        </p:txBody>
      </p:sp>
      <p:sp>
        <p:nvSpPr>
          <p:cNvPr id="39" name="Text 37"/>
          <p:cNvSpPr/>
          <p:nvPr/>
        </p:nvSpPr>
        <p:spPr>
          <a:xfrm>
            <a:off x="6537960" y="5541264"/>
            <a:ext cx="4663440" cy="658368"/>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0.5434 against 0.5436, with none of the effort. At that point the choice made itself.</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Two questions from you, answered with tests</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Rather than with an opinion</a:t>
            </a:r>
            <a:endParaRPr lang="en-US" sz="1500" dirty="0"/>
          </a:p>
        </p:txBody>
      </p:sp>
      <p:sp>
        <p:nvSpPr>
          <p:cNvPr id="6" name="Shape 4"/>
          <p:cNvSpPr/>
          <p:nvPr/>
        </p:nvSpPr>
        <p:spPr>
          <a:xfrm>
            <a:off x="685800" y="1600200"/>
            <a:ext cx="10789920" cy="2011680"/>
          </a:xfrm>
          <a:prstGeom prst="roundRect">
            <a:avLst>
              <a:gd name="adj" fmla="val 3636"/>
            </a:avLst>
          </a:prstGeom>
          <a:solidFill>
            <a:srgbClr val="F4F6FB"/>
          </a:solidFill>
          <a:ln w="12700">
            <a:solidFill>
              <a:srgbClr val="F4F6FB"/>
            </a:solidFill>
            <a:prstDash val="solid"/>
          </a:ln>
        </p:spPr>
      </p:sp>
      <p:sp>
        <p:nvSpPr>
          <p:cNvPr id="7" name="Shape 5"/>
          <p:cNvSpPr/>
          <p:nvPr/>
        </p:nvSpPr>
        <p:spPr>
          <a:xfrm>
            <a:off x="1005840" y="2057400"/>
            <a:ext cx="566928" cy="566928"/>
          </a:xfrm>
          <a:prstGeom prst="ellipse">
            <a:avLst/>
          </a:prstGeom>
          <a:solidFill>
            <a:srgbClr val="E39A00"/>
          </a:solidFill>
          <a:ln/>
        </p:spPr>
      </p:sp>
      <p:sp>
        <p:nvSpPr>
          <p:cNvPr id="8" name="Text 6"/>
          <p:cNvSpPr/>
          <p:nvPr/>
        </p:nvSpPr>
        <p:spPr>
          <a:xfrm>
            <a:off x="1005840" y="2057400"/>
            <a:ext cx="566928" cy="566928"/>
          </a:xfrm>
          <a:prstGeom prst="rect">
            <a:avLst/>
          </a:prstGeom>
          <a:noFill/>
          <a:ln/>
        </p:spPr>
        <p:txBody>
          <a:bodyPr wrap="square" lIns="0" tIns="0" rIns="0" bIns="0"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a:t>
            </a:r>
            <a:endParaRPr lang="en-US" sz="2400" dirty="0"/>
          </a:p>
        </p:txBody>
      </p:sp>
      <p:sp>
        <p:nvSpPr>
          <p:cNvPr id="9" name="Text 7"/>
          <p:cNvSpPr/>
          <p:nvPr/>
        </p:nvSpPr>
        <p:spPr>
          <a:xfrm>
            <a:off x="1828800" y="1828800"/>
            <a:ext cx="9326880" cy="365760"/>
          </a:xfrm>
          <a:prstGeom prst="rect">
            <a:avLst/>
          </a:prstGeom>
          <a:noFill/>
          <a:ln/>
        </p:spPr>
        <p:txBody>
          <a:bodyPr wrap="square" lIns="0" tIns="0" rIns="0" bIns="0" rtlCol="0" anchor="ctr"/>
          <a:lstStyle/>
          <a:p>
            <a:pPr indent="0" marL="0">
              <a:buNone/>
            </a:pPr>
            <a:r>
              <a:rPr lang="en-US" sz="2000" b="1" dirty="0">
                <a:solidFill>
                  <a:srgbClr val="1B1F2A"/>
                </a:solidFill>
                <a:latin typeface="Cambria" pitchFamily="34" charset="0"/>
                <a:ea typeface="Cambria" pitchFamily="34" charset="-122"/>
                <a:cs typeface="Cambria" pitchFamily="34" charset="-120"/>
              </a:rPr>
              <a:t>"Is CatBoost better?"</a:t>
            </a:r>
            <a:endParaRPr lang="en-US" sz="2000" dirty="0"/>
          </a:p>
        </p:txBody>
      </p:sp>
      <p:sp>
        <p:nvSpPr>
          <p:cNvPr id="10" name="Text 8"/>
          <p:cNvSpPr/>
          <p:nvPr/>
        </p:nvSpPr>
        <p:spPr>
          <a:xfrm>
            <a:off x="1828800" y="2240280"/>
            <a:ext cx="9326880" cy="1280160"/>
          </a:xfrm>
          <a:prstGeom prst="rect">
            <a:avLst/>
          </a:prstGeom>
          <a:noFill/>
          <a:ln/>
        </p:spPr>
        <p:txBody>
          <a:bodyPr wrap="square" lIns="0" tIns="0" rIns="0" bIns="0" rtlCol="0" anchor="ctr"/>
          <a:lstStyle/>
          <a:p>
            <a:pPr indent="0" marL="0">
              <a:lnSpc>
                <a:spcPts val="1900"/>
              </a:lnSpc>
              <a:buNone/>
            </a:pPr>
            <a:r>
              <a:rPr lang="en-US" sz="1400" dirty="0">
                <a:solidFill>
                  <a:srgbClr val="4A5163"/>
                </a:solidFill>
                <a:latin typeface="Calibri" pitchFamily="34" charset="0"/>
                <a:ea typeface="Calibri" pitchFamily="34" charset="-122"/>
                <a:cs typeface="Calibri" pitchFamily="34" charset="-120"/>
              </a:rPr>
              <a:t>Run head to head on the same split: CatBoost 0.7897, our tree model 0.7900. Three ten-thousandths apart — far below the noise floor.</a:t>
            </a:r>
            <a:endParaRPr lang="en-US" sz="1400" dirty="0"/>
          </a:p>
          <a:p>
            <a:pPr indent="0" marL="0">
              <a:lnSpc>
                <a:spcPts val="1900"/>
              </a:lnSpc>
              <a:buNone/>
            </a:pPr>
            <a:endParaRPr lang="en-US" sz="1400" dirty="0"/>
          </a:p>
          <a:p>
            <a:pPr indent="0" marL="0">
              <a:lnSpc>
                <a:spcPts val="1900"/>
              </a:lnSpc>
              <a:buNone/>
            </a:pPr>
            <a:r>
              <a:rPr lang="en-US" sz="1400" dirty="0">
                <a:solidFill>
                  <a:srgbClr val="4A5163"/>
                </a:solidFill>
                <a:latin typeface="Calibri" pitchFamily="34" charset="0"/>
                <a:ea typeface="Calibri" pitchFamily="34" charset="-122"/>
                <a:cs typeface="Calibri" pitchFamily="34" charset="-120"/>
              </a:rPr>
              <a:t>Its real advantage is handling text categories on its own, and this file has one text column with three values. Not a reason to switch, and not a reason to dismiss it either. It is now a tested claim instead of a rumour, and that distinction is the whole point.</a:t>
            </a:r>
            <a:endParaRPr lang="en-US" sz="1400" dirty="0"/>
          </a:p>
        </p:txBody>
      </p:sp>
      <p:sp>
        <p:nvSpPr>
          <p:cNvPr id="11" name="Shape 9"/>
          <p:cNvSpPr/>
          <p:nvPr/>
        </p:nvSpPr>
        <p:spPr>
          <a:xfrm>
            <a:off x="685800" y="3840480"/>
            <a:ext cx="10789920" cy="2011680"/>
          </a:xfrm>
          <a:prstGeom prst="roundRect">
            <a:avLst>
              <a:gd name="adj" fmla="val 3636"/>
            </a:avLst>
          </a:prstGeom>
          <a:solidFill>
            <a:srgbClr val="1E2761"/>
          </a:solidFill>
          <a:ln w="12700">
            <a:solidFill>
              <a:srgbClr val="1E2761"/>
            </a:solidFill>
            <a:prstDash val="solid"/>
          </a:ln>
        </p:spPr>
      </p:sp>
      <p:sp>
        <p:nvSpPr>
          <p:cNvPr id="12" name="Shape 10"/>
          <p:cNvSpPr/>
          <p:nvPr/>
        </p:nvSpPr>
        <p:spPr>
          <a:xfrm>
            <a:off x="1005840" y="4297680"/>
            <a:ext cx="566928" cy="566928"/>
          </a:xfrm>
          <a:prstGeom prst="ellipse">
            <a:avLst/>
          </a:prstGeom>
          <a:solidFill>
            <a:srgbClr val="E39A00"/>
          </a:solidFill>
          <a:ln/>
        </p:spPr>
      </p:sp>
      <p:sp>
        <p:nvSpPr>
          <p:cNvPr id="13" name="Text 11"/>
          <p:cNvSpPr/>
          <p:nvPr/>
        </p:nvSpPr>
        <p:spPr>
          <a:xfrm>
            <a:off x="1005840" y="4297680"/>
            <a:ext cx="566928" cy="566928"/>
          </a:xfrm>
          <a:prstGeom prst="rect">
            <a:avLst/>
          </a:prstGeom>
          <a:noFill/>
          <a:ln/>
        </p:spPr>
        <p:txBody>
          <a:bodyPr wrap="square" lIns="0" tIns="0" rIns="0" bIns="0" rtlCol="0" anchor="ctr"/>
          <a:lstStyle/>
          <a:p>
            <a:pPr algn="ctr" indent="0" marL="0">
              <a:buNone/>
            </a:pPr>
            <a:r>
              <a:rPr lang="en-US" sz="2400" b="1" dirty="0">
                <a:solidFill>
                  <a:srgbClr val="1E2761"/>
                </a:solidFill>
                <a:latin typeface="Cambria" pitchFamily="34" charset="0"/>
                <a:ea typeface="Cambria" pitchFamily="34" charset="-122"/>
                <a:cs typeface="Cambria" pitchFamily="34" charset="-120"/>
              </a:rPr>
              <a:t>?</a:t>
            </a:r>
            <a:endParaRPr lang="en-US" sz="2400" dirty="0"/>
          </a:p>
        </p:txBody>
      </p:sp>
      <p:sp>
        <p:nvSpPr>
          <p:cNvPr id="14" name="Text 12"/>
          <p:cNvSpPr/>
          <p:nvPr/>
        </p:nvSpPr>
        <p:spPr>
          <a:xfrm>
            <a:off x="1828800" y="4069080"/>
            <a:ext cx="93268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"Have you tried Adam?"</a:t>
            </a:r>
            <a:endParaRPr lang="en-US" sz="2000" dirty="0"/>
          </a:p>
        </p:txBody>
      </p:sp>
      <p:sp>
        <p:nvSpPr>
          <p:cNvPr id="15" name="Text 13"/>
          <p:cNvSpPr/>
          <p:nvPr/>
        </p:nvSpPr>
        <p:spPr>
          <a:xfrm>
            <a:off x="1828800" y="4480560"/>
            <a:ext cx="9326880" cy="1280160"/>
          </a:xfrm>
          <a:prstGeom prst="rect">
            <a:avLst/>
          </a:prstGeom>
          <a:noFill/>
          <a:ln/>
        </p:spPr>
        <p:txBody>
          <a:bodyPr wrap="square" lIns="0" tIns="0" rIns="0" bIns="0" rtlCol="0" anchor="ctr"/>
          <a:lstStyle/>
          <a:p>
            <a:pPr indent="0" marL="0">
              <a:lnSpc>
                <a:spcPts val="1900"/>
              </a:lnSpc>
              <a:buNone/>
            </a:pPr>
            <a:r>
              <a:rPr lang="en-US" sz="1400" dirty="0">
                <a:solidFill>
                  <a:srgbClr val="C3CCE4"/>
                </a:solidFill>
                <a:latin typeface="Calibri" pitchFamily="34" charset="0"/>
                <a:ea typeface="Calibri" pitchFamily="34" charset="-122"/>
                <a:cs typeface="Calibri" pitchFamily="34" charset="-120"/>
              </a:rPr>
              <a:t>Adam is a tuning method for neural networks — it nudges a model's internal weights step by step. Neither of our models has weights that work that way: one is solved directly in a single calculation, the other builds trees in sequence, each correcting the last.</a:t>
            </a:r>
            <a:endParaRPr lang="en-US" sz="1400" dirty="0"/>
          </a:p>
          <a:p>
            <a:pPr indent="0" marL="0">
              <a:lnSpc>
                <a:spcPts val="1900"/>
              </a:lnSpc>
              <a:buNone/>
            </a:pPr>
            <a:endParaRPr lang="en-US" sz="1400" dirty="0"/>
          </a:p>
          <a:p>
            <a:pPr indent="0" marL="0">
              <a:lnSpc>
                <a:spcPts val="1900"/>
              </a:lnSpc>
              <a:buNone/>
            </a:pPr>
            <a:r>
              <a:rPr lang="en-US" sz="1400" dirty="0">
                <a:solidFill>
                  <a:srgbClr val="C3CCE4"/>
                </a:solidFill>
                <a:latin typeface="Calibri" pitchFamily="34" charset="0"/>
                <a:ea typeface="Calibri" pitchFamily="34" charset="-122"/>
                <a:cs typeface="Calibri" pitchFamily="34" charset="-120"/>
              </a:rPr>
              <a:t>The equivalent for our models is searching their settings automatically. We ran that instead — and it produced the second-largest gain in the whole project.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Step three — tuning the settings</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Forty combinations, five folds each, chosen at random rather than in a grid</a:t>
            </a:r>
            <a:endParaRPr lang="en-US" sz="1500" dirty="0"/>
          </a:p>
        </p:txBody>
      </p:sp>
      <p:sp>
        <p:nvSpPr>
          <p:cNvPr id="6" name="Shape 4"/>
          <p:cNvSpPr/>
          <p:nvPr/>
        </p:nvSpPr>
        <p:spPr>
          <a:xfrm>
            <a:off x="685800" y="1600200"/>
            <a:ext cx="5257800" cy="2148840"/>
          </a:xfrm>
          <a:prstGeom prst="roundRect">
            <a:avLst>
              <a:gd name="adj" fmla="val 3404"/>
            </a:avLst>
          </a:prstGeom>
          <a:solidFill>
            <a:srgbClr val="F4F6FB"/>
          </a:solidFill>
          <a:ln w="12700">
            <a:solidFill>
              <a:srgbClr val="F4F6FB"/>
            </a:solidFill>
            <a:prstDash val="solid"/>
          </a:ln>
        </p:spPr>
      </p:sp>
      <p:sp>
        <p:nvSpPr>
          <p:cNvPr id="7" name="Text 5"/>
          <p:cNvSpPr/>
          <p:nvPr/>
        </p:nvSpPr>
        <p:spPr>
          <a:xfrm>
            <a:off x="1005840" y="1764792"/>
            <a:ext cx="4663440" cy="292608"/>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Why random rather than every combination</a:t>
            </a:r>
            <a:endParaRPr lang="en-US" sz="1600" dirty="0"/>
          </a:p>
        </p:txBody>
      </p:sp>
      <p:sp>
        <p:nvSpPr>
          <p:cNvPr id="8" name="Text 6"/>
          <p:cNvSpPr/>
          <p:nvPr/>
        </p:nvSpPr>
        <p:spPr>
          <a:xfrm>
            <a:off x="1005840" y="2103120"/>
            <a:ext cx="4663440" cy="1508760"/>
          </a:xfrm>
          <a:prstGeom prst="rect">
            <a:avLst/>
          </a:prstGeom>
          <a:noFill/>
          <a:ln/>
        </p:spPr>
        <p:txBody>
          <a:bodyPr wrap="square" lIns="0" tIns="0" rIns="0" bIns="0" rtlCol="0" anchor="ctr"/>
          <a:lstStyle/>
          <a:p>
            <a:pPr indent="0" marL="0">
              <a:lnSpc>
                <a:spcPts val="1700"/>
              </a:lnSpc>
              <a:buNone/>
            </a:pPr>
            <a:r>
              <a:rPr lang="en-US" sz="1300" dirty="0">
                <a:solidFill>
                  <a:srgbClr val="4A5163"/>
                </a:solidFill>
                <a:latin typeface="Calibri" pitchFamily="34" charset="0"/>
                <a:ea typeface="Calibri" pitchFamily="34" charset="-122"/>
                <a:cs typeface="Calibri" pitchFamily="34" charset="-120"/>
              </a:rPr>
              <a:t>A grid tries everything and spends most of its time on settings that were never going to matter. A random search covers far more ground in the same time.</a:t>
            </a:r>
            <a:endParaRPr lang="en-US" sz="1300" dirty="0"/>
          </a:p>
          <a:p>
            <a:pPr indent="0" marL="0">
              <a:lnSpc>
                <a:spcPts val="1700"/>
              </a:lnSpc>
              <a:buNone/>
            </a:pPr>
            <a:endParaRPr lang="en-US" sz="1300" dirty="0"/>
          </a:p>
          <a:p>
            <a:pPr indent="0" marL="0">
              <a:lnSpc>
                <a:spcPts val="1700"/>
              </a:lnSpc>
              <a:buNone/>
            </a:pPr>
            <a:r>
              <a:rPr lang="en-US" sz="1300" dirty="0">
                <a:solidFill>
                  <a:srgbClr val="4A5163"/>
                </a:solidFill>
                <a:latin typeface="Calibri" pitchFamily="34" charset="0"/>
                <a:ea typeface="Calibri" pitchFamily="34" charset="-122"/>
                <a:cs typeface="Calibri" pitchFamily="34" charset="-120"/>
              </a:rPr>
              <a:t>We also searched how hard to trim the extreme values, alongside the model's own settings — treating a data choice as something to measure rather than guess.</a:t>
            </a:r>
            <a:endParaRPr lang="en-US" sz="1300" dirty="0"/>
          </a:p>
        </p:txBody>
      </p:sp>
      <p:sp>
        <p:nvSpPr>
          <p:cNvPr id="9" name="Shape 7"/>
          <p:cNvSpPr/>
          <p:nvPr/>
        </p:nvSpPr>
        <p:spPr>
          <a:xfrm>
            <a:off x="6217920" y="1600200"/>
            <a:ext cx="5257800" cy="2148840"/>
          </a:xfrm>
          <a:prstGeom prst="roundRect">
            <a:avLst>
              <a:gd name="adj" fmla="val 3404"/>
            </a:avLst>
          </a:prstGeom>
          <a:solidFill>
            <a:srgbClr val="1E2761"/>
          </a:solidFill>
          <a:ln w="12700">
            <a:solidFill>
              <a:srgbClr val="1E2761"/>
            </a:solidFill>
            <a:prstDash val="solid"/>
          </a:ln>
        </p:spPr>
      </p:sp>
      <p:sp>
        <p:nvSpPr>
          <p:cNvPr id="10" name="Text 8"/>
          <p:cNvSpPr/>
          <p:nvPr/>
        </p:nvSpPr>
        <p:spPr>
          <a:xfrm>
            <a:off x="6537960" y="1764792"/>
            <a:ext cx="4663440" cy="292608"/>
          </a:xfrm>
          <a:prstGeom prst="rect">
            <a:avLst/>
          </a:prstGeom>
          <a:noFill/>
          <a:ln/>
        </p:spPr>
        <p:txBody>
          <a:bodyPr wrap="square" lIns="0" tIns="0" rIns="0" bIns="0" rtlCol="0" anchor="ctr"/>
          <a:lstStyle/>
          <a:p>
            <a:pPr indent="0" marL="0">
              <a:buNone/>
            </a:pPr>
            <a:r>
              <a:rPr lang="en-US" sz="1600" b="1" dirty="0">
                <a:solidFill>
                  <a:srgbClr val="E39A00"/>
                </a:solidFill>
                <a:latin typeface="Cambria" pitchFamily="34" charset="0"/>
                <a:ea typeface="Cambria" pitchFamily="34" charset="-122"/>
                <a:cs typeface="Cambria" pitchFamily="34" charset="-120"/>
              </a:rPr>
              <a:t>What it bought, on the tree model</a:t>
            </a:r>
            <a:endParaRPr lang="en-US" sz="1600" dirty="0"/>
          </a:p>
        </p:txBody>
      </p:sp>
      <p:sp>
        <p:nvSpPr>
          <p:cNvPr id="11" name="Text 9"/>
          <p:cNvSpPr/>
          <p:nvPr/>
        </p:nvSpPr>
        <p:spPr>
          <a:xfrm>
            <a:off x="6537960" y="2130552"/>
            <a:ext cx="466344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0.7921 → 0.8052</a:t>
            </a:r>
            <a:endParaRPr lang="en-US" sz="2600" dirty="0"/>
          </a:p>
        </p:txBody>
      </p:sp>
      <p:sp>
        <p:nvSpPr>
          <p:cNvPr id="12" name="Text 10"/>
          <p:cNvSpPr/>
          <p:nvPr/>
        </p:nvSpPr>
        <p:spPr>
          <a:xfrm>
            <a:off x="6537960" y="2615184"/>
            <a:ext cx="4663440" cy="228600"/>
          </a:xfrm>
          <a:prstGeom prst="rect">
            <a:avLst/>
          </a:prstGeom>
          <a:noFill/>
          <a:ln/>
        </p:spPr>
        <p:txBody>
          <a:bodyPr wrap="square" lIns="0" tIns="0" rIns="0" bIns="0" rtlCol="0" anchor="ctr"/>
          <a:lstStyle/>
          <a:p>
            <a:pPr indent="0" marL="0">
              <a:buNone/>
            </a:pPr>
            <a:r>
              <a:rPr lang="en-US" sz="1100" dirty="0">
                <a:solidFill>
                  <a:srgbClr val="8891A4"/>
                </a:solidFill>
                <a:latin typeface="Calibri" pitchFamily="34" charset="0"/>
                <a:ea typeface="Calibri" pitchFamily="34" charset="-122"/>
                <a:cs typeface="Calibri" pitchFamily="34" charset="-120"/>
              </a:rPr>
              <a:t>AUC</a:t>
            </a:r>
            <a:endParaRPr lang="en-US" sz="1100" dirty="0"/>
          </a:p>
        </p:txBody>
      </p:sp>
      <p:sp>
        <p:nvSpPr>
          <p:cNvPr id="13" name="Text 11"/>
          <p:cNvSpPr/>
          <p:nvPr/>
        </p:nvSpPr>
        <p:spPr>
          <a:xfrm>
            <a:off x="6537960" y="2880360"/>
            <a:ext cx="466344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0.5236 → 0.5436</a:t>
            </a:r>
            <a:endParaRPr lang="en-US" sz="2600" dirty="0"/>
          </a:p>
        </p:txBody>
      </p:sp>
      <p:sp>
        <p:nvSpPr>
          <p:cNvPr id="14" name="Text 12"/>
          <p:cNvSpPr/>
          <p:nvPr/>
        </p:nvSpPr>
        <p:spPr>
          <a:xfrm>
            <a:off x="6537960" y="3364992"/>
            <a:ext cx="4663440" cy="228600"/>
          </a:xfrm>
          <a:prstGeom prst="rect">
            <a:avLst/>
          </a:prstGeom>
          <a:noFill/>
          <a:ln/>
        </p:spPr>
        <p:txBody>
          <a:bodyPr wrap="square" lIns="0" tIns="0" rIns="0" bIns="0" rtlCol="0" anchor="ctr"/>
          <a:lstStyle/>
          <a:p>
            <a:pPr indent="0" marL="0">
              <a:buNone/>
            </a:pPr>
            <a:r>
              <a:rPr lang="en-US" sz="1100" dirty="0">
                <a:solidFill>
                  <a:srgbClr val="8891A4"/>
                </a:solidFill>
                <a:latin typeface="Calibri" pitchFamily="34" charset="0"/>
                <a:ea typeface="Calibri" pitchFamily="34" charset="-122"/>
                <a:cs typeface="Calibri" pitchFamily="34" charset="-120"/>
              </a:rPr>
              <a:t>F1 — the second-largest gain in the project</a:t>
            </a:r>
            <a:endParaRPr lang="en-US" sz="1100" dirty="0"/>
          </a:p>
        </p:txBody>
      </p:sp>
      <p:sp>
        <p:nvSpPr>
          <p:cNvPr id="15" name="Shape 13"/>
          <p:cNvSpPr/>
          <p:nvPr/>
        </p:nvSpPr>
        <p:spPr>
          <a:xfrm>
            <a:off x="685800" y="3977640"/>
            <a:ext cx="10789920" cy="2103120"/>
          </a:xfrm>
          <a:prstGeom prst="roundRect">
            <a:avLst>
              <a:gd name="adj" fmla="val 3478"/>
            </a:avLst>
          </a:prstGeom>
          <a:solidFill>
            <a:srgbClr val="F4F6FB"/>
          </a:solidFill>
          <a:ln w="12700">
            <a:solidFill>
              <a:srgbClr val="F4F6FB"/>
            </a:solidFill>
            <a:prstDash val="solid"/>
          </a:ln>
        </p:spPr>
      </p:sp>
      <p:sp>
        <p:nvSpPr>
          <p:cNvPr id="16" name="Text 14"/>
          <p:cNvSpPr/>
          <p:nvPr/>
        </p:nvSpPr>
        <p:spPr>
          <a:xfrm>
            <a:off x="1005840" y="4142232"/>
            <a:ext cx="10149840" cy="292608"/>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And the sting in it</a:t>
            </a:r>
            <a:endParaRPr lang="en-US" sz="1700" dirty="0"/>
          </a:p>
        </p:txBody>
      </p:sp>
      <p:sp>
        <p:nvSpPr>
          <p:cNvPr id="17" name="Text 15"/>
          <p:cNvSpPr/>
          <p:nvPr/>
        </p:nvSpPr>
        <p:spPr>
          <a:xfrm>
            <a:off x="1005840" y="4480560"/>
            <a:ext cx="10149840" cy="411480"/>
          </a:xfrm>
          <a:prstGeom prst="rect">
            <a:avLst/>
          </a:prstGeom>
          <a:noFill/>
          <a:ln/>
        </p:spPr>
        <p:txBody>
          <a:bodyPr wrap="square" lIns="0" tIns="0" rIns="0" bIns="0" rtlCol="0" anchor="ctr"/>
          <a:lstStyle/>
          <a:p>
            <a:pPr indent="0" marL="0">
              <a:lnSpc>
                <a:spcPts val="1900"/>
              </a:lnSpc>
              <a:buNone/>
            </a:pPr>
            <a:r>
              <a:rPr lang="en-US" sz="1400" dirty="0">
                <a:solidFill>
                  <a:srgbClr val="4A5163"/>
                </a:solidFill>
                <a:latin typeface="Calibri" pitchFamily="34" charset="0"/>
                <a:ea typeface="Calibri" pitchFamily="34" charset="-122"/>
                <a:cs typeface="Calibri" pitchFamily="34" charset="-120"/>
              </a:rPr>
              <a:t>All that tuning brought the powerful model to 0.5436. The simple model reached 0.5434 with no tuning at all, and 0.5501 once tuned.</a:t>
            </a:r>
            <a:endParaRPr lang="en-US" sz="1400" dirty="0"/>
          </a:p>
        </p:txBody>
      </p:sp>
      <p:sp>
        <p:nvSpPr>
          <p:cNvPr id="18" name="Text 16"/>
          <p:cNvSpPr/>
          <p:nvPr/>
        </p:nvSpPr>
        <p:spPr>
          <a:xfrm>
            <a:off x="1005840" y="4937760"/>
            <a:ext cx="10149840" cy="640080"/>
          </a:xfrm>
          <a:prstGeom prst="rect">
            <a:avLst/>
          </a:prstGeom>
          <a:noFill/>
          <a:ln/>
        </p:spPr>
        <p:txBody>
          <a:bodyPr wrap="square" lIns="0" tIns="0" rIns="0" bIns="0" rtlCol="0" anchor="ctr"/>
          <a:lstStyle/>
          <a:p>
            <a:pPr indent="0" marL="0">
              <a:lnSpc>
                <a:spcPts val="1900"/>
              </a:lnSpc>
              <a:buNone/>
            </a:pPr>
            <a:r>
              <a:rPr lang="en-US" sz="1400" dirty="0">
                <a:solidFill>
                  <a:srgbClr val="4A5163"/>
                </a:solidFill>
                <a:latin typeface="Calibri" pitchFamily="34" charset="0"/>
                <a:ea typeface="Calibri" pitchFamily="34" charset="-122"/>
                <a:cs typeface="Calibri" pitchFamily="34" charset="-120"/>
              </a:rPr>
              <a:t>On the simple model there is far less to tune — it has one real setting rather than six. Most of the effort in this chapter went into a model we did not end up using, and running it was the only way to find that out.</a:t>
            </a:r>
            <a:endParaRPr lang="en-US" sz="1400" dirty="0"/>
          </a:p>
        </p:txBody>
      </p:sp>
      <p:sp>
        <p:nvSpPr>
          <p:cNvPr id="19" name="Text 17"/>
          <p:cNvSpPr/>
          <p:nvPr/>
        </p:nvSpPr>
        <p:spPr>
          <a:xfrm>
            <a:off x="1005840" y="5596128"/>
            <a:ext cx="10149840" cy="365760"/>
          </a:xfrm>
          <a:prstGeom prst="rect">
            <a:avLst/>
          </a:prstGeom>
          <a:noFill/>
          <a:ln/>
        </p:spPr>
        <p:txBody>
          <a:bodyPr wrap="square" lIns="0" tIns="0" rIns="0" bIns="0" rtlCol="0" anchor="ctr"/>
          <a:lstStyle/>
          <a:p>
            <a:pPr indent="0" marL="0">
              <a:buNone/>
            </a:pPr>
            <a:r>
              <a:rPr lang="en-US" sz="1250" i="1" dirty="0">
                <a:solidFill>
                  <a:srgbClr val="8891A4"/>
                </a:solidFill>
                <a:latin typeface="Calibri" pitchFamily="34" charset="0"/>
                <a:ea typeface="Calibri" pitchFamily="34" charset="-122"/>
                <a:cs typeface="Calibri" pitchFamily="34" charset="-120"/>
              </a:rPr>
              <a:t>Géron: "Unless there are very few hyperparameter values to explore, prefer random search over grid search."</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Step four — do the two models work better together?</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Averaging two models usually helps. We tested seven mixtures</a:t>
            </a:r>
            <a:endParaRPr lang="en-US" sz="1500" dirty="0"/>
          </a:p>
        </p:txBody>
      </p:sp>
      <p:graphicFrame>
        <p:nvGraphicFramePr>
          <p:cNvPr id="6" name="Chart 0" descr=""/>
          <p:cNvGraphicFramePr/>
          <p:nvPr/>
        </p:nvGraphicFramePr>
        <p:xfrm>
          <a:off x="685800" y="1645920"/>
          <a:ext cx="6675120" cy="4114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80960" y="1645920"/>
            <a:ext cx="3794760" cy="2148840"/>
          </a:xfrm>
          <a:prstGeom prst="roundRect">
            <a:avLst>
              <a:gd name="adj" fmla="val 3404"/>
            </a:avLst>
          </a:prstGeom>
          <a:solidFill>
            <a:srgbClr val="1E2761"/>
          </a:solidFill>
          <a:ln w="12700">
            <a:solidFill>
              <a:srgbClr val="1E2761"/>
            </a:solidFill>
            <a:prstDash val="solid"/>
          </a:ln>
        </p:spPr>
      </p:sp>
      <p:sp>
        <p:nvSpPr>
          <p:cNvPr id="8" name="Text 5"/>
          <p:cNvSpPr/>
          <p:nvPr/>
        </p:nvSpPr>
        <p:spPr>
          <a:xfrm>
            <a:off x="8001000" y="1810512"/>
            <a:ext cx="3200400" cy="640080"/>
          </a:xfrm>
          <a:prstGeom prst="rect">
            <a:avLst/>
          </a:prstGeom>
          <a:noFill/>
          <a:ln/>
        </p:spPr>
        <p:txBody>
          <a:bodyPr wrap="square" lIns="0" tIns="0" rIns="0" bIns="0" rtlCol="0" anchor="ctr"/>
          <a:lstStyle/>
          <a:p>
            <a:pPr indent="0" marL="0">
              <a:buNone/>
            </a:pPr>
            <a:r>
              <a:rPr lang="en-US" sz="4000" b="1" dirty="0">
                <a:solidFill>
                  <a:srgbClr val="E39A00"/>
                </a:solidFill>
                <a:latin typeface="Cambria" pitchFamily="34" charset="0"/>
                <a:ea typeface="Cambria" pitchFamily="34" charset="-122"/>
                <a:cs typeface="Cambria" pitchFamily="34" charset="-120"/>
              </a:rPr>
              <a:t>0.978</a:t>
            </a:r>
            <a:endParaRPr lang="en-US" sz="4000" dirty="0"/>
          </a:p>
        </p:txBody>
      </p:sp>
      <p:sp>
        <p:nvSpPr>
          <p:cNvPr id="9" name="Text 6"/>
          <p:cNvSpPr/>
          <p:nvPr/>
        </p:nvSpPr>
        <p:spPr>
          <a:xfrm>
            <a:off x="8001000" y="2450592"/>
            <a:ext cx="3200400" cy="457200"/>
          </a:xfrm>
          <a:prstGeom prst="rect">
            <a:avLst/>
          </a:prstGeom>
          <a:noFill/>
          <a:ln/>
        </p:spPr>
        <p:txBody>
          <a:bodyPr wrap="square" lIns="0" tIns="0" rIns="0" bIns="0" rtlCol="0" anchor="ctr"/>
          <a:lstStyle/>
          <a:p>
            <a:pPr indent="0" marL="0">
              <a:lnSpc>
                <a:spcPts val="1600"/>
              </a:lnSpc>
              <a:buNone/>
            </a:pPr>
            <a:r>
              <a:rPr lang="en-US" sz="1250" dirty="0">
                <a:solidFill>
                  <a:srgbClr val="C3CCE4"/>
                </a:solidFill>
                <a:latin typeface="Calibri" pitchFamily="34" charset="0"/>
                <a:ea typeface="Calibri" pitchFamily="34" charset="-122"/>
                <a:cs typeface="Calibri" pitchFamily="34" charset="-120"/>
              </a:rPr>
              <a:t>how closely the two models' predictions agree</a:t>
            </a:r>
            <a:endParaRPr lang="en-US" sz="1250" dirty="0"/>
          </a:p>
        </p:txBody>
      </p:sp>
      <p:sp>
        <p:nvSpPr>
          <p:cNvPr id="10" name="Text 7"/>
          <p:cNvSpPr/>
          <p:nvPr/>
        </p:nvSpPr>
        <p:spPr>
          <a:xfrm>
            <a:off x="8001000" y="2944368"/>
            <a:ext cx="3200400" cy="731520"/>
          </a:xfrm>
          <a:prstGeom prst="rect">
            <a:avLst/>
          </a:prstGeom>
          <a:noFill/>
          <a:ln/>
        </p:spPr>
        <p:txBody>
          <a:bodyPr wrap="square" lIns="0" tIns="0" rIns="0" bIns="0" rtlCol="0" anchor="ctr"/>
          <a:lstStyle/>
          <a:p>
            <a:pPr indent="0" marL="0">
              <a:lnSpc>
                <a:spcPts val="1700"/>
              </a:lnSpc>
              <a:buNone/>
            </a:pPr>
            <a:r>
              <a:rPr lang="en-US" sz="1250" dirty="0">
                <a:solidFill>
                  <a:srgbClr val="C3CCE4"/>
                </a:solidFill>
                <a:latin typeface="Calibri" pitchFamily="34" charset="0"/>
                <a:ea typeface="Calibri" pitchFamily="34" charset="-122"/>
                <a:cs typeface="Calibri" pitchFamily="34" charset="-120"/>
              </a:rPr>
              <a:t>They make the same mistakes on the same customers. Averaging two models that fail identically adds nothing.</a:t>
            </a:r>
            <a:endParaRPr lang="en-US" sz="1250" dirty="0"/>
          </a:p>
        </p:txBody>
      </p:sp>
      <p:sp>
        <p:nvSpPr>
          <p:cNvPr id="11" name="Shape 8"/>
          <p:cNvSpPr/>
          <p:nvPr/>
        </p:nvSpPr>
        <p:spPr>
          <a:xfrm>
            <a:off x="7680960" y="3931920"/>
            <a:ext cx="3794760" cy="1828800"/>
          </a:xfrm>
          <a:prstGeom prst="roundRect">
            <a:avLst>
              <a:gd name="adj" fmla="val 4000"/>
            </a:avLst>
          </a:prstGeom>
          <a:solidFill>
            <a:srgbClr val="F4F6FB"/>
          </a:solidFill>
          <a:ln w="12700">
            <a:solidFill>
              <a:srgbClr val="F4F6FB"/>
            </a:solidFill>
            <a:prstDash val="solid"/>
          </a:ln>
        </p:spPr>
      </p:sp>
      <p:sp>
        <p:nvSpPr>
          <p:cNvPr id="12" name="Text 9"/>
          <p:cNvSpPr/>
          <p:nvPr/>
        </p:nvSpPr>
        <p:spPr>
          <a:xfrm>
            <a:off x="8001000" y="4096512"/>
            <a:ext cx="3200400" cy="292608"/>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The best mixture was no mixture</a:t>
            </a:r>
            <a:endParaRPr lang="en-US" sz="1600" dirty="0"/>
          </a:p>
        </p:txBody>
      </p:sp>
      <p:sp>
        <p:nvSpPr>
          <p:cNvPr id="13" name="Text 10"/>
          <p:cNvSpPr/>
          <p:nvPr/>
        </p:nvSpPr>
        <p:spPr>
          <a:xfrm>
            <a:off x="8001000" y="4425696"/>
            <a:ext cx="3200400" cy="118872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The line climbs steadily to 100% simple model. Every blend scored below using the simple model alone.</a:t>
            </a:r>
            <a:endParaRPr lang="en-US" sz="1250" dirty="0"/>
          </a:p>
          <a:p>
            <a:pPr indent="0" marL="0">
              <a:lnSpc>
                <a:spcPts val="1600"/>
              </a:lnSpc>
              <a:buNone/>
            </a:pPr>
            <a:endParaRPr lang="en-US" sz="1250" dirty="0"/>
          </a:p>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Géron's rule is to prefer models that fail differently. These do not.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Step five — the four-to-one imbalance</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The standard fix, and why we did not use it</a:t>
            </a:r>
            <a:endParaRPr lang="en-US" sz="1500" dirty="0"/>
          </a:p>
        </p:txBody>
      </p:sp>
      <p:sp>
        <p:nvSpPr>
          <p:cNvPr id="6" name="Shape 4"/>
          <p:cNvSpPr/>
          <p:nvPr/>
        </p:nvSpPr>
        <p:spPr>
          <a:xfrm>
            <a:off x="685800" y="1554480"/>
            <a:ext cx="10789920" cy="1005840"/>
          </a:xfrm>
          <a:prstGeom prst="roundRect">
            <a:avLst>
              <a:gd name="adj" fmla="val 7273"/>
            </a:avLst>
          </a:prstGeom>
          <a:solidFill>
            <a:srgbClr val="F4F6FB"/>
          </a:solidFill>
          <a:ln w="12700">
            <a:solidFill>
              <a:srgbClr val="F4F6FB"/>
            </a:solidFill>
            <a:prstDash val="solid"/>
          </a:ln>
        </p:spPr>
      </p:sp>
      <p:sp>
        <p:nvSpPr>
          <p:cNvPr id="7" name="Text 5"/>
          <p:cNvSpPr/>
          <p:nvPr/>
        </p:nvSpPr>
        <p:spPr>
          <a:xfrm>
            <a:off x="1005840" y="1554480"/>
            <a:ext cx="10149840" cy="1005840"/>
          </a:xfrm>
          <a:prstGeom prst="rect">
            <a:avLst/>
          </a:prstGeom>
          <a:noFill/>
          <a:ln/>
        </p:spPr>
        <p:txBody>
          <a:bodyPr wrap="square" lIns="0" tIns="0" rIns="0" bIns="0" rtlCol="0" anchor="ctr"/>
          <a:lstStyle/>
          <a:p>
            <a:pPr indent="0" marL="0">
              <a:lnSpc>
                <a:spcPts val="2000"/>
              </a:lnSpc>
              <a:buNone/>
            </a:pPr>
            <a:r>
              <a:rPr lang="en-US" sz="1450" dirty="0">
                <a:solidFill>
                  <a:srgbClr val="4A5163"/>
                </a:solidFill>
                <a:latin typeface="Calibri" pitchFamily="34" charset="0"/>
                <a:ea typeface="Calibri" pitchFamily="34" charset="-122"/>
                <a:cs typeface="Calibri" pitchFamily="34" charset="-120"/>
              </a:rPr>
              <a:t>6,803 customers stayed and 1,697 closed. The usual answer is to tell the model each leaver counts four times as much. We tried weights of 1, 2 and 4.</a:t>
            </a:r>
            <a:endParaRPr lang="en-US" sz="1450" dirty="0"/>
          </a:p>
        </p:txBody>
      </p:sp>
      <p:sp>
        <p:nvSpPr>
          <p:cNvPr id="8" name="Text 6"/>
          <p:cNvSpPr/>
          <p:nvPr/>
        </p:nvSpPr>
        <p:spPr>
          <a:xfrm>
            <a:off x="960120" y="2697480"/>
            <a:ext cx="6309360" cy="274320"/>
          </a:xfrm>
          <a:prstGeom prst="rect">
            <a:avLst/>
          </a:prstGeom>
          <a:noFill/>
          <a:ln/>
        </p:spPr>
        <p:txBody>
          <a:bodyPr wrap="square" lIns="0" tIns="0" rIns="0" bIns="0" rtlCol="0" anchor="ctr"/>
          <a:lstStyle/>
          <a:p>
            <a:pPr indent="0" marL="0">
              <a:buNone/>
            </a:pPr>
            <a:endParaRPr lang="en-US" sz="1100" dirty="0"/>
          </a:p>
        </p:txBody>
      </p:sp>
      <p:sp>
        <p:nvSpPr>
          <p:cNvPr id="9" name="Text 7"/>
          <p:cNvSpPr/>
          <p:nvPr/>
        </p:nvSpPr>
        <p:spPr>
          <a:xfrm>
            <a:off x="7315200" y="2697480"/>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AUC</a:t>
            </a:r>
            <a:endParaRPr lang="en-US" sz="1100" dirty="0"/>
          </a:p>
        </p:txBody>
      </p:sp>
      <p:sp>
        <p:nvSpPr>
          <p:cNvPr id="10" name="Text 8"/>
          <p:cNvSpPr/>
          <p:nvPr/>
        </p:nvSpPr>
        <p:spPr>
          <a:xfrm>
            <a:off x="8458200" y="2697480"/>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F1</a:t>
            </a:r>
            <a:endParaRPr lang="en-US" sz="1100" dirty="0"/>
          </a:p>
        </p:txBody>
      </p:sp>
      <p:sp>
        <p:nvSpPr>
          <p:cNvPr id="11" name="Shape 9"/>
          <p:cNvSpPr/>
          <p:nvPr/>
        </p:nvSpPr>
        <p:spPr>
          <a:xfrm>
            <a:off x="685800" y="3008376"/>
            <a:ext cx="10789920" cy="512064"/>
          </a:xfrm>
          <a:prstGeom prst="roundRect">
            <a:avLst>
              <a:gd name="adj" fmla="val 14286"/>
            </a:avLst>
          </a:prstGeom>
          <a:solidFill>
            <a:srgbClr val="F4F6FB"/>
          </a:solidFill>
          <a:ln w="12700">
            <a:solidFill>
              <a:srgbClr val="F4F6FB"/>
            </a:solidFill>
            <a:prstDash val="solid"/>
          </a:ln>
        </p:spPr>
      </p:sp>
      <p:sp>
        <p:nvSpPr>
          <p:cNvPr id="12" name="Text 10"/>
          <p:cNvSpPr/>
          <p:nvPr/>
        </p:nvSpPr>
        <p:spPr>
          <a:xfrm>
            <a:off x="960120" y="3008376"/>
            <a:ext cx="6309360" cy="512064"/>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No weighting at all</a:t>
            </a:r>
            <a:endParaRPr lang="en-US" sz="1300" dirty="0"/>
          </a:p>
        </p:txBody>
      </p:sp>
      <p:sp>
        <p:nvSpPr>
          <p:cNvPr id="13" name="Text 11"/>
          <p:cNvSpPr/>
          <p:nvPr/>
        </p:nvSpPr>
        <p:spPr>
          <a:xfrm>
            <a:off x="7315200" y="3008376"/>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0.7921</a:t>
            </a:r>
            <a:endParaRPr lang="en-US" sz="1500" dirty="0"/>
          </a:p>
        </p:txBody>
      </p:sp>
      <p:sp>
        <p:nvSpPr>
          <p:cNvPr id="14" name="Text 12"/>
          <p:cNvSpPr/>
          <p:nvPr/>
        </p:nvSpPr>
        <p:spPr>
          <a:xfrm>
            <a:off x="8458200" y="3008376"/>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0.5236</a:t>
            </a:r>
            <a:endParaRPr lang="en-US" sz="1500" dirty="0"/>
          </a:p>
        </p:txBody>
      </p:sp>
      <p:sp>
        <p:nvSpPr>
          <p:cNvPr id="15" name="Text 13"/>
          <p:cNvSpPr/>
          <p:nvPr/>
        </p:nvSpPr>
        <p:spPr>
          <a:xfrm>
            <a:off x="9692640" y="3008376"/>
            <a:ext cx="1600200" cy="512064"/>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best cut 0.26</a:t>
            </a:r>
            <a:endParaRPr lang="en-US" sz="1050" dirty="0"/>
          </a:p>
        </p:txBody>
      </p:sp>
      <p:sp>
        <p:nvSpPr>
          <p:cNvPr id="16" name="Shape 14"/>
          <p:cNvSpPr/>
          <p:nvPr/>
        </p:nvSpPr>
        <p:spPr>
          <a:xfrm>
            <a:off x="685800" y="3593592"/>
            <a:ext cx="10789920" cy="512064"/>
          </a:xfrm>
          <a:prstGeom prst="roundRect">
            <a:avLst>
              <a:gd name="adj" fmla="val 14286"/>
            </a:avLst>
          </a:prstGeom>
          <a:solidFill>
            <a:srgbClr val="F4F6FB"/>
          </a:solidFill>
          <a:ln w="12700">
            <a:solidFill>
              <a:srgbClr val="F4F6FB"/>
            </a:solidFill>
            <a:prstDash val="solid"/>
          </a:ln>
        </p:spPr>
      </p:sp>
      <p:sp>
        <p:nvSpPr>
          <p:cNvPr id="17" name="Text 15"/>
          <p:cNvSpPr/>
          <p:nvPr/>
        </p:nvSpPr>
        <p:spPr>
          <a:xfrm>
            <a:off x="960120" y="3593592"/>
            <a:ext cx="6309360" cy="512064"/>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Each leaver counts double</a:t>
            </a:r>
            <a:endParaRPr lang="en-US" sz="1300" dirty="0"/>
          </a:p>
        </p:txBody>
      </p:sp>
      <p:sp>
        <p:nvSpPr>
          <p:cNvPr id="18" name="Text 16"/>
          <p:cNvSpPr/>
          <p:nvPr/>
        </p:nvSpPr>
        <p:spPr>
          <a:xfrm>
            <a:off x="7315200" y="3593592"/>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0.7906</a:t>
            </a:r>
            <a:endParaRPr lang="en-US" sz="1500" dirty="0"/>
          </a:p>
        </p:txBody>
      </p:sp>
      <p:sp>
        <p:nvSpPr>
          <p:cNvPr id="19" name="Text 17"/>
          <p:cNvSpPr/>
          <p:nvPr/>
        </p:nvSpPr>
        <p:spPr>
          <a:xfrm>
            <a:off x="8458200" y="3593592"/>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0.5251</a:t>
            </a:r>
            <a:endParaRPr lang="en-US" sz="1500" dirty="0"/>
          </a:p>
        </p:txBody>
      </p:sp>
      <p:sp>
        <p:nvSpPr>
          <p:cNvPr id="20" name="Text 18"/>
          <p:cNvSpPr/>
          <p:nvPr/>
        </p:nvSpPr>
        <p:spPr>
          <a:xfrm>
            <a:off x="9692640" y="3593592"/>
            <a:ext cx="1600200" cy="512064"/>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best cut 0.39</a:t>
            </a:r>
            <a:endParaRPr lang="en-US" sz="1050" dirty="0"/>
          </a:p>
        </p:txBody>
      </p:sp>
      <p:sp>
        <p:nvSpPr>
          <p:cNvPr id="21" name="Shape 19"/>
          <p:cNvSpPr/>
          <p:nvPr/>
        </p:nvSpPr>
        <p:spPr>
          <a:xfrm>
            <a:off x="685800" y="4178808"/>
            <a:ext cx="10789920" cy="512064"/>
          </a:xfrm>
          <a:prstGeom prst="roundRect">
            <a:avLst>
              <a:gd name="adj" fmla="val 14286"/>
            </a:avLst>
          </a:prstGeom>
          <a:solidFill>
            <a:srgbClr val="F4F6FB"/>
          </a:solidFill>
          <a:ln w="12700">
            <a:solidFill>
              <a:srgbClr val="F4F6FB"/>
            </a:solidFill>
            <a:prstDash val="solid"/>
          </a:ln>
        </p:spPr>
      </p:sp>
      <p:sp>
        <p:nvSpPr>
          <p:cNvPr id="22" name="Text 20"/>
          <p:cNvSpPr/>
          <p:nvPr/>
        </p:nvSpPr>
        <p:spPr>
          <a:xfrm>
            <a:off x="960120" y="4178808"/>
            <a:ext cx="6309360" cy="512064"/>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Each leaver counts four times</a:t>
            </a:r>
            <a:endParaRPr lang="en-US" sz="1300" dirty="0"/>
          </a:p>
        </p:txBody>
      </p:sp>
      <p:sp>
        <p:nvSpPr>
          <p:cNvPr id="23" name="Text 21"/>
          <p:cNvSpPr/>
          <p:nvPr/>
        </p:nvSpPr>
        <p:spPr>
          <a:xfrm>
            <a:off x="7315200" y="4178808"/>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0.7898</a:t>
            </a:r>
            <a:endParaRPr lang="en-US" sz="1500" dirty="0"/>
          </a:p>
        </p:txBody>
      </p:sp>
      <p:sp>
        <p:nvSpPr>
          <p:cNvPr id="24" name="Text 22"/>
          <p:cNvSpPr/>
          <p:nvPr/>
        </p:nvSpPr>
        <p:spPr>
          <a:xfrm>
            <a:off x="8458200" y="4178808"/>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0.5238</a:t>
            </a:r>
            <a:endParaRPr lang="en-US" sz="1500" dirty="0"/>
          </a:p>
        </p:txBody>
      </p:sp>
      <p:sp>
        <p:nvSpPr>
          <p:cNvPr id="25" name="Text 23"/>
          <p:cNvSpPr/>
          <p:nvPr/>
        </p:nvSpPr>
        <p:spPr>
          <a:xfrm>
            <a:off x="9692640" y="4178808"/>
            <a:ext cx="1600200" cy="512064"/>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best cut 0.56</a:t>
            </a:r>
            <a:endParaRPr lang="en-US" sz="1050" dirty="0"/>
          </a:p>
        </p:txBody>
      </p:sp>
      <p:sp>
        <p:nvSpPr>
          <p:cNvPr id="26" name="Shape 24"/>
          <p:cNvSpPr/>
          <p:nvPr/>
        </p:nvSpPr>
        <p:spPr>
          <a:xfrm>
            <a:off x="685800" y="4800600"/>
            <a:ext cx="5257800" cy="1371600"/>
          </a:xfrm>
          <a:prstGeom prst="roundRect">
            <a:avLst>
              <a:gd name="adj" fmla="val 5333"/>
            </a:avLst>
          </a:prstGeom>
          <a:solidFill>
            <a:srgbClr val="1E2761"/>
          </a:solidFill>
          <a:ln w="12700">
            <a:solidFill>
              <a:srgbClr val="1E2761"/>
            </a:solidFill>
            <a:prstDash val="solid"/>
          </a:ln>
        </p:spPr>
      </p:sp>
      <p:sp>
        <p:nvSpPr>
          <p:cNvPr id="27" name="Text 25"/>
          <p:cNvSpPr/>
          <p:nvPr/>
        </p:nvSpPr>
        <p:spPr>
          <a:xfrm>
            <a:off x="1005840" y="4956048"/>
            <a:ext cx="4663440" cy="292608"/>
          </a:xfrm>
          <a:prstGeom prst="rect">
            <a:avLst/>
          </a:prstGeom>
          <a:noFill/>
          <a:ln/>
        </p:spPr>
        <p:txBody>
          <a:bodyPr wrap="square" lIns="0" tIns="0" rIns="0" bIns="0" rtlCol="0" anchor="ctr"/>
          <a:lstStyle/>
          <a:p>
            <a:pPr indent="0" marL="0">
              <a:buNone/>
            </a:pPr>
            <a:r>
              <a:rPr lang="en-US" sz="1600" b="1" dirty="0">
                <a:solidFill>
                  <a:srgbClr val="E39A00"/>
                </a:solidFill>
                <a:latin typeface="Cambria" pitchFamily="34" charset="0"/>
                <a:ea typeface="Cambria" pitchFamily="34" charset="-122"/>
                <a:cs typeface="Cambria" pitchFamily="34" charset="-120"/>
              </a:rPr>
              <a:t>Two controls on one lever</a:t>
            </a:r>
            <a:endParaRPr lang="en-US" sz="1600" dirty="0"/>
          </a:p>
        </p:txBody>
      </p:sp>
      <p:sp>
        <p:nvSpPr>
          <p:cNvPr id="28" name="Text 26"/>
          <p:cNvSpPr/>
          <p:nvPr/>
        </p:nvSpPr>
        <p:spPr>
          <a:xfrm>
            <a:off x="1005840" y="5285232"/>
            <a:ext cx="4663440" cy="822960"/>
          </a:xfrm>
          <a:prstGeom prst="rect">
            <a:avLst/>
          </a:prstGeom>
          <a:noFill/>
          <a:ln/>
        </p:spPr>
        <p:txBody>
          <a:bodyPr wrap="square" lIns="0" tIns="0" rIns="0" bIns="0" rtlCol="0" anchor="ctr"/>
          <a:lstStyle/>
          <a:p>
            <a:pPr indent="0" marL="0">
              <a:lnSpc>
                <a:spcPts val="1600"/>
              </a:lnSpc>
              <a:buNone/>
            </a:pPr>
            <a:r>
              <a:rPr lang="en-US" sz="1250" dirty="0">
                <a:solidFill>
                  <a:srgbClr val="C3CCE4"/>
                </a:solidFill>
                <a:latin typeface="Calibri" pitchFamily="34" charset="0"/>
                <a:ea typeface="Calibri" pitchFamily="34" charset="-122"/>
                <a:cs typeface="Calibri" pitchFamily="34" charset="-120"/>
              </a:rPr>
              <a:t>F1 moves 0.0015 across the whole range while the cut-off climbs from 0.26 to 0.56. Weighting inflates every score, the cut-off rises to compensate, and the same customers get flagged.</a:t>
            </a:r>
            <a:endParaRPr lang="en-US" sz="1250" dirty="0"/>
          </a:p>
        </p:txBody>
      </p:sp>
      <p:sp>
        <p:nvSpPr>
          <p:cNvPr id="29" name="Shape 27"/>
          <p:cNvSpPr/>
          <p:nvPr/>
        </p:nvSpPr>
        <p:spPr>
          <a:xfrm>
            <a:off x="6217920" y="4800600"/>
            <a:ext cx="5257800" cy="1371600"/>
          </a:xfrm>
          <a:prstGeom prst="roundRect">
            <a:avLst>
              <a:gd name="adj" fmla="val 5333"/>
            </a:avLst>
          </a:prstGeom>
          <a:solidFill>
            <a:srgbClr val="F4F6FB"/>
          </a:solidFill>
          <a:ln w="12700">
            <a:solidFill>
              <a:srgbClr val="F4F6FB"/>
            </a:solidFill>
            <a:prstDash val="solid"/>
          </a:ln>
        </p:spPr>
      </p:sp>
      <p:sp>
        <p:nvSpPr>
          <p:cNvPr id="30" name="Text 28"/>
          <p:cNvSpPr/>
          <p:nvPr/>
        </p:nvSpPr>
        <p:spPr>
          <a:xfrm>
            <a:off x="6537960" y="4956048"/>
            <a:ext cx="4663440" cy="292608"/>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And why not SMOTE</a:t>
            </a:r>
            <a:endParaRPr lang="en-US" sz="1600" dirty="0"/>
          </a:p>
        </p:txBody>
      </p:sp>
      <p:sp>
        <p:nvSpPr>
          <p:cNvPr id="31" name="Text 29"/>
          <p:cNvSpPr/>
          <p:nvPr/>
        </p:nvSpPr>
        <p:spPr>
          <a:xfrm>
            <a:off x="6537960" y="5285232"/>
            <a:ext cx="4663440" cy="82296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It invents extra leavers by blending real ones, producing customers who are 0.6 married and 0.4 employed by the government. Nonsense in a yes/no column.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Step six — five ways of handling the extreme values</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Only one helped, and only just</a:t>
            </a:r>
            <a:endParaRPr lang="en-US" sz="1500" dirty="0"/>
          </a:p>
        </p:txBody>
      </p:sp>
      <p:sp>
        <p:nvSpPr>
          <p:cNvPr id="6" name="Text 4"/>
          <p:cNvSpPr/>
          <p:nvPr/>
        </p:nvSpPr>
        <p:spPr>
          <a:xfrm>
            <a:off x="960120" y="1554480"/>
            <a:ext cx="6309360" cy="274320"/>
          </a:xfrm>
          <a:prstGeom prst="rect">
            <a:avLst/>
          </a:prstGeom>
          <a:noFill/>
          <a:ln/>
        </p:spPr>
        <p:txBody>
          <a:bodyPr wrap="square" lIns="0" tIns="0" rIns="0" bIns="0" rtlCol="0" anchor="ctr"/>
          <a:lstStyle/>
          <a:p>
            <a:pPr indent="0" marL="0">
              <a:buNone/>
            </a:pPr>
            <a:endParaRPr lang="en-US" sz="1100" dirty="0"/>
          </a:p>
        </p:txBody>
      </p:sp>
      <p:sp>
        <p:nvSpPr>
          <p:cNvPr id="7" name="Text 5"/>
          <p:cNvSpPr/>
          <p:nvPr/>
        </p:nvSpPr>
        <p:spPr>
          <a:xfrm>
            <a:off x="7315200" y="1554480"/>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AUC</a:t>
            </a:r>
            <a:endParaRPr lang="en-US" sz="1100" dirty="0"/>
          </a:p>
        </p:txBody>
      </p:sp>
      <p:sp>
        <p:nvSpPr>
          <p:cNvPr id="8" name="Text 6"/>
          <p:cNvSpPr/>
          <p:nvPr/>
        </p:nvSpPr>
        <p:spPr>
          <a:xfrm>
            <a:off x="8458200" y="1554480"/>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F1</a:t>
            </a:r>
            <a:endParaRPr lang="en-US" sz="1100" dirty="0"/>
          </a:p>
        </p:txBody>
      </p:sp>
      <p:sp>
        <p:nvSpPr>
          <p:cNvPr id="9" name="Shape 7"/>
          <p:cNvSpPr/>
          <p:nvPr/>
        </p:nvSpPr>
        <p:spPr>
          <a:xfrm>
            <a:off x="685800" y="1865376"/>
            <a:ext cx="10789920" cy="566928"/>
          </a:xfrm>
          <a:prstGeom prst="roundRect">
            <a:avLst>
              <a:gd name="adj" fmla="val 12903"/>
            </a:avLst>
          </a:prstGeom>
          <a:solidFill>
            <a:srgbClr val="F4F6FB"/>
          </a:solidFill>
          <a:ln w="12700">
            <a:solidFill>
              <a:srgbClr val="F4F6FB"/>
            </a:solidFill>
            <a:prstDash val="solid"/>
          </a:ln>
        </p:spPr>
      </p:sp>
      <p:sp>
        <p:nvSpPr>
          <p:cNvPr id="10" name="Text 8"/>
          <p:cNvSpPr/>
          <p:nvPr/>
        </p:nvSpPr>
        <p:spPr>
          <a:xfrm>
            <a:off x="960120" y="1865376"/>
            <a:ext cx="6309360" cy="566928"/>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Leave them exactly as they are</a:t>
            </a:r>
            <a:endParaRPr lang="en-US" sz="1300" dirty="0"/>
          </a:p>
        </p:txBody>
      </p:sp>
      <p:sp>
        <p:nvSpPr>
          <p:cNvPr id="11" name="Text 9"/>
          <p:cNvSpPr/>
          <p:nvPr/>
        </p:nvSpPr>
        <p:spPr>
          <a:xfrm>
            <a:off x="7315200" y="186537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0.8068</a:t>
            </a:r>
            <a:endParaRPr lang="en-US" sz="1500" dirty="0"/>
          </a:p>
        </p:txBody>
      </p:sp>
      <p:sp>
        <p:nvSpPr>
          <p:cNvPr id="12" name="Text 10"/>
          <p:cNvSpPr/>
          <p:nvPr/>
        </p:nvSpPr>
        <p:spPr>
          <a:xfrm>
            <a:off x="8458200" y="186537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0.5489</a:t>
            </a:r>
            <a:endParaRPr lang="en-US" sz="1500" dirty="0"/>
          </a:p>
        </p:txBody>
      </p:sp>
      <p:sp>
        <p:nvSpPr>
          <p:cNvPr id="13" name="Shape 11"/>
          <p:cNvSpPr/>
          <p:nvPr/>
        </p:nvSpPr>
        <p:spPr>
          <a:xfrm>
            <a:off x="685800" y="2505456"/>
            <a:ext cx="10789920" cy="566928"/>
          </a:xfrm>
          <a:prstGeom prst="roundRect">
            <a:avLst>
              <a:gd name="adj" fmla="val 12903"/>
            </a:avLst>
          </a:prstGeom>
          <a:solidFill>
            <a:srgbClr val="F4F6FB"/>
          </a:solidFill>
          <a:ln w="12700">
            <a:solidFill>
              <a:srgbClr val="F4F6FB"/>
            </a:solidFill>
            <a:prstDash val="solid"/>
          </a:ln>
        </p:spPr>
      </p:sp>
      <p:sp>
        <p:nvSpPr>
          <p:cNvPr id="14" name="Text 12"/>
          <p:cNvSpPr/>
          <p:nvPr/>
        </p:nvSpPr>
        <p:spPr>
          <a:xfrm>
            <a:off x="960120" y="2505456"/>
            <a:ext cx="6309360" cy="566928"/>
          </a:xfrm>
          <a:prstGeom prst="rect">
            <a:avLst/>
          </a:prstGeom>
          <a:noFill/>
          <a:ln/>
        </p:spPr>
        <p:txBody>
          <a:bodyPr wrap="square" lIns="0" tIns="0" rIns="0" bIns="0" rtlCol="0" anchor="ctr"/>
          <a:lstStyle/>
          <a:p>
            <a:pPr indent="0" marL="0">
              <a:buNone/>
            </a:pPr>
            <a:r>
              <a:rPr lang="en-US" sz="1300" b="1" dirty="0">
                <a:solidFill>
                  <a:srgbClr val="3F7D68"/>
                </a:solidFill>
                <a:latin typeface="Calibri" pitchFamily="34" charset="0"/>
                <a:ea typeface="Calibri" pitchFamily="34" charset="-122"/>
                <a:cs typeface="Calibri" pitchFamily="34" charset="-120"/>
              </a:rPr>
              <a:t>Trim the most extreme 1% at each end</a:t>
            </a:r>
            <a:endParaRPr lang="en-US" sz="1300" dirty="0"/>
          </a:p>
        </p:txBody>
      </p:sp>
      <p:sp>
        <p:nvSpPr>
          <p:cNvPr id="15" name="Text 13"/>
          <p:cNvSpPr/>
          <p:nvPr/>
        </p:nvSpPr>
        <p:spPr>
          <a:xfrm>
            <a:off x="7315200" y="2505456"/>
            <a:ext cx="1143000" cy="566928"/>
          </a:xfrm>
          <a:prstGeom prst="rect">
            <a:avLst/>
          </a:prstGeom>
          <a:noFill/>
          <a:ln/>
        </p:spPr>
        <p:txBody>
          <a:bodyPr wrap="square" lIns="0" tIns="0" rIns="0" bIns="0" rtlCol="0" anchor="ctr"/>
          <a:lstStyle/>
          <a:p>
            <a:pPr algn="ctr" indent="0" marL="0">
              <a:buNone/>
            </a:pPr>
            <a:r>
              <a:rPr lang="en-US" sz="1500" b="1" dirty="0">
                <a:solidFill>
                  <a:srgbClr val="3F7D68"/>
                </a:solidFill>
                <a:latin typeface="Cambria" pitchFamily="34" charset="0"/>
                <a:ea typeface="Cambria" pitchFamily="34" charset="-122"/>
                <a:cs typeface="Cambria" pitchFamily="34" charset="-120"/>
              </a:rPr>
              <a:t>0.8069</a:t>
            </a:r>
            <a:endParaRPr lang="en-US" sz="1500" dirty="0"/>
          </a:p>
        </p:txBody>
      </p:sp>
      <p:sp>
        <p:nvSpPr>
          <p:cNvPr id="16" name="Text 14"/>
          <p:cNvSpPr/>
          <p:nvPr/>
        </p:nvSpPr>
        <p:spPr>
          <a:xfrm>
            <a:off x="8458200" y="2505456"/>
            <a:ext cx="1143000" cy="566928"/>
          </a:xfrm>
          <a:prstGeom prst="rect">
            <a:avLst/>
          </a:prstGeom>
          <a:noFill/>
          <a:ln/>
        </p:spPr>
        <p:txBody>
          <a:bodyPr wrap="square" lIns="0" tIns="0" rIns="0" bIns="0" rtlCol="0" anchor="ctr"/>
          <a:lstStyle/>
          <a:p>
            <a:pPr algn="ctr" indent="0" marL="0">
              <a:buNone/>
            </a:pPr>
            <a:r>
              <a:rPr lang="en-US" sz="1500" b="1" dirty="0">
                <a:solidFill>
                  <a:srgbClr val="3F7D68"/>
                </a:solidFill>
                <a:latin typeface="Cambria" pitchFamily="34" charset="0"/>
                <a:ea typeface="Cambria" pitchFamily="34" charset="-122"/>
                <a:cs typeface="Cambria" pitchFamily="34" charset="-120"/>
              </a:rPr>
              <a:t>0.5509</a:t>
            </a:r>
            <a:endParaRPr lang="en-US" sz="1500" dirty="0"/>
          </a:p>
        </p:txBody>
      </p:sp>
      <p:sp>
        <p:nvSpPr>
          <p:cNvPr id="17" name="Text 15"/>
          <p:cNvSpPr/>
          <p:nvPr/>
        </p:nvSpPr>
        <p:spPr>
          <a:xfrm>
            <a:off x="9692640" y="2505456"/>
            <a:ext cx="1600200" cy="566928"/>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the winner</a:t>
            </a:r>
            <a:endParaRPr lang="en-US" sz="1050" dirty="0"/>
          </a:p>
        </p:txBody>
      </p:sp>
      <p:sp>
        <p:nvSpPr>
          <p:cNvPr id="18" name="Shape 16"/>
          <p:cNvSpPr/>
          <p:nvPr/>
        </p:nvSpPr>
        <p:spPr>
          <a:xfrm>
            <a:off x="685800" y="3145536"/>
            <a:ext cx="10789920" cy="566928"/>
          </a:xfrm>
          <a:prstGeom prst="roundRect">
            <a:avLst>
              <a:gd name="adj" fmla="val 12903"/>
            </a:avLst>
          </a:prstGeom>
          <a:solidFill>
            <a:srgbClr val="F4F6FB"/>
          </a:solidFill>
          <a:ln w="12700">
            <a:solidFill>
              <a:srgbClr val="F4F6FB"/>
            </a:solidFill>
            <a:prstDash val="solid"/>
          </a:ln>
        </p:spPr>
      </p:sp>
      <p:sp>
        <p:nvSpPr>
          <p:cNvPr id="19" name="Text 17"/>
          <p:cNvSpPr/>
          <p:nvPr/>
        </p:nvSpPr>
        <p:spPr>
          <a:xfrm>
            <a:off x="960120" y="3145536"/>
            <a:ext cx="6309360" cy="566928"/>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Trim harder — the extreme 5%</a:t>
            </a:r>
            <a:endParaRPr lang="en-US" sz="1300" dirty="0"/>
          </a:p>
        </p:txBody>
      </p:sp>
      <p:sp>
        <p:nvSpPr>
          <p:cNvPr id="20" name="Text 18"/>
          <p:cNvSpPr/>
          <p:nvPr/>
        </p:nvSpPr>
        <p:spPr>
          <a:xfrm>
            <a:off x="7315200" y="314553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0.8068</a:t>
            </a:r>
            <a:endParaRPr lang="en-US" sz="1500" dirty="0"/>
          </a:p>
        </p:txBody>
      </p:sp>
      <p:sp>
        <p:nvSpPr>
          <p:cNvPr id="21" name="Text 19"/>
          <p:cNvSpPr/>
          <p:nvPr/>
        </p:nvSpPr>
        <p:spPr>
          <a:xfrm>
            <a:off x="8458200" y="314553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0.5487</a:t>
            </a:r>
            <a:endParaRPr lang="en-US" sz="1500" dirty="0"/>
          </a:p>
        </p:txBody>
      </p:sp>
      <p:sp>
        <p:nvSpPr>
          <p:cNvPr id="22" name="Text 20"/>
          <p:cNvSpPr/>
          <p:nvPr/>
        </p:nvSpPr>
        <p:spPr>
          <a:xfrm>
            <a:off x="9692640" y="3145536"/>
            <a:ext cx="1600200" cy="566928"/>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removed real information</a:t>
            </a:r>
            <a:endParaRPr lang="en-US" sz="1050" dirty="0"/>
          </a:p>
        </p:txBody>
      </p:sp>
      <p:sp>
        <p:nvSpPr>
          <p:cNvPr id="23" name="Shape 21"/>
          <p:cNvSpPr/>
          <p:nvPr/>
        </p:nvSpPr>
        <p:spPr>
          <a:xfrm>
            <a:off x="685800" y="3785616"/>
            <a:ext cx="10789920" cy="566928"/>
          </a:xfrm>
          <a:prstGeom prst="roundRect">
            <a:avLst>
              <a:gd name="adj" fmla="val 12903"/>
            </a:avLst>
          </a:prstGeom>
          <a:solidFill>
            <a:srgbClr val="F4F6FB"/>
          </a:solidFill>
          <a:ln w="12700">
            <a:solidFill>
              <a:srgbClr val="F4F6FB"/>
            </a:solidFill>
            <a:prstDash val="solid"/>
          </a:ln>
        </p:spPr>
      </p:sp>
      <p:sp>
        <p:nvSpPr>
          <p:cNvPr id="24" name="Text 22"/>
          <p:cNvSpPr/>
          <p:nvPr/>
        </p:nvSpPr>
        <p:spPr>
          <a:xfrm>
            <a:off x="960120" y="3785616"/>
            <a:ext cx="6309360" cy="566928"/>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Compress the money columns instead</a:t>
            </a:r>
            <a:endParaRPr lang="en-US" sz="1300" dirty="0"/>
          </a:p>
        </p:txBody>
      </p:sp>
      <p:sp>
        <p:nvSpPr>
          <p:cNvPr id="25" name="Text 23"/>
          <p:cNvSpPr/>
          <p:nvPr/>
        </p:nvSpPr>
        <p:spPr>
          <a:xfrm>
            <a:off x="7315200" y="378561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0.8084</a:t>
            </a:r>
            <a:endParaRPr lang="en-US" sz="1500" dirty="0"/>
          </a:p>
        </p:txBody>
      </p:sp>
      <p:sp>
        <p:nvSpPr>
          <p:cNvPr id="26" name="Text 24"/>
          <p:cNvSpPr/>
          <p:nvPr/>
        </p:nvSpPr>
        <p:spPr>
          <a:xfrm>
            <a:off x="8458200" y="378561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0.5484</a:t>
            </a:r>
            <a:endParaRPr lang="en-US" sz="1500" dirty="0"/>
          </a:p>
        </p:txBody>
      </p:sp>
      <p:sp>
        <p:nvSpPr>
          <p:cNvPr id="27" name="Text 25"/>
          <p:cNvSpPr/>
          <p:nvPr/>
        </p:nvSpPr>
        <p:spPr>
          <a:xfrm>
            <a:off x="9692640" y="3785616"/>
            <a:ext cx="1600200" cy="566928"/>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best AUC, worse F1</a:t>
            </a:r>
            <a:endParaRPr lang="en-US" sz="1050" dirty="0"/>
          </a:p>
        </p:txBody>
      </p:sp>
      <p:sp>
        <p:nvSpPr>
          <p:cNvPr id="28" name="Shape 26"/>
          <p:cNvSpPr/>
          <p:nvPr/>
        </p:nvSpPr>
        <p:spPr>
          <a:xfrm>
            <a:off x="685800" y="4425696"/>
            <a:ext cx="10789920" cy="566928"/>
          </a:xfrm>
          <a:prstGeom prst="roundRect">
            <a:avLst>
              <a:gd name="adj" fmla="val 12903"/>
            </a:avLst>
          </a:prstGeom>
          <a:solidFill>
            <a:srgbClr val="F4F6FB"/>
          </a:solidFill>
          <a:ln w="12700">
            <a:solidFill>
              <a:srgbClr val="F4F6FB"/>
            </a:solidFill>
            <a:prstDash val="solid"/>
          </a:ln>
        </p:spPr>
      </p:sp>
      <p:sp>
        <p:nvSpPr>
          <p:cNvPr id="29" name="Text 27"/>
          <p:cNvSpPr/>
          <p:nvPr/>
        </p:nvSpPr>
        <p:spPr>
          <a:xfrm>
            <a:off x="960120" y="4425696"/>
            <a:ext cx="6309360" cy="566928"/>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Compress and trim together</a:t>
            </a:r>
            <a:endParaRPr lang="en-US" sz="1300" dirty="0"/>
          </a:p>
        </p:txBody>
      </p:sp>
      <p:sp>
        <p:nvSpPr>
          <p:cNvPr id="30" name="Text 28"/>
          <p:cNvSpPr/>
          <p:nvPr/>
        </p:nvSpPr>
        <p:spPr>
          <a:xfrm>
            <a:off x="7315200" y="442569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0.8085</a:t>
            </a:r>
            <a:endParaRPr lang="en-US" sz="1500" dirty="0"/>
          </a:p>
        </p:txBody>
      </p:sp>
      <p:sp>
        <p:nvSpPr>
          <p:cNvPr id="31" name="Text 29"/>
          <p:cNvSpPr/>
          <p:nvPr/>
        </p:nvSpPr>
        <p:spPr>
          <a:xfrm>
            <a:off x="8458200" y="4425696"/>
            <a:ext cx="1143000" cy="566928"/>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0.5489</a:t>
            </a:r>
            <a:endParaRPr lang="en-US" sz="1500" dirty="0"/>
          </a:p>
        </p:txBody>
      </p:sp>
      <p:sp>
        <p:nvSpPr>
          <p:cNvPr id="32" name="Text 30"/>
          <p:cNvSpPr/>
          <p:nvPr/>
        </p:nvSpPr>
        <p:spPr>
          <a:xfrm>
            <a:off x="9692640" y="4425696"/>
            <a:ext cx="1600200" cy="566928"/>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best AUC, still worse F1</a:t>
            </a:r>
            <a:endParaRPr lang="en-US" sz="1050" dirty="0"/>
          </a:p>
        </p:txBody>
      </p:sp>
      <p:sp>
        <p:nvSpPr>
          <p:cNvPr id="33" name="Shape 31"/>
          <p:cNvSpPr/>
          <p:nvPr/>
        </p:nvSpPr>
        <p:spPr>
          <a:xfrm>
            <a:off x="685800" y="5029200"/>
            <a:ext cx="5257800" cy="1234440"/>
          </a:xfrm>
          <a:prstGeom prst="roundRect">
            <a:avLst>
              <a:gd name="adj" fmla="val 5926"/>
            </a:avLst>
          </a:prstGeom>
          <a:solidFill>
            <a:srgbClr val="1E2761"/>
          </a:solidFill>
          <a:ln w="12700">
            <a:solidFill>
              <a:srgbClr val="1E2761"/>
            </a:solidFill>
            <a:prstDash val="solid"/>
          </a:ln>
        </p:spPr>
      </p:sp>
      <p:sp>
        <p:nvSpPr>
          <p:cNvPr id="34" name="Text 32"/>
          <p:cNvSpPr/>
          <p:nvPr/>
        </p:nvSpPr>
        <p:spPr>
          <a:xfrm>
            <a:off x="1005840" y="5175504"/>
            <a:ext cx="4663440" cy="292608"/>
          </a:xfrm>
          <a:prstGeom prst="rect">
            <a:avLst/>
          </a:prstGeom>
          <a:noFill/>
          <a:ln/>
        </p:spPr>
        <p:txBody>
          <a:bodyPr wrap="square" lIns="0" tIns="0" rIns="0" bIns="0" rtlCol="0" anchor="ctr"/>
          <a:lstStyle/>
          <a:p>
            <a:pPr indent="0" marL="0">
              <a:buNone/>
            </a:pPr>
            <a:r>
              <a:rPr lang="en-US" sz="1600" b="1" dirty="0">
                <a:solidFill>
                  <a:srgbClr val="E39A00"/>
                </a:solidFill>
                <a:latin typeface="Cambria" pitchFamily="34" charset="0"/>
                <a:ea typeface="Cambria" pitchFamily="34" charset="-122"/>
                <a:cs typeface="Cambria" pitchFamily="34" charset="-120"/>
              </a:rPr>
              <a:t>The best AUC was not the best model</a:t>
            </a:r>
            <a:endParaRPr lang="en-US" sz="1600" dirty="0"/>
          </a:p>
        </p:txBody>
      </p:sp>
      <p:sp>
        <p:nvSpPr>
          <p:cNvPr id="35" name="Text 33"/>
          <p:cNvSpPr/>
          <p:nvPr/>
        </p:nvSpPr>
        <p:spPr>
          <a:xfrm>
            <a:off x="1005840" y="5504688"/>
            <a:ext cx="4663440" cy="685800"/>
          </a:xfrm>
          <a:prstGeom prst="rect">
            <a:avLst/>
          </a:prstGeom>
          <a:noFill/>
          <a:ln/>
        </p:spPr>
        <p:txBody>
          <a:bodyPr wrap="square" lIns="0" tIns="0" rIns="0" bIns="0" rtlCol="0" anchor="ctr"/>
          <a:lstStyle/>
          <a:p>
            <a:pPr indent="0" marL="0">
              <a:lnSpc>
                <a:spcPts val="1600"/>
              </a:lnSpc>
              <a:buNone/>
            </a:pPr>
            <a:r>
              <a:rPr lang="en-US" sz="1250" dirty="0">
                <a:solidFill>
                  <a:srgbClr val="C3CCE4"/>
                </a:solidFill>
                <a:latin typeface="Calibri" pitchFamily="34" charset="0"/>
                <a:ea typeface="Calibri" pitchFamily="34" charset="-122"/>
                <a:cs typeface="Calibri" pitchFamily="34" charset="-120"/>
              </a:rPr>
              <a:t>Compressing the money columns gave the highest AUC anywhere — 0.8085 — and a worse F1. We are scored on F1, so we did not take it.</a:t>
            </a:r>
            <a:endParaRPr lang="en-US" sz="1250" dirty="0"/>
          </a:p>
        </p:txBody>
      </p:sp>
      <p:sp>
        <p:nvSpPr>
          <p:cNvPr id="36" name="Shape 34"/>
          <p:cNvSpPr/>
          <p:nvPr/>
        </p:nvSpPr>
        <p:spPr>
          <a:xfrm>
            <a:off x="6217920" y="5029200"/>
            <a:ext cx="5257800" cy="1234440"/>
          </a:xfrm>
          <a:prstGeom prst="roundRect">
            <a:avLst>
              <a:gd name="adj" fmla="val 5926"/>
            </a:avLst>
          </a:prstGeom>
          <a:solidFill>
            <a:srgbClr val="F4F6FB"/>
          </a:solidFill>
          <a:ln w="12700">
            <a:solidFill>
              <a:srgbClr val="F4F6FB"/>
            </a:solidFill>
            <a:prstDash val="solid"/>
          </a:ln>
        </p:spPr>
      </p:sp>
      <p:sp>
        <p:nvSpPr>
          <p:cNvPr id="37" name="Text 35"/>
          <p:cNvSpPr/>
          <p:nvPr/>
        </p:nvSpPr>
        <p:spPr>
          <a:xfrm>
            <a:off x="6537960" y="5175504"/>
            <a:ext cx="4663440" cy="292608"/>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The standard outlier method broke</a:t>
            </a:r>
            <a:endParaRPr lang="en-US" sz="1600" dirty="0"/>
          </a:p>
        </p:txBody>
      </p:sp>
      <p:sp>
        <p:nvSpPr>
          <p:cNvPr id="38" name="Text 36"/>
          <p:cNvSpPr/>
          <p:nvPr/>
        </p:nvSpPr>
        <p:spPr>
          <a:xfrm>
            <a:off x="6537960" y="5504688"/>
            <a:ext cx="4663440" cy="68580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On the loan balance it flagged 2,088 customers — a quarter of the book — as anomalies, because 75% sit at exactly zero. Having a loan is not an anomaly.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Step seven — six different sets of columns</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Reshaping the data for the model, five ways that did not work</a:t>
            </a:r>
            <a:endParaRPr lang="en-US" sz="1500" dirty="0"/>
          </a:p>
        </p:txBody>
      </p:sp>
      <p:sp>
        <p:nvSpPr>
          <p:cNvPr id="6" name="Text 4"/>
          <p:cNvSpPr/>
          <p:nvPr/>
        </p:nvSpPr>
        <p:spPr>
          <a:xfrm>
            <a:off x="960120" y="1554480"/>
            <a:ext cx="6309360" cy="274320"/>
          </a:xfrm>
          <a:prstGeom prst="rect">
            <a:avLst/>
          </a:prstGeom>
          <a:noFill/>
          <a:ln/>
        </p:spPr>
        <p:txBody>
          <a:bodyPr wrap="square" lIns="0" tIns="0" rIns="0" bIns="0" rtlCol="0" anchor="ctr"/>
          <a:lstStyle/>
          <a:p>
            <a:pPr indent="0" marL="0">
              <a:buNone/>
            </a:pPr>
            <a:endParaRPr lang="en-US" sz="1100" dirty="0"/>
          </a:p>
        </p:txBody>
      </p:sp>
      <p:sp>
        <p:nvSpPr>
          <p:cNvPr id="7" name="Text 5"/>
          <p:cNvSpPr/>
          <p:nvPr/>
        </p:nvSpPr>
        <p:spPr>
          <a:xfrm>
            <a:off x="7315200" y="1554480"/>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AUC</a:t>
            </a:r>
            <a:endParaRPr lang="en-US" sz="1100" dirty="0"/>
          </a:p>
        </p:txBody>
      </p:sp>
      <p:sp>
        <p:nvSpPr>
          <p:cNvPr id="8" name="Text 6"/>
          <p:cNvSpPr/>
          <p:nvPr/>
        </p:nvSpPr>
        <p:spPr>
          <a:xfrm>
            <a:off x="8458200" y="1554480"/>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F1</a:t>
            </a:r>
            <a:endParaRPr lang="en-US" sz="1100" dirty="0"/>
          </a:p>
        </p:txBody>
      </p:sp>
      <p:sp>
        <p:nvSpPr>
          <p:cNvPr id="9" name="Shape 7"/>
          <p:cNvSpPr/>
          <p:nvPr/>
        </p:nvSpPr>
        <p:spPr>
          <a:xfrm>
            <a:off x="685800" y="1865376"/>
            <a:ext cx="10789920" cy="512064"/>
          </a:xfrm>
          <a:prstGeom prst="roundRect">
            <a:avLst>
              <a:gd name="adj" fmla="val 14286"/>
            </a:avLst>
          </a:prstGeom>
          <a:solidFill>
            <a:srgbClr val="F4F6FB"/>
          </a:solidFill>
          <a:ln w="12700">
            <a:solidFill>
              <a:srgbClr val="F4F6FB"/>
            </a:solidFill>
            <a:prstDash val="solid"/>
          </a:ln>
        </p:spPr>
      </p:sp>
      <p:sp>
        <p:nvSpPr>
          <p:cNvPr id="10" name="Text 8"/>
          <p:cNvSpPr/>
          <p:nvPr/>
        </p:nvSpPr>
        <p:spPr>
          <a:xfrm>
            <a:off x="960120" y="1865376"/>
            <a:ext cx="6309360" cy="512064"/>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The plain columns</a:t>
            </a:r>
            <a:endParaRPr lang="en-US" sz="1300" dirty="0"/>
          </a:p>
        </p:txBody>
      </p:sp>
      <p:sp>
        <p:nvSpPr>
          <p:cNvPr id="11" name="Text 9"/>
          <p:cNvSpPr/>
          <p:nvPr/>
        </p:nvSpPr>
        <p:spPr>
          <a:xfrm>
            <a:off x="7315200" y="1865376"/>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0.8002</a:t>
            </a:r>
            <a:endParaRPr lang="en-US" sz="1500" dirty="0"/>
          </a:p>
        </p:txBody>
      </p:sp>
      <p:sp>
        <p:nvSpPr>
          <p:cNvPr id="12" name="Text 10"/>
          <p:cNvSpPr/>
          <p:nvPr/>
        </p:nvSpPr>
        <p:spPr>
          <a:xfrm>
            <a:off x="8458200" y="1865376"/>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0.5434</a:t>
            </a:r>
            <a:endParaRPr lang="en-US" sz="1500" dirty="0"/>
          </a:p>
        </p:txBody>
      </p:sp>
      <p:sp>
        <p:nvSpPr>
          <p:cNvPr id="13" name="Text 11"/>
          <p:cNvSpPr/>
          <p:nvPr/>
        </p:nvSpPr>
        <p:spPr>
          <a:xfrm>
            <a:off x="9692640" y="1865376"/>
            <a:ext cx="1600200" cy="512064"/>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the baseline</a:t>
            </a:r>
            <a:endParaRPr lang="en-US" sz="1050" dirty="0"/>
          </a:p>
        </p:txBody>
      </p:sp>
      <p:sp>
        <p:nvSpPr>
          <p:cNvPr id="14" name="Shape 12"/>
          <p:cNvSpPr/>
          <p:nvPr/>
        </p:nvSpPr>
        <p:spPr>
          <a:xfrm>
            <a:off x="685800" y="2450592"/>
            <a:ext cx="10789920" cy="512064"/>
          </a:xfrm>
          <a:prstGeom prst="roundRect">
            <a:avLst>
              <a:gd name="adj" fmla="val 14286"/>
            </a:avLst>
          </a:prstGeom>
          <a:solidFill>
            <a:srgbClr val="F4F6FB"/>
          </a:solidFill>
          <a:ln w="12700">
            <a:solidFill>
              <a:srgbClr val="F4F6FB"/>
            </a:solidFill>
            <a:prstDash val="solid"/>
          </a:ln>
        </p:spPr>
      </p:sp>
      <p:sp>
        <p:nvSpPr>
          <p:cNvPr id="15" name="Text 13"/>
          <p:cNvSpPr/>
          <p:nvPr/>
        </p:nvSpPr>
        <p:spPr>
          <a:xfrm>
            <a:off x="960120" y="2450592"/>
            <a:ext cx="6309360" cy="512064"/>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Replace each value with its rank</a:t>
            </a:r>
            <a:endParaRPr lang="en-US" sz="1300" dirty="0"/>
          </a:p>
        </p:txBody>
      </p:sp>
      <p:sp>
        <p:nvSpPr>
          <p:cNvPr id="16" name="Text 14"/>
          <p:cNvSpPr/>
          <p:nvPr/>
        </p:nvSpPr>
        <p:spPr>
          <a:xfrm>
            <a:off x="7315200" y="2450592"/>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0.8050</a:t>
            </a:r>
            <a:endParaRPr lang="en-US" sz="1500" dirty="0"/>
          </a:p>
        </p:txBody>
      </p:sp>
      <p:sp>
        <p:nvSpPr>
          <p:cNvPr id="17" name="Text 15"/>
          <p:cNvSpPr/>
          <p:nvPr/>
        </p:nvSpPr>
        <p:spPr>
          <a:xfrm>
            <a:off x="8458200" y="2450592"/>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0.5472</a:t>
            </a:r>
            <a:endParaRPr lang="en-US" sz="1500" dirty="0"/>
          </a:p>
        </p:txBody>
      </p:sp>
      <p:sp>
        <p:nvSpPr>
          <p:cNvPr id="18" name="Text 16"/>
          <p:cNvSpPr/>
          <p:nvPr/>
        </p:nvSpPr>
        <p:spPr>
          <a:xfrm>
            <a:off x="9692640" y="2450592"/>
            <a:ext cx="1600200" cy="512064"/>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below the noise floor</a:t>
            </a:r>
            <a:endParaRPr lang="en-US" sz="1050" dirty="0"/>
          </a:p>
        </p:txBody>
      </p:sp>
      <p:sp>
        <p:nvSpPr>
          <p:cNvPr id="19" name="Shape 17"/>
          <p:cNvSpPr/>
          <p:nvPr/>
        </p:nvSpPr>
        <p:spPr>
          <a:xfrm>
            <a:off x="685800" y="3035808"/>
            <a:ext cx="10789920" cy="512064"/>
          </a:xfrm>
          <a:prstGeom prst="roundRect">
            <a:avLst>
              <a:gd name="adj" fmla="val 14286"/>
            </a:avLst>
          </a:prstGeom>
          <a:solidFill>
            <a:srgbClr val="F4F6FB"/>
          </a:solidFill>
          <a:ln w="12700">
            <a:solidFill>
              <a:srgbClr val="F4F6FB"/>
            </a:solidFill>
            <a:prstDash val="solid"/>
          </a:ln>
        </p:spPr>
      </p:sp>
      <p:sp>
        <p:nvSpPr>
          <p:cNvPr id="20" name="Text 18"/>
          <p:cNvSpPr/>
          <p:nvPr/>
        </p:nvSpPr>
        <p:spPr>
          <a:xfrm>
            <a:off x="960120" y="3035808"/>
            <a:ext cx="6309360" cy="512064"/>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Bend the curves with splines</a:t>
            </a:r>
            <a:endParaRPr lang="en-US" sz="1300" dirty="0"/>
          </a:p>
        </p:txBody>
      </p:sp>
      <p:sp>
        <p:nvSpPr>
          <p:cNvPr id="21" name="Text 19"/>
          <p:cNvSpPr/>
          <p:nvPr/>
        </p:nvSpPr>
        <p:spPr>
          <a:xfrm>
            <a:off x="7315200" y="3035808"/>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0.8016</a:t>
            </a:r>
            <a:endParaRPr lang="en-US" sz="1500" dirty="0"/>
          </a:p>
        </p:txBody>
      </p:sp>
      <p:sp>
        <p:nvSpPr>
          <p:cNvPr id="22" name="Text 20"/>
          <p:cNvSpPr/>
          <p:nvPr/>
        </p:nvSpPr>
        <p:spPr>
          <a:xfrm>
            <a:off x="8458200" y="3035808"/>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0.5399</a:t>
            </a:r>
            <a:endParaRPr lang="en-US" sz="1500" dirty="0"/>
          </a:p>
        </p:txBody>
      </p:sp>
      <p:sp>
        <p:nvSpPr>
          <p:cNvPr id="23" name="Text 21"/>
          <p:cNvSpPr/>
          <p:nvPr/>
        </p:nvSpPr>
        <p:spPr>
          <a:xfrm>
            <a:off x="9692640" y="3035808"/>
            <a:ext cx="1600200" cy="512064"/>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worse</a:t>
            </a:r>
            <a:endParaRPr lang="en-US" sz="1050" dirty="0"/>
          </a:p>
        </p:txBody>
      </p:sp>
      <p:sp>
        <p:nvSpPr>
          <p:cNvPr id="24" name="Shape 22"/>
          <p:cNvSpPr/>
          <p:nvPr/>
        </p:nvSpPr>
        <p:spPr>
          <a:xfrm>
            <a:off x="685800" y="3621024"/>
            <a:ext cx="10789920" cy="512064"/>
          </a:xfrm>
          <a:prstGeom prst="roundRect">
            <a:avLst>
              <a:gd name="adj" fmla="val 14286"/>
            </a:avLst>
          </a:prstGeom>
          <a:solidFill>
            <a:srgbClr val="F4F6FB"/>
          </a:solidFill>
          <a:ln w="12700">
            <a:solidFill>
              <a:srgbClr val="F4F6FB"/>
            </a:solidFill>
            <a:prstDash val="solid"/>
          </a:ln>
        </p:spPr>
      </p:sp>
      <p:sp>
        <p:nvSpPr>
          <p:cNvPr id="25" name="Text 23"/>
          <p:cNvSpPr/>
          <p:nvPr/>
        </p:nvSpPr>
        <p:spPr>
          <a:xfrm>
            <a:off x="960120" y="3621024"/>
            <a:ext cx="6309360" cy="512064"/>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Ranks and bends together</a:t>
            </a:r>
            <a:endParaRPr lang="en-US" sz="1300" dirty="0"/>
          </a:p>
        </p:txBody>
      </p:sp>
      <p:sp>
        <p:nvSpPr>
          <p:cNvPr id="26" name="Text 24"/>
          <p:cNvSpPr/>
          <p:nvPr/>
        </p:nvSpPr>
        <p:spPr>
          <a:xfrm>
            <a:off x="7315200" y="3621024"/>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0.8032</a:t>
            </a:r>
            <a:endParaRPr lang="en-US" sz="1500" dirty="0"/>
          </a:p>
        </p:txBody>
      </p:sp>
      <p:sp>
        <p:nvSpPr>
          <p:cNvPr id="27" name="Text 25"/>
          <p:cNvSpPr/>
          <p:nvPr/>
        </p:nvSpPr>
        <p:spPr>
          <a:xfrm>
            <a:off x="8458200" y="3621024"/>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0.5396</a:t>
            </a:r>
            <a:endParaRPr lang="en-US" sz="1500" dirty="0"/>
          </a:p>
        </p:txBody>
      </p:sp>
      <p:sp>
        <p:nvSpPr>
          <p:cNvPr id="28" name="Text 26"/>
          <p:cNvSpPr/>
          <p:nvPr/>
        </p:nvSpPr>
        <p:spPr>
          <a:xfrm>
            <a:off x="9692640" y="3621024"/>
            <a:ext cx="1600200" cy="512064"/>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worse still</a:t>
            </a:r>
            <a:endParaRPr lang="en-US" sz="1050" dirty="0"/>
          </a:p>
        </p:txBody>
      </p:sp>
      <p:sp>
        <p:nvSpPr>
          <p:cNvPr id="29" name="Shape 27"/>
          <p:cNvSpPr/>
          <p:nvPr/>
        </p:nvSpPr>
        <p:spPr>
          <a:xfrm>
            <a:off x="685800" y="4206240"/>
            <a:ext cx="10789920" cy="512064"/>
          </a:xfrm>
          <a:prstGeom prst="roundRect">
            <a:avLst>
              <a:gd name="adj" fmla="val 14286"/>
            </a:avLst>
          </a:prstGeom>
          <a:solidFill>
            <a:srgbClr val="F4F6FB"/>
          </a:solidFill>
          <a:ln w="12700">
            <a:solidFill>
              <a:srgbClr val="F4F6FB"/>
            </a:solidFill>
            <a:prstDash val="solid"/>
          </a:ln>
        </p:spPr>
      </p:sp>
      <p:sp>
        <p:nvSpPr>
          <p:cNvPr id="30" name="Text 28"/>
          <p:cNvSpPr/>
          <p:nvPr/>
        </p:nvSpPr>
        <p:spPr>
          <a:xfrm>
            <a:off x="960120" y="4206240"/>
            <a:ext cx="6309360" cy="512064"/>
          </a:xfrm>
          <a:prstGeom prst="rect">
            <a:avLst/>
          </a:prstGeom>
          <a:noFill/>
          <a:ln/>
        </p:spPr>
        <p:txBody>
          <a:bodyPr wrap="square" lIns="0" tIns="0" rIns="0" bIns="0" rtlCol="0" anchor="ctr"/>
          <a:lstStyle/>
          <a:p>
            <a:pPr indent="0" marL="0">
              <a:buNone/>
            </a:pPr>
            <a:r>
              <a:rPr lang="en-US" sz="1300" b="1" dirty="0">
                <a:solidFill>
                  <a:srgbClr val="3F7D68"/>
                </a:solidFill>
                <a:latin typeface="Calibri" pitchFamily="34" charset="0"/>
                <a:ea typeface="Calibri" pitchFamily="34" charset="-122"/>
                <a:cs typeface="Calibri" pitchFamily="34" charset="-120"/>
              </a:rPr>
              <a:t>The eleven combination columns</a:t>
            </a:r>
            <a:endParaRPr lang="en-US" sz="1300" dirty="0"/>
          </a:p>
        </p:txBody>
      </p:sp>
      <p:sp>
        <p:nvSpPr>
          <p:cNvPr id="31" name="Text 29"/>
          <p:cNvSpPr/>
          <p:nvPr/>
        </p:nvSpPr>
        <p:spPr>
          <a:xfrm>
            <a:off x="7315200" y="4206240"/>
            <a:ext cx="1143000" cy="512064"/>
          </a:xfrm>
          <a:prstGeom prst="rect">
            <a:avLst/>
          </a:prstGeom>
          <a:noFill/>
          <a:ln/>
        </p:spPr>
        <p:txBody>
          <a:bodyPr wrap="square" lIns="0" tIns="0" rIns="0" bIns="0" rtlCol="0" anchor="ctr"/>
          <a:lstStyle/>
          <a:p>
            <a:pPr algn="ctr" indent="0" marL="0">
              <a:buNone/>
            </a:pPr>
            <a:r>
              <a:rPr lang="en-US" sz="1500" b="1" dirty="0">
                <a:solidFill>
                  <a:srgbClr val="3F7D68"/>
                </a:solidFill>
                <a:latin typeface="Cambria" pitchFamily="34" charset="0"/>
                <a:ea typeface="Cambria" pitchFamily="34" charset="-122"/>
                <a:cs typeface="Cambria" pitchFamily="34" charset="-120"/>
              </a:rPr>
              <a:t>0.8068</a:t>
            </a:r>
            <a:endParaRPr lang="en-US" sz="1500" dirty="0"/>
          </a:p>
        </p:txBody>
      </p:sp>
      <p:sp>
        <p:nvSpPr>
          <p:cNvPr id="32" name="Text 30"/>
          <p:cNvSpPr/>
          <p:nvPr/>
        </p:nvSpPr>
        <p:spPr>
          <a:xfrm>
            <a:off x="8458200" y="4206240"/>
            <a:ext cx="1143000" cy="512064"/>
          </a:xfrm>
          <a:prstGeom prst="rect">
            <a:avLst/>
          </a:prstGeom>
          <a:noFill/>
          <a:ln/>
        </p:spPr>
        <p:txBody>
          <a:bodyPr wrap="square" lIns="0" tIns="0" rIns="0" bIns="0" rtlCol="0" anchor="ctr"/>
          <a:lstStyle/>
          <a:p>
            <a:pPr algn="ctr" indent="0" marL="0">
              <a:buNone/>
            </a:pPr>
            <a:r>
              <a:rPr lang="en-US" sz="1500" b="1" dirty="0">
                <a:solidFill>
                  <a:srgbClr val="3F7D68"/>
                </a:solidFill>
                <a:latin typeface="Cambria" pitchFamily="34" charset="0"/>
                <a:ea typeface="Cambria" pitchFamily="34" charset="-122"/>
                <a:cs typeface="Cambria" pitchFamily="34" charset="-120"/>
              </a:rPr>
              <a:t>0.5489</a:t>
            </a:r>
            <a:endParaRPr lang="en-US" sz="1500" dirty="0"/>
          </a:p>
        </p:txBody>
      </p:sp>
      <p:sp>
        <p:nvSpPr>
          <p:cNvPr id="33" name="Text 31"/>
          <p:cNvSpPr/>
          <p:nvPr/>
        </p:nvSpPr>
        <p:spPr>
          <a:xfrm>
            <a:off x="9692640" y="4206240"/>
            <a:ext cx="1600200" cy="512064"/>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the only real gain</a:t>
            </a:r>
            <a:endParaRPr lang="en-US" sz="1050" dirty="0"/>
          </a:p>
        </p:txBody>
      </p:sp>
      <p:sp>
        <p:nvSpPr>
          <p:cNvPr id="34" name="Shape 32"/>
          <p:cNvSpPr/>
          <p:nvPr/>
        </p:nvSpPr>
        <p:spPr>
          <a:xfrm>
            <a:off x="685800" y="4791456"/>
            <a:ext cx="10789920" cy="512064"/>
          </a:xfrm>
          <a:prstGeom prst="roundRect">
            <a:avLst>
              <a:gd name="adj" fmla="val 14286"/>
            </a:avLst>
          </a:prstGeom>
          <a:solidFill>
            <a:srgbClr val="F4F6FB"/>
          </a:solidFill>
          <a:ln w="12700">
            <a:solidFill>
              <a:srgbClr val="F4F6FB"/>
            </a:solidFill>
            <a:prstDash val="solid"/>
          </a:ln>
        </p:spPr>
      </p:sp>
      <p:sp>
        <p:nvSpPr>
          <p:cNvPr id="35" name="Text 33"/>
          <p:cNvSpPr/>
          <p:nvPr/>
        </p:nvSpPr>
        <p:spPr>
          <a:xfrm>
            <a:off x="960120" y="4791456"/>
            <a:ext cx="6309360" cy="512064"/>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Ranks and combinations together</a:t>
            </a:r>
            <a:endParaRPr lang="en-US" sz="1300" dirty="0"/>
          </a:p>
        </p:txBody>
      </p:sp>
      <p:sp>
        <p:nvSpPr>
          <p:cNvPr id="36" name="Text 34"/>
          <p:cNvSpPr/>
          <p:nvPr/>
        </p:nvSpPr>
        <p:spPr>
          <a:xfrm>
            <a:off x="7315200" y="4791456"/>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0.8071</a:t>
            </a:r>
            <a:endParaRPr lang="en-US" sz="1500" dirty="0"/>
          </a:p>
        </p:txBody>
      </p:sp>
      <p:sp>
        <p:nvSpPr>
          <p:cNvPr id="37" name="Text 35"/>
          <p:cNvSpPr/>
          <p:nvPr/>
        </p:nvSpPr>
        <p:spPr>
          <a:xfrm>
            <a:off x="8458200" y="4791456"/>
            <a:ext cx="1143000" cy="512064"/>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0.5480</a:t>
            </a:r>
            <a:endParaRPr lang="en-US" sz="1500" dirty="0"/>
          </a:p>
        </p:txBody>
      </p:sp>
      <p:sp>
        <p:nvSpPr>
          <p:cNvPr id="38" name="Text 36"/>
          <p:cNvSpPr/>
          <p:nvPr/>
        </p:nvSpPr>
        <p:spPr>
          <a:xfrm>
            <a:off x="9692640" y="4791456"/>
            <a:ext cx="1600200" cy="512064"/>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adding ranks back made it worse</a:t>
            </a:r>
            <a:endParaRPr lang="en-US" sz="1050" dirty="0"/>
          </a:p>
        </p:txBody>
      </p:sp>
      <p:sp>
        <p:nvSpPr>
          <p:cNvPr id="39" name="Shape 37"/>
          <p:cNvSpPr/>
          <p:nvPr/>
        </p:nvSpPr>
        <p:spPr>
          <a:xfrm>
            <a:off x="685800" y="5212080"/>
            <a:ext cx="10789920" cy="1051560"/>
          </a:xfrm>
          <a:prstGeom prst="roundRect">
            <a:avLst>
              <a:gd name="adj" fmla="val 6957"/>
            </a:avLst>
          </a:prstGeom>
          <a:solidFill>
            <a:srgbClr val="1E2761"/>
          </a:solidFill>
          <a:ln w="12700">
            <a:solidFill>
              <a:srgbClr val="1E2761"/>
            </a:solidFill>
            <a:prstDash val="solid"/>
          </a:ln>
        </p:spPr>
      </p:sp>
      <p:sp>
        <p:nvSpPr>
          <p:cNvPr id="40" name="Text 38"/>
          <p:cNvSpPr/>
          <p:nvPr/>
        </p:nvSpPr>
        <p:spPr>
          <a:xfrm>
            <a:off x="1005840" y="5212080"/>
            <a:ext cx="3291840" cy="1051560"/>
          </a:xfrm>
          <a:prstGeom prst="rect">
            <a:avLst/>
          </a:prstGeom>
          <a:noFill/>
          <a:ln/>
        </p:spPr>
        <p:txBody>
          <a:bodyPr wrap="square" lIns="0" tIns="0" rIns="0" bIns="0" rtlCol="0" anchor="ctr"/>
          <a:lstStyle/>
          <a:p>
            <a:pPr indent="0" marL="0">
              <a:buNone/>
            </a:pPr>
            <a:r>
              <a:rPr lang="en-US" sz="1500" b="1" dirty="0">
                <a:solidFill>
                  <a:srgbClr val="E39A00"/>
                </a:solidFill>
                <a:latin typeface="Cambria" pitchFamily="34" charset="0"/>
                <a:ea typeface="Cambria" pitchFamily="34" charset="-122"/>
                <a:cs typeface="Cambria" pitchFamily="34" charset="-120"/>
              </a:rPr>
              <a:t>Why bending the curves made it worse:</a:t>
            </a:r>
            <a:endParaRPr lang="en-US" sz="1500" dirty="0"/>
          </a:p>
        </p:txBody>
      </p:sp>
      <p:sp>
        <p:nvSpPr>
          <p:cNvPr id="41" name="Text 39"/>
          <p:cNvSpPr/>
          <p:nvPr/>
        </p:nvSpPr>
        <p:spPr>
          <a:xfrm>
            <a:off x="4434840" y="5212080"/>
            <a:ext cx="6766560" cy="1051560"/>
          </a:xfrm>
          <a:prstGeom prst="rect">
            <a:avLst/>
          </a:prstGeom>
          <a:noFill/>
          <a:ln/>
        </p:spPr>
        <p:txBody>
          <a:bodyPr wrap="square" lIns="0" tIns="0" rIns="0" bIns="0" rtlCol="0" anchor="ctr"/>
          <a:lstStyle/>
          <a:p>
            <a:pPr indent="0" marL="0">
              <a:lnSpc>
                <a:spcPts val="1800"/>
              </a:lnSpc>
              <a:buNone/>
            </a:pPr>
            <a:r>
              <a:rPr lang="en-US" sz="1350" dirty="0">
                <a:solidFill>
                  <a:srgbClr val="C3CCE4"/>
                </a:solidFill>
                <a:latin typeface="Calibri" pitchFamily="34" charset="0"/>
                <a:ea typeface="Calibri" pitchFamily="34" charset="-122"/>
                <a:cs typeface="Calibri" pitchFamily="34" charset="-120"/>
              </a:rPr>
              <a:t>The relationships in this data are already close to straight lines. Giving the model room to curve only gave it room to fit noise — which is exactly what it did.</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Step eight — thirteen more ways to describe six months</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Every one tested on its own, against a baseline F1 of 0.5509</a:t>
            </a:r>
            <a:endParaRPr lang="en-US" sz="1500" dirty="0"/>
          </a:p>
        </p:txBody>
      </p:sp>
      <p:sp>
        <p:nvSpPr>
          <p:cNvPr id="6" name="Shape 4"/>
          <p:cNvSpPr/>
          <p:nvPr/>
        </p:nvSpPr>
        <p:spPr>
          <a:xfrm>
            <a:off x="685800" y="1554480"/>
            <a:ext cx="5257800" cy="457200"/>
          </a:xfrm>
          <a:prstGeom prst="roundRect">
            <a:avLst>
              <a:gd name="adj" fmla="val 16000"/>
            </a:avLst>
          </a:prstGeom>
          <a:solidFill>
            <a:srgbClr val="F4F6FB"/>
          </a:solidFill>
          <a:ln w="12700">
            <a:solidFill>
              <a:srgbClr val="F4F6FB"/>
            </a:solidFill>
            <a:prstDash val="solid"/>
          </a:ln>
        </p:spPr>
      </p:sp>
      <p:sp>
        <p:nvSpPr>
          <p:cNvPr id="7" name="Text 5"/>
          <p:cNvSpPr/>
          <p:nvPr/>
        </p:nvSpPr>
        <p:spPr>
          <a:xfrm>
            <a:off x="960120" y="1554480"/>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The lowest month</a:t>
            </a:r>
            <a:endParaRPr lang="en-US" sz="1300" dirty="0"/>
          </a:p>
        </p:txBody>
      </p:sp>
      <p:sp>
        <p:nvSpPr>
          <p:cNvPr id="8" name="Text 6"/>
          <p:cNvSpPr/>
          <p:nvPr/>
        </p:nvSpPr>
        <p:spPr>
          <a:xfrm>
            <a:off x="4572000" y="1554480"/>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0.5514</a:t>
            </a:r>
            <a:endParaRPr lang="en-US" sz="1500" dirty="0"/>
          </a:p>
        </p:txBody>
      </p:sp>
      <p:sp>
        <p:nvSpPr>
          <p:cNvPr id="9" name="Shape 7"/>
          <p:cNvSpPr/>
          <p:nvPr/>
        </p:nvSpPr>
        <p:spPr>
          <a:xfrm>
            <a:off x="685800" y="2084832"/>
            <a:ext cx="5257800" cy="457200"/>
          </a:xfrm>
          <a:prstGeom prst="roundRect">
            <a:avLst>
              <a:gd name="adj" fmla="val 16000"/>
            </a:avLst>
          </a:prstGeom>
          <a:solidFill>
            <a:srgbClr val="F4F6FB"/>
          </a:solidFill>
          <a:ln w="12700">
            <a:solidFill>
              <a:srgbClr val="F4F6FB"/>
            </a:solidFill>
            <a:prstDash val="solid"/>
          </a:ln>
        </p:spPr>
      </p:sp>
      <p:sp>
        <p:nvSpPr>
          <p:cNvPr id="10" name="Text 8"/>
          <p:cNvSpPr/>
          <p:nvPr/>
        </p:nvSpPr>
        <p:spPr>
          <a:xfrm>
            <a:off x="960120" y="2084832"/>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The highest month</a:t>
            </a:r>
            <a:endParaRPr lang="en-US" sz="1300" dirty="0"/>
          </a:p>
        </p:txBody>
      </p:sp>
      <p:sp>
        <p:nvSpPr>
          <p:cNvPr id="11" name="Text 9"/>
          <p:cNvSpPr/>
          <p:nvPr/>
        </p:nvSpPr>
        <p:spPr>
          <a:xfrm>
            <a:off x="4572000" y="2084832"/>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0.5504</a:t>
            </a:r>
            <a:endParaRPr lang="en-US" sz="1500" dirty="0"/>
          </a:p>
        </p:txBody>
      </p:sp>
      <p:sp>
        <p:nvSpPr>
          <p:cNvPr id="12" name="Shape 10"/>
          <p:cNvSpPr/>
          <p:nvPr/>
        </p:nvSpPr>
        <p:spPr>
          <a:xfrm>
            <a:off x="685800" y="2615184"/>
            <a:ext cx="5257800" cy="457200"/>
          </a:xfrm>
          <a:prstGeom prst="roundRect">
            <a:avLst>
              <a:gd name="adj" fmla="val 16000"/>
            </a:avLst>
          </a:prstGeom>
          <a:solidFill>
            <a:srgbClr val="F4F6FB"/>
          </a:solidFill>
          <a:ln w="12700">
            <a:solidFill>
              <a:srgbClr val="F4F6FB"/>
            </a:solidFill>
            <a:prstDash val="solid"/>
          </a:ln>
        </p:spPr>
      </p:sp>
      <p:sp>
        <p:nvSpPr>
          <p:cNvPr id="13" name="Text 11"/>
          <p:cNvSpPr/>
          <p:nvPr/>
        </p:nvSpPr>
        <p:spPr>
          <a:xfrm>
            <a:off x="960120" y="2615184"/>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Last month against the highest</a:t>
            </a:r>
            <a:endParaRPr lang="en-US" sz="1300" dirty="0"/>
          </a:p>
        </p:txBody>
      </p:sp>
      <p:sp>
        <p:nvSpPr>
          <p:cNvPr id="14" name="Text 12"/>
          <p:cNvSpPr/>
          <p:nvPr/>
        </p:nvSpPr>
        <p:spPr>
          <a:xfrm>
            <a:off x="4572000" y="2615184"/>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0.5506</a:t>
            </a:r>
            <a:endParaRPr lang="en-US" sz="1500" dirty="0"/>
          </a:p>
        </p:txBody>
      </p:sp>
      <p:sp>
        <p:nvSpPr>
          <p:cNvPr id="15" name="Shape 13"/>
          <p:cNvSpPr/>
          <p:nvPr/>
        </p:nvSpPr>
        <p:spPr>
          <a:xfrm>
            <a:off x="685800" y="3145536"/>
            <a:ext cx="5257800" cy="457200"/>
          </a:xfrm>
          <a:prstGeom prst="roundRect">
            <a:avLst>
              <a:gd name="adj" fmla="val 16000"/>
            </a:avLst>
          </a:prstGeom>
          <a:solidFill>
            <a:srgbClr val="F4F6FB"/>
          </a:solidFill>
          <a:ln w="12700">
            <a:solidFill>
              <a:srgbClr val="F4F6FB"/>
            </a:solidFill>
            <a:prstDash val="solid"/>
          </a:ln>
        </p:spPr>
      </p:sp>
      <p:sp>
        <p:nvSpPr>
          <p:cNvPr id="16" name="Text 14"/>
          <p:cNvSpPr/>
          <p:nvPr/>
        </p:nvSpPr>
        <p:spPr>
          <a:xfrm>
            <a:off x="960120" y="3145536"/>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Last month against the first</a:t>
            </a:r>
            <a:endParaRPr lang="en-US" sz="1300" dirty="0"/>
          </a:p>
        </p:txBody>
      </p:sp>
      <p:sp>
        <p:nvSpPr>
          <p:cNvPr id="17" name="Text 15"/>
          <p:cNvSpPr/>
          <p:nvPr/>
        </p:nvSpPr>
        <p:spPr>
          <a:xfrm>
            <a:off x="4572000" y="3145536"/>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0.5519</a:t>
            </a:r>
            <a:endParaRPr lang="en-US" sz="1500" dirty="0"/>
          </a:p>
        </p:txBody>
      </p:sp>
      <p:sp>
        <p:nvSpPr>
          <p:cNvPr id="18" name="Shape 16"/>
          <p:cNvSpPr/>
          <p:nvPr/>
        </p:nvSpPr>
        <p:spPr>
          <a:xfrm>
            <a:off x="685800" y="3675888"/>
            <a:ext cx="5257800" cy="457200"/>
          </a:xfrm>
          <a:prstGeom prst="roundRect">
            <a:avLst>
              <a:gd name="adj" fmla="val 16000"/>
            </a:avLst>
          </a:prstGeom>
          <a:solidFill>
            <a:srgbClr val="F4F6FB"/>
          </a:solidFill>
          <a:ln w="12700">
            <a:solidFill>
              <a:srgbClr val="F4F6FB"/>
            </a:solidFill>
            <a:prstDash val="solid"/>
          </a:ln>
        </p:spPr>
      </p:sp>
      <p:sp>
        <p:nvSpPr>
          <p:cNvPr id="19" name="Text 17"/>
          <p:cNvSpPr/>
          <p:nvPr/>
        </p:nvSpPr>
        <p:spPr>
          <a:xfrm>
            <a:off x="960120" y="3675888"/>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Is the last month the lowest?</a:t>
            </a:r>
            <a:endParaRPr lang="en-US" sz="1300" dirty="0"/>
          </a:p>
        </p:txBody>
      </p:sp>
      <p:sp>
        <p:nvSpPr>
          <p:cNvPr id="20" name="Text 18"/>
          <p:cNvSpPr/>
          <p:nvPr/>
        </p:nvSpPr>
        <p:spPr>
          <a:xfrm>
            <a:off x="4572000" y="3675888"/>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0.5478</a:t>
            </a:r>
            <a:endParaRPr lang="en-US" sz="1500" dirty="0"/>
          </a:p>
        </p:txBody>
      </p:sp>
      <p:sp>
        <p:nvSpPr>
          <p:cNvPr id="21" name="Shape 19"/>
          <p:cNvSpPr/>
          <p:nvPr/>
        </p:nvSpPr>
        <p:spPr>
          <a:xfrm>
            <a:off x="685800" y="4206240"/>
            <a:ext cx="5257800" cy="457200"/>
          </a:xfrm>
          <a:prstGeom prst="roundRect">
            <a:avLst>
              <a:gd name="adj" fmla="val 16000"/>
            </a:avLst>
          </a:prstGeom>
          <a:solidFill>
            <a:srgbClr val="F4F6FB"/>
          </a:solidFill>
          <a:ln w="12700">
            <a:solidFill>
              <a:srgbClr val="F4F6FB"/>
            </a:solidFill>
            <a:prstDash val="solid"/>
          </a:ln>
        </p:spPr>
      </p:sp>
      <p:sp>
        <p:nvSpPr>
          <p:cNvPr id="22" name="Text 20"/>
          <p:cNvSpPr/>
          <p:nvPr/>
        </p:nvSpPr>
        <p:spPr>
          <a:xfrm>
            <a:off x="960120" y="4206240"/>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Which month was the peak</a:t>
            </a:r>
            <a:endParaRPr lang="en-US" sz="1300" dirty="0"/>
          </a:p>
        </p:txBody>
      </p:sp>
      <p:sp>
        <p:nvSpPr>
          <p:cNvPr id="23" name="Text 21"/>
          <p:cNvSpPr/>
          <p:nvPr/>
        </p:nvSpPr>
        <p:spPr>
          <a:xfrm>
            <a:off x="4572000" y="4206240"/>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0.5471</a:t>
            </a:r>
            <a:endParaRPr lang="en-US" sz="1500" dirty="0"/>
          </a:p>
        </p:txBody>
      </p:sp>
      <p:sp>
        <p:nvSpPr>
          <p:cNvPr id="24" name="Shape 22"/>
          <p:cNvSpPr/>
          <p:nvPr/>
        </p:nvSpPr>
        <p:spPr>
          <a:xfrm>
            <a:off x="685800" y="4736592"/>
            <a:ext cx="5257800" cy="457200"/>
          </a:xfrm>
          <a:prstGeom prst="roundRect">
            <a:avLst>
              <a:gd name="adj" fmla="val 16000"/>
            </a:avLst>
          </a:prstGeom>
          <a:solidFill>
            <a:srgbClr val="F4F6FB"/>
          </a:solidFill>
          <a:ln w="12700">
            <a:solidFill>
              <a:srgbClr val="F4F6FB"/>
            </a:solidFill>
            <a:prstDash val="solid"/>
          </a:ln>
        </p:spPr>
      </p:sp>
      <p:sp>
        <p:nvSpPr>
          <p:cNvPr id="25" name="Text 23"/>
          <p:cNvSpPr/>
          <p:nvPr/>
        </p:nvSpPr>
        <p:spPr>
          <a:xfrm>
            <a:off x="960120" y="4736592"/>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Which month was the low point</a:t>
            </a:r>
            <a:endParaRPr lang="en-US" sz="1300" dirty="0"/>
          </a:p>
        </p:txBody>
      </p:sp>
      <p:sp>
        <p:nvSpPr>
          <p:cNvPr id="26" name="Text 24"/>
          <p:cNvSpPr/>
          <p:nvPr/>
        </p:nvSpPr>
        <p:spPr>
          <a:xfrm>
            <a:off x="4572000" y="4736592"/>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0.5467</a:t>
            </a:r>
            <a:endParaRPr lang="en-US" sz="1500" dirty="0"/>
          </a:p>
        </p:txBody>
      </p:sp>
      <p:sp>
        <p:nvSpPr>
          <p:cNvPr id="27" name="Shape 25"/>
          <p:cNvSpPr/>
          <p:nvPr/>
        </p:nvSpPr>
        <p:spPr>
          <a:xfrm>
            <a:off x="6217920" y="1554480"/>
            <a:ext cx="5257800" cy="457200"/>
          </a:xfrm>
          <a:prstGeom prst="roundRect">
            <a:avLst>
              <a:gd name="adj" fmla="val 16000"/>
            </a:avLst>
          </a:prstGeom>
          <a:solidFill>
            <a:srgbClr val="F4F6FB"/>
          </a:solidFill>
          <a:ln w="12700">
            <a:solidFill>
              <a:srgbClr val="F4F6FB"/>
            </a:solidFill>
            <a:prstDash val="solid"/>
          </a:ln>
        </p:spPr>
      </p:sp>
      <p:sp>
        <p:nvSpPr>
          <p:cNvPr id="28" name="Text 26"/>
          <p:cNvSpPr/>
          <p:nvPr/>
        </p:nvSpPr>
        <p:spPr>
          <a:xfrm>
            <a:off x="6492240" y="1554480"/>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The single biggest drop</a:t>
            </a:r>
            <a:endParaRPr lang="en-US" sz="1300" dirty="0"/>
          </a:p>
        </p:txBody>
      </p:sp>
      <p:sp>
        <p:nvSpPr>
          <p:cNvPr id="29" name="Text 27"/>
          <p:cNvSpPr/>
          <p:nvPr/>
        </p:nvSpPr>
        <p:spPr>
          <a:xfrm>
            <a:off x="10104120" y="1554480"/>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0.5505</a:t>
            </a:r>
            <a:endParaRPr lang="en-US" sz="1500" dirty="0"/>
          </a:p>
        </p:txBody>
      </p:sp>
      <p:sp>
        <p:nvSpPr>
          <p:cNvPr id="30" name="Shape 28"/>
          <p:cNvSpPr/>
          <p:nvPr/>
        </p:nvSpPr>
        <p:spPr>
          <a:xfrm>
            <a:off x="6217920" y="2084832"/>
            <a:ext cx="5257800" cy="457200"/>
          </a:xfrm>
          <a:prstGeom prst="roundRect">
            <a:avLst>
              <a:gd name="adj" fmla="val 16000"/>
            </a:avLst>
          </a:prstGeom>
          <a:solidFill>
            <a:srgbClr val="F4F6FB"/>
          </a:solidFill>
          <a:ln w="12700">
            <a:solidFill>
              <a:srgbClr val="F4F6FB"/>
            </a:solidFill>
            <a:prstDash val="solid"/>
          </a:ln>
        </p:spPr>
      </p:sp>
      <p:sp>
        <p:nvSpPr>
          <p:cNvPr id="31" name="Text 29"/>
          <p:cNvSpPr/>
          <p:nvPr/>
        </p:nvSpPr>
        <p:spPr>
          <a:xfrm>
            <a:off x="6492240" y="2084832"/>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How many months fell</a:t>
            </a:r>
            <a:endParaRPr lang="en-US" sz="1300" dirty="0"/>
          </a:p>
        </p:txBody>
      </p:sp>
      <p:sp>
        <p:nvSpPr>
          <p:cNvPr id="32" name="Text 30"/>
          <p:cNvSpPr/>
          <p:nvPr/>
        </p:nvSpPr>
        <p:spPr>
          <a:xfrm>
            <a:off x="10104120" y="2084832"/>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0.5495</a:t>
            </a:r>
            <a:endParaRPr lang="en-US" sz="1500" dirty="0"/>
          </a:p>
        </p:txBody>
      </p:sp>
      <p:sp>
        <p:nvSpPr>
          <p:cNvPr id="33" name="Shape 31"/>
          <p:cNvSpPr/>
          <p:nvPr/>
        </p:nvSpPr>
        <p:spPr>
          <a:xfrm>
            <a:off x="6217920" y="2615184"/>
            <a:ext cx="5257800" cy="457200"/>
          </a:xfrm>
          <a:prstGeom prst="roundRect">
            <a:avLst>
              <a:gd name="adj" fmla="val 16000"/>
            </a:avLst>
          </a:prstGeom>
          <a:solidFill>
            <a:srgbClr val="F4F6FB"/>
          </a:solidFill>
          <a:ln w="12700">
            <a:solidFill>
              <a:srgbClr val="F4F6FB"/>
            </a:solidFill>
            <a:prstDash val="solid"/>
          </a:ln>
        </p:spPr>
      </p:sp>
      <p:sp>
        <p:nvSpPr>
          <p:cNvPr id="34" name="Text 32"/>
          <p:cNvSpPr/>
          <p:nvPr/>
        </p:nvSpPr>
        <p:spPr>
          <a:xfrm>
            <a:off x="6492240" y="2615184"/>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Trend of the last three months</a:t>
            </a:r>
            <a:endParaRPr lang="en-US" sz="1300" dirty="0"/>
          </a:p>
        </p:txBody>
      </p:sp>
      <p:sp>
        <p:nvSpPr>
          <p:cNvPr id="35" name="Text 33"/>
          <p:cNvSpPr/>
          <p:nvPr/>
        </p:nvSpPr>
        <p:spPr>
          <a:xfrm>
            <a:off x="10104120" y="2615184"/>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0.5509</a:t>
            </a:r>
            <a:endParaRPr lang="en-US" sz="1500" dirty="0"/>
          </a:p>
        </p:txBody>
      </p:sp>
      <p:sp>
        <p:nvSpPr>
          <p:cNvPr id="36" name="Shape 34"/>
          <p:cNvSpPr/>
          <p:nvPr/>
        </p:nvSpPr>
        <p:spPr>
          <a:xfrm>
            <a:off x="6217920" y="3145536"/>
            <a:ext cx="5257800" cy="457200"/>
          </a:xfrm>
          <a:prstGeom prst="roundRect">
            <a:avLst>
              <a:gd name="adj" fmla="val 16000"/>
            </a:avLst>
          </a:prstGeom>
          <a:solidFill>
            <a:srgbClr val="F4F6FB"/>
          </a:solidFill>
          <a:ln w="12700">
            <a:solidFill>
              <a:srgbClr val="F4F6FB"/>
            </a:solidFill>
            <a:prstDash val="solid"/>
          </a:ln>
        </p:spPr>
      </p:sp>
      <p:sp>
        <p:nvSpPr>
          <p:cNvPr id="37" name="Text 35"/>
          <p:cNvSpPr/>
          <p:nvPr/>
        </p:nvSpPr>
        <p:spPr>
          <a:xfrm>
            <a:off x="6492240" y="3145536"/>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Trend of the first three months</a:t>
            </a:r>
            <a:endParaRPr lang="en-US" sz="1300" dirty="0"/>
          </a:p>
        </p:txBody>
      </p:sp>
      <p:sp>
        <p:nvSpPr>
          <p:cNvPr id="38" name="Text 36"/>
          <p:cNvSpPr/>
          <p:nvPr/>
        </p:nvSpPr>
        <p:spPr>
          <a:xfrm>
            <a:off x="10104120" y="3145536"/>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0.5514</a:t>
            </a:r>
            <a:endParaRPr lang="en-US" sz="1500" dirty="0"/>
          </a:p>
        </p:txBody>
      </p:sp>
      <p:sp>
        <p:nvSpPr>
          <p:cNvPr id="39" name="Shape 37"/>
          <p:cNvSpPr/>
          <p:nvPr/>
        </p:nvSpPr>
        <p:spPr>
          <a:xfrm>
            <a:off x="6217920" y="3675888"/>
            <a:ext cx="5257800" cy="457200"/>
          </a:xfrm>
          <a:prstGeom prst="roundRect">
            <a:avLst>
              <a:gd name="adj" fmla="val 16000"/>
            </a:avLst>
          </a:prstGeom>
          <a:solidFill>
            <a:srgbClr val="F4F6FB"/>
          </a:solidFill>
          <a:ln w="12700">
            <a:solidFill>
              <a:srgbClr val="F4F6FB"/>
            </a:solidFill>
            <a:prstDash val="solid"/>
          </a:ln>
        </p:spPr>
      </p:sp>
      <p:sp>
        <p:nvSpPr>
          <p:cNvPr id="40" name="Text 38"/>
          <p:cNvSpPr/>
          <p:nvPr/>
        </p:nvSpPr>
        <p:spPr>
          <a:xfrm>
            <a:off x="6492240" y="3675888"/>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Is the fall speeding up?</a:t>
            </a:r>
            <a:endParaRPr lang="en-US" sz="1300" dirty="0"/>
          </a:p>
        </p:txBody>
      </p:sp>
      <p:sp>
        <p:nvSpPr>
          <p:cNvPr id="41" name="Text 39"/>
          <p:cNvSpPr/>
          <p:nvPr/>
        </p:nvSpPr>
        <p:spPr>
          <a:xfrm>
            <a:off x="10104120" y="3675888"/>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0.5514</a:t>
            </a:r>
            <a:endParaRPr lang="en-US" sz="1500" dirty="0"/>
          </a:p>
        </p:txBody>
      </p:sp>
      <p:sp>
        <p:nvSpPr>
          <p:cNvPr id="42" name="Shape 40"/>
          <p:cNvSpPr/>
          <p:nvPr/>
        </p:nvSpPr>
        <p:spPr>
          <a:xfrm>
            <a:off x="6217920" y="4206240"/>
            <a:ext cx="5257800" cy="457200"/>
          </a:xfrm>
          <a:prstGeom prst="roundRect">
            <a:avLst>
              <a:gd name="adj" fmla="val 16000"/>
            </a:avLst>
          </a:prstGeom>
          <a:solidFill>
            <a:srgbClr val="F4F6FB"/>
          </a:solidFill>
          <a:ln w="12700">
            <a:solidFill>
              <a:srgbClr val="F4F6FB"/>
            </a:solidFill>
            <a:prstDash val="solid"/>
          </a:ln>
        </p:spPr>
      </p:sp>
      <p:sp>
        <p:nvSpPr>
          <p:cNvPr id="43" name="Text 41"/>
          <p:cNvSpPr/>
          <p:nvPr/>
        </p:nvSpPr>
        <p:spPr>
          <a:xfrm>
            <a:off x="6492240" y="4206240"/>
            <a:ext cx="3566160" cy="45720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Spread against the average</a:t>
            </a:r>
            <a:endParaRPr lang="en-US" sz="1300" dirty="0"/>
          </a:p>
        </p:txBody>
      </p:sp>
      <p:sp>
        <p:nvSpPr>
          <p:cNvPr id="44" name="Text 42"/>
          <p:cNvSpPr/>
          <p:nvPr/>
        </p:nvSpPr>
        <p:spPr>
          <a:xfrm>
            <a:off x="10104120" y="4206240"/>
            <a:ext cx="1097280" cy="457200"/>
          </a:xfrm>
          <a:prstGeom prst="rect">
            <a:avLst/>
          </a:prstGeom>
          <a:noFill/>
          <a:ln/>
        </p:spPr>
        <p:txBody>
          <a:bodyPr wrap="square" lIns="0" tIns="0" rIns="0" bIns="0" rtlCol="0" anchor="ctr"/>
          <a:lstStyle/>
          <a:p>
            <a:pPr algn="r" indent="0" marL="0">
              <a:buNone/>
            </a:pPr>
            <a:r>
              <a:rPr lang="en-US" sz="1500" dirty="0">
                <a:solidFill>
                  <a:srgbClr val="4A5163"/>
                </a:solidFill>
                <a:latin typeface="Cambria" pitchFamily="34" charset="0"/>
                <a:ea typeface="Cambria" pitchFamily="34" charset="-122"/>
                <a:cs typeface="Cambria" pitchFamily="34" charset="-120"/>
              </a:rPr>
              <a:t>0.5497</a:t>
            </a:r>
            <a:endParaRPr lang="en-US" sz="1500" dirty="0"/>
          </a:p>
        </p:txBody>
      </p:sp>
      <p:sp>
        <p:nvSpPr>
          <p:cNvPr id="45" name="Shape 43"/>
          <p:cNvSpPr/>
          <p:nvPr/>
        </p:nvSpPr>
        <p:spPr>
          <a:xfrm>
            <a:off x="6217920" y="5257800"/>
            <a:ext cx="5257800" cy="1051560"/>
          </a:xfrm>
          <a:prstGeom prst="roundRect">
            <a:avLst>
              <a:gd name="adj" fmla="val 6957"/>
            </a:avLst>
          </a:prstGeom>
          <a:solidFill>
            <a:srgbClr val="1E2761"/>
          </a:solidFill>
          <a:ln w="12700">
            <a:solidFill>
              <a:srgbClr val="1E2761"/>
            </a:solidFill>
            <a:prstDash val="solid"/>
          </a:ln>
        </p:spPr>
      </p:sp>
      <p:sp>
        <p:nvSpPr>
          <p:cNvPr id="46" name="Text 44"/>
          <p:cNvSpPr/>
          <p:nvPr/>
        </p:nvSpPr>
        <p:spPr>
          <a:xfrm>
            <a:off x="6537960" y="5257800"/>
            <a:ext cx="4663440" cy="1051560"/>
          </a:xfrm>
          <a:prstGeom prst="rect">
            <a:avLst/>
          </a:prstGeom>
          <a:noFill/>
          <a:ln/>
        </p:spPr>
        <p:txBody>
          <a:bodyPr wrap="square" lIns="0" tIns="0" rIns="0" bIns="0" rtlCol="0" anchor="ctr"/>
          <a:lstStyle/>
          <a:p>
            <a:pPr indent="0" marL="0">
              <a:buNone/>
            </a:pPr>
            <a:r>
              <a:rPr lang="en-US" sz="1800" b="1" dirty="0">
                <a:solidFill>
                  <a:srgbClr val="E39A00"/>
                </a:solidFill>
                <a:latin typeface="Cambria" pitchFamily="34" charset="0"/>
                <a:ea typeface="Cambria" pitchFamily="34" charset="-122"/>
                <a:cs typeface="Cambria" pitchFamily="34" charset="-120"/>
              </a:rPr>
              <a:t>Not one reached 0.553</a:t>
            </a:r>
            <a:endParaRPr lang="en-US" sz="1800" dirty="0"/>
          </a:p>
        </p:txBody>
      </p:sp>
      <p:sp>
        <p:nvSpPr>
          <p:cNvPr id="47" name="Text 45"/>
          <p:cNvSpPr/>
          <p:nvPr/>
        </p:nvSpPr>
        <p:spPr>
          <a:xfrm>
            <a:off x="685800" y="5349240"/>
            <a:ext cx="5257800" cy="868680"/>
          </a:xfrm>
          <a:prstGeom prst="rect">
            <a:avLst/>
          </a:prstGeom>
          <a:noFill/>
          <a:ln/>
        </p:spPr>
        <p:txBody>
          <a:bodyPr wrap="square" lIns="0" tIns="0" rIns="0" bIns="0" rtlCol="0" anchor="ctr"/>
          <a:lstStyle/>
          <a:p>
            <a:pPr indent="0" marL="0">
              <a:lnSpc>
                <a:spcPts val="1800"/>
              </a:lnSpc>
              <a:buNone/>
            </a:pPr>
            <a:r>
              <a:rPr lang="en-US" sz="1300" i="1" dirty="0">
                <a:solidFill>
                  <a:srgbClr val="1E2761"/>
                </a:solidFill>
                <a:latin typeface="Calibri" pitchFamily="34" charset="0"/>
                <a:ea typeface="Calibri" pitchFamily="34" charset="-122"/>
                <a:cs typeface="Calibri" pitchFamily="34" charset="-120"/>
              </a:rPr>
              <a:t>Most of these are just weighted sums of columns the model already had — so they were free to it before we ever built them.</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Steps nine and ten — the exhaustive search</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Every pair of columns, then every level of pruning</a:t>
            </a:r>
            <a:endParaRPr lang="en-US" sz="1500" dirty="0"/>
          </a:p>
        </p:txBody>
      </p:sp>
      <p:sp>
        <p:nvSpPr>
          <p:cNvPr id="6" name="Shape 4"/>
          <p:cNvSpPr/>
          <p:nvPr/>
        </p:nvSpPr>
        <p:spPr>
          <a:xfrm>
            <a:off x="685800" y="1554480"/>
            <a:ext cx="5257800" cy="2377440"/>
          </a:xfrm>
          <a:prstGeom prst="roundRect">
            <a:avLst>
              <a:gd name="adj" fmla="val 3077"/>
            </a:avLst>
          </a:prstGeom>
          <a:solidFill>
            <a:srgbClr val="F4F6FB"/>
          </a:solidFill>
          <a:ln w="12700">
            <a:solidFill>
              <a:srgbClr val="F4F6FB"/>
            </a:solidFill>
            <a:prstDash val="solid"/>
          </a:ln>
        </p:spPr>
      </p:sp>
      <p:sp>
        <p:nvSpPr>
          <p:cNvPr id="7" name="Text 5"/>
          <p:cNvSpPr/>
          <p:nvPr/>
        </p:nvSpPr>
        <p:spPr>
          <a:xfrm>
            <a:off x="1005840" y="1719072"/>
            <a:ext cx="4663440" cy="292608"/>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All 190 pairs of columns, multiplied</a:t>
            </a:r>
            <a:endParaRPr lang="en-US" sz="1600" dirty="0"/>
          </a:p>
        </p:txBody>
      </p:sp>
      <p:sp>
        <p:nvSpPr>
          <p:cNvPr id="8" name="Text 6"/>
          <p:cNvSpPr/>
          <p:nvPr/>
        </p:nvSpPr>
        <p:spPr>
          <a:xfrm>
            <a:off x="1005840" y="2057400"/>
            <a:ext cx="4663440" cy="91440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We took twenty candidate columns, multiplied every possible pair, and screened them against the model's own mistakes — literally asking "what combination explains what we get wrong?"</a:t>
            </a:r>
            <a:endParaRPr lang="en-US" sz="1250" dirty="0"/>
          </a:p>
        </p:txBody>
      </p:sp>
      <p:sp>
        <p:nvSpPr>
          <p:cNvPr id="9" name="Text 7"/>
          <p:cNvSpPr/>
          <p:nvPr/>
        </p:nvSpPr>
        <p:spPr>
          <a:xfrm>
            <a:off x="1005840" y="2971800"/>
            <a:ext cx="4663440" cy="292608"/>
          </a:xfrm>
          <a:prstGeom prst="rect">
            <a:avLst/>
          </a:prstGeom>
          <a:noFill/>
          <a:ln/>
        </p:spPr>
        <p:txBody>
          <a:bodyPr wrap="square" lIns="0" tIns="0" rIns="0" bIns="0" rtlCol="0" anchor="ctr"/>
          <a:lstStyle/>
          <a:p>
            <a:pPr indent="0" marL="0">
              <a:buNone/>
            </a:pPr>
            <a:r>
              <a:rPr lang="en-US" sz="1300" b="1" dirty="0">
                <a:solidFill>
                  <a:srgbClr val="1B1F2A"/>
                </a:solidFill>
                <a:latin typeface="Calibri" pitchFamily="34" charset="0"/>
                <a:ea typeface="Calibri" pitchFamily="34" charset="-122"/>
                <a:cs typeface="Calibri" pitchFamily="34" charset="-120"/>
              </a:rPr>
              <a:t>Best of the six survivors: 0.5517.   Baseline: 0.5509.</a:t>
            </a:r>
            <a:endParaRPr lang="en-US" sz="1300" dirty="0"/>
          </a:p>
        </p:txBody>
      </p:sp>
      <p:sp>
        <p:nvSpPr>
          <p:cNvPr id="10" name="Shape 8"/>
          <p:cNvSpPr/>
          <p:nvPr/>
        </p:nvSpPr>
        <p:spPr>
          <a:xfrm>
            <a:off x="1005840" y="3291840"/>
            <a:ext cx="4663440" cy="402336"/>
          </a:xfrm>
          <a:prstGeom prst="roundRect">
            <a:avLst>
              <a:gd name="adj" fmla="val 13636"/>
            </a:avLst>
          </a:prstGeom>
          <a:solidFill>
            <a:srgbClr val="C0453F"/>
          </a:solidFill>
          <a:ln w="12700">
            <a:solidFill>
              <a:srgbClr val="C0453F"/>
            </a:solidFill>
            <a:prstDash val="solid"/>
          </a:ln>
        </p:spPr>
      </p:sp>
      <p:sp>
        <p:nvSpPr>
          <p:cNvPr id="11" name="Text 9"/>
          <p:cNvSpPr/>
          <p:nvPr/>
        </p:nvSpPr>
        <p:spPr>
          <a:xfrm>
            <a:off x="1005840" y="3291840"/>
            <a:ext cx="4663440" cy="402336"/>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NONE BEAT THE BASELINE</a:t>
            </a:r>
            <a:endParaRPr lang="en-US" sz="1250" dirty="0"/>
          </a:p>
        </p:txBody>
      </p:sp>
      <p:sp>
        <p:nvSpPr>
          <p:cNvPr id="12" name="Shape 10"/>
          <p:cNvSpPr/>
          <p:nvPr/>
        </p:nvSpPr>
        <p:spPr>
          <a:xfrm>
            <a:off x="6217920" y="1554480"/>
            <a:ext cx="5257800" cy="2377440"/>
          </a:xfrm>
          <a:prstGeom prst="roundRect">
            <a:avLst>
              <a:gd name="adj" fmla="val 3077"/>
            </a:avLst>
          </a:prstGeom>
          <a:solidFill>
            <a:srgbClr val="F4F6FB"/>
          </a:solidFill>
          <a:ln w="12700">
            <a:solidFill>
              <a:srgbClr val="F4F6FB"/>
            </a:solidFill>
            <a:prstDash val="solid"/>
          </a:ln>
        </p:spPr>
      </p:sp>
      <p:sp>
        <p:nvSpPr>
          <p:cNvPr id="13" name="Text 11"/>
          <p:cNvSpPr/>
          <p:nvPr/>
        </p:nvSpPr>
        <p:spPr>
          <a:xfrm>
            <a:off x="6537960" y="1719072"/>
            <a:ext cx="4663440" cy="292608"/>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Removing the weakest columns, eight ways</a:t>
            </a:r>
            <a:endParaRPr lang="en-US" sz="1600" dirty="0"/>
          </a:p>
        </p:txBody>
      </p:sp>
      <p:sp>
        <p:nvSpPr>
          <p:cNvPr id="14" name="Text 12"/>
          <p:cNvSpPr/>
          <p:nvPr/>
        </p:nvSpPr>
        <p:spPr>
          <a:xfrm>
            <a:off x="6537960" y="2057400"/>
            <a:ext cx="4663440" cy="68580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From all 39 columns down to 15, dropping the weakest each time. The best result kept 30 columns and scored 0.5526.</a:t>
            </a:r>
            <a:endParaRPr lang="en-US" sz="1250" dirty="0"/>
          </a:p>
        </p:txBody>
      </p:sp>
      <p:sp>
        <p:nvSpPr>
          <p:cNvPr id="15" name="Text 13"/>
          <p:cNvSpPr/>
          <p:nvPr/>
        </p:nvSpPr>
        <p:spPr>
          <a:xfrm>
            <a:off x="6537960" y="2788920"/>
            <a:ext cx="4663440" cy="457200"/>
          </a:xfrm>
          <a:prstGeom prst="rect">
            <a:avLst/>
          </a:prstGeom>
          <a:noFill/>
          <a:ln/>
        </p:spPr>
        <p:txBody>
          <a:bodyPr wrap="square" lIns="0" tIns="0" rIns="0" bIns="0" rtlCol="0" anchor="ctr"/>
          <a:lstStyle/>
          <a:p>
            <a:pPr indent="0" marL="0">
              <a:lnSpc>
                <a:spcPts val="1700"/>
              </a:lnSpc>
              <a:buNone/>
            </a:pPr>
            <a:r>
              <a:rPr lang="en-US" sz="1300" b="1" dirty="0">
                <a:solidFill>
                  <a:srgbClr val="1B1F2A"/>
                </a:solidFill>
                <a:latin typeface="Calibri" pitchFamily="34" charset="0"/>
                <a:ea typeface="Calibri" pitchFamily="34" charset="-122"/>
                <a:cs typeface="Calibri" pitchFamily="34" charset="-120"/>
              </a:rPr>
              <a:t>That is a gain of 0.0017 — a third of what we had already agreed to call noise.</a:t>
            </a:r>
            <a:endParaRPr lang="en-US" sz="1300" dirty="0"/>
          </a:p>
        </p:txBody>
      </p:sp>
      <p:sp>
        <p:nvSpPr>
          <p:cNvPr id="16" name="Shape 14"/>
          <p:cNvSpPr/>
          <p:nvPr/>
        </p:nvSpPr>
        <p:spPr>
          <a:xfrm>
            <a:off x="6537960" y="3291840"/>
            <a:ext cx="4663440" cy="402336"/>
          </a:xfrm>
          <a:prstGeom prst="roundRect">
            <a:avLst>
              <a:gd name="adj" fmla="val 13636"/>
            </a:avLst>
          </a:prstGeom>
          <a:solidFill>
            <a:srgbClr val="C0453F"/>
          </a:solidFill>
          <a:ln w="12700">
            <a:solidFill>
              <a:srgbClr val="C0453F"/>
            </a:solidFill>
            <a:prstDash val="solid"/>
          </a:ln>
        </p:spPr>
      </p:sp>
      <p:sp>
        <p:nvSpPr>
          <p:cNvPr id="17" name="Text 15"/>
          <p:cNvSpPr/>
          <p:nvPr/>
        </p:nvSpPr>
        <p:spPr>
          <a:xfrm>
            <a:off x="6537960" y="3291840"/>
            <a:ext cx="4663440" cy="402336"/>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PRUNING DOES NOT HELP</a:t>
            </a:r>
            <a:endParaRPr lang="en-US" sz="1250" dirty="0"/>
          </a:p>
        </p:txBody>
      </p:sp>
      <p:sp>
        <p:nvSpPr>
          <p:cNvPr id="18" name="Shape 16"/>
          <p:cNvSpPr/>
          <p:nvPr/>
        </p:nvSpPr>
        <p:spPr>
          <a:xfrm>
            <a:off x="685800" y="4160520"/>
            <a:ext cx="10789920" cy="1920240"/>
          </a:xfrm>
          <a:prstGeom prst="roundRect">
            <a:avLst>
              <a:gd name="adj" fmla="val 3810"/>
            </a:avLst>
          </a:prstGeom>
          <a:solidFill>
            <a:srgbClr val="1E2761"/>
          </a:solidFill>
          <a:ln w="12700">
            <a:solidFill>
              <a:srgbClr val="1E2761"/>
            </a:solidFill>
            <a:prstDash val="solid"/>
          </a:ln>
        </p:spPr>
      </p:sp>
      <p:sp>
        <p:nvSpPr>
          <p:cNvPr id="19" name="Text 17"/>
          <p:cNvSpPr/>
          <p:nvPr/>
        </p:nvSpPr>
        <p:spPr>
          <a:xfrm>
            <a:off x="1005840" y="4315968"/>
            <a:ext cx="10149840" cy="320040"/>
          </a:xfrm>
          <a:prstGeom prst="rect">
            <a:avLst/>
          </a:prstGeom>
          <a:noFill/>
          <a:ln/>
        </p:spPr>
        <p:txBody>
          <a:bodyPr wrap="square" lIns="0" tIns="0" rIns="0" bIns="0" rtlCol="0" anchor="ctr"/>
          <a:lstStyle/>
          <a:p>
            <a:pPr indent="0" marL="0">
              <a:buNone/>
            </a:pPr>
            <a:r>
              <a:rPr lang="en-US" sz="1700" b="1" dirty="0">
                <a:solidFill>
                  <a:srgbClr val="E39A00"/>
                </a:solidFill>
                <a:latin typeface="Cambria" pitchFamily="34" charset="0"/>
                <a:ea typeface="Cambria" pitchFamily="34" charset="-122"/>
                <a:cs typeface="Cambria" pitchFamily="34" charset="-120"/>
              </a:rPr>
              <a:t>So would more customers help?</a:t>
            </a:r>
            <a:endParaRPr lang="en-US" sz="1700" dirty="0"/>
          </a:p>
        </p:txBody>
      </p:sp>
      <p:sp>
        <p:nvSpPr>
          <p:cNvPr id="20" name="Text 18"/>
          <p:cNvSpPr/>
          <p:nvPr/>
        </p:nvSpPr>
        <p:spPr>
          <a:xfrm>
            <a:off x="1005840" y="4663440"/>
            <a:ext cx="10149840" cy="411480"/>
          </a:xfrm>
          <a:prstGeom prst="rect">
            <a:avLst/>
          </a:prstGeom>
          <a:noFill/>
          <a:ln/>
        </p:spPr>
        <p:txBody>
          <a:bodyPr wrap="square" lIns="0" tIns="0" rIns="0" bIns="0" rtlCol="0" anchor="ctr"/>
          <a:lstStyle/>
          <a:p>
            <a:pPr indent="0" marL="0">
              <a:lnSpc>
                <a:spcPts val="1900"/>
              </a:lnSpc>
              <a:buNone/>
            </a:pPr>
            <a:r>
              <a:rPr lang="en-US" sz="1400" dirty="0">
                <a:solidFill>
                  <a:srgbClr val="C3CCE4"/>
                </a:solidFill>
                <a:latin typeface="Calibri" pitchFamily="34" charset="0"/>
                <a:ea typeface="Calibri" pitchFamily="34" charset="-122"/>
                <a:cs typeface="Calibri" pitchFamily="34" charset="-120"/>
              </a:rPr>
              <a:t>We trained on growing slices to find out. AUC at 1,360 customers: 0.759. At 2,720: 0.765. At 4,080: 0.782. At 5,440: 0.780. At 6,800: 0.788.</a:t>
            </a:r>
            <a:endParaRPr lang="en-US" sz="1400" dirty="0"/>
          </a:p>
        </p:txBody>
      </p:sp>
      <p:sp>
        <p:nvSpPr>
          <p:cNvPr id="21" name="Text 19"/>
          <p:cNvSpPr/>
          <p:nvPr/>
        </p:nvSpPr>
        <p:spPr>
          <a:xfrm>
            <a:off x="1005840" y="5138928"/>
            <a:ext cx="10149840" cy="731520"/>
          </a:xfrm>
          <a:prstGeom prst="rect">
            <a:avLst/>
          </a:prstGeom>
          <a:noFill/>
          <a:ln/>
        </p:spPr>
        <p:txBody>
          <a:bodyPr wrap="square" lIns="0" tIns="0" rIns="0" bIns="0" rtlCol="0" anchor="ctr"/>
          <a:lstStyle/>
          <a:p>
            <a:pPr indent="0" marL="0">
              <a:lnSpc>
                <a:spcPts val="1900"/>
              </a:lnSpc>
              <a:buNone/>
            </a:pPr>
            <a:r>
              <a:rPr lang="en-US" sz="1400" dirty="0">
                <a:solidFill>
                  <a:srgbClr val="C3CCE4"/>
                </a:solidFill>
                <a:latin typeface="Calibri" pitchFamily="34" charset="0"/>
                <a:ea typeface="Calibri" pitchFamily="34" charset="-122"/>
                <a:cs typeface="Calibri" pitchFamily="34" charset="-120"/>
              </a:rPr>
              <a:t>Still rising, so the model is not starved of data. But five times the customers bought 0.029. Doubling the file again would be worth a fraction of that — the limit is not how many customers we have.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21</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The scoreboard — everything we tried on the model</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Twelve lines of work. Four moved the number</a:t>
            </a:r>
            <a:endParaRPr lang="en-US" sz="1500" dirty="0"/>
          </a:p>
        </p:txBody>
      </p:sp>
      <p:sp>
        <p:nvSpPr>
          <p:cNvPr id="6" name="Shape 4"/>
          <p:cNvSpPr/>
          <p:nvPr/>
        </p:nvSpPr>
        <p:spPr>
          <a:xfrm>
            <a:off x="685800" y="1481328"/>
            <a:ext cx="5257800" cy="658368"/>
          </a:xfrm>
          <a:prstGeom prst="roundRect">
            <a:avLst>
              <a:gd name="adj" fmla="val 11111"/>
            </a:avLst>
          </a:prstGeom>
          <a:solidFill>
            <a:srgbClr val="F4F6FB"/>
          </a:solidFill>
          <a:ln w="12700">
            <a:solidFill>
              <a:srgbClr val="F4F6FB"/>
            </a:solidFill>
            <a:prstDash val="solid"/>
          </a:ln>
        </p:spPr>
      </p:sp>
      <p:sp>
        <p:nvSpPr>
          <p:cNvPr id="7" name="Shape 5"/>
          <p:cNvSpPr/>
          <p:nvPr/>
        </p:nvSpPr>
        <p:spPr>
          <a:xfrm>
            <a:off x="914400" y="1691640"/>
            <a:ext cx="237744" cy="237744"/>
          </a:xfrm>
          <a:prstGeom prst="ellipse">
            <a:avLst/>
          </a:prstGeom>
          <a:solidFill>
            <a:srgbClr val="3F7D68"/>
          </a:solidFill>
          <a:ln/>
        </p:spPr>
      </p:sp>
      <p:sp>
        <p:nvSpPr>
          <p:cNvPr id="8" name="Text 6"/>
          <p:cNvSpPr/>
          <p:nvPr/>
        </p:nvSpPr>
        <p:spPr>
          <a:xfrm>
            <a:off x="1280160" y="1536192"/>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Changing the model family</a:t>
            </a:r>
            <a:endParaRPr lang="en-US" sz="1200" dirty="0"/>
          </a:p>
        </p:txBody>
      </p:sp>
      <p:sp>
        <p:nvSpPr>
          <p:cNvPr id="9" name="Text 7"/>
          <p:cNvSpPr/>
          <p:nvPr/>
        </p:nvSpPr>
        <p:spPr>
          <a:xfrm>
            <a:off x="1280160" y="1819656"/>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the largest single gain</a:t>
            </a:r>
            <a:endParaRPr lang="en-US" sz="1050" dirty="0"/>
          </a:p>
        </p:txBody>
      </p:sp>
      <p:sp>
        <p:nvSpPr>
          <p:cNvPr id="10" name="Text 8"/>
          <p:cNvSpPr/>
          <p:nvPr/>
        </p:nvSpPr>
        <p:spPr>
          <a:xfrm>
            <a:off x="4389120" y="1481328"/>
            <a:ext cx="1325880" cy="658368"/>
          </a:xfrm>
          <a:prstGeom prst="rect">
            <a:avLst/>
          </a:prstGeom>
          <a:noFill/>
          <a:ln/>
        </p:spPr>
        <p:txBody>
          <a:bodyPr wrap="square" lIns="0" tIns="0" rIns="0" bIns="0" rtlCol="0" anchor="ctr"/>
          <a:lstStyle/>
          <a:p>
            <a:pPr algn="r" indent="0" marL="0">
              <a:buNone/>
            </a:pPr>
            <a:r>
              <a:rPr lang="en-US" sz="1200" b="1" dirty="0">
                <a:solidFill>
                  <a:srgbClr val="3F7D68"/>
                </a:solidFill>
                <a:latin typeface="Cambria" pitchFamily="34" charset="0"/>
                <a:ea typeface="Cambria" pitchFamily="34" charset="-122"/>
                <a:cs typeface="Cambria" pitchFamily="34" charset="-120"/>
              </a:rPr>
              <a:t>0.5353 → 0.5434</a:t>
            </a:r>
            <a:endParaRPr lang="en-US" sz="1200" dirty="0"/>
          </a:p>
        </p:txBody>
      </p:sp>
      <p:sp>
        <p:nvSpPr>
          <p:cNvPr id="11" name="Shape 9"/>
          <p:cNvSpPr/>
          <p:nvPr/>
        </p:nvSpPr>
        <p:spPr>
          <a:xfrm>
            <a:off x="685800" y="2203704"/>
            <a:ext cx="5257800" cy="658368"/>
          </a:xfrm>
          <a:prstGeom prst="roundRect">
            <a:avLst>
              <a:gd name="adj" fmla="val 11111"/>
            </a:avLst>
          </a:prstGeom>
          <a:solidFill>
            <a:srgbClr val="F4F6FB"/>
          </a:solidFill>
          <a:ln w="12700">
            <a:solidFill>
              <a:srgbClr val="F4F6FB"/>
            </a:solidFill>
            <a:prstDash val="solid"/>
          </a:ln>
        </p:spPr>
      </p:sp>
      <p:sp>
        <p:nvSpPr>
          <p:cNvPr id="12" name="Shape 10"/>
          <p:cNvSpPr/>
          <p:nvPr/>
        </p:nvSpPr>
        <p:spPr>
          <a:xfrm>
            <a:off x="914400" y="2414016"/>
            <a:ext cx="237744" cy="237744"/>
          </a:xfrm>
          <a:prstGeom prst="ellipse">
            <a:avLst/>
          </a:prstGeom>
          <a:solidFill>
            <a:srgbClr val="3F7D68"/>
          </a:solidFill>
          <a:ln/>
        </p:spPr>
      </p:sp>
      <p:sp>
        <p:nvSpPr>
          <p:cNvPr id="13" name="Text 11"/>
          <p:cNvSpPr/>
          <p:nvPr/>
        </p:nvSpPr>
        <p:spPr>
          <a:xfrm>
            <a:off x="1280160" y="2258568"/>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Tuning the settings automatically</a:t>
            </a:r>
            <a:endParaRPr lang="en-US" sz="1200" dirty="0"/>
          </a:p>
        </p:txBody>
      </p:sp>
      <p:sp>
        <p:nvSpPr>
          <p:cNvPr id="14" name="Text 12"/>
          <p:cNvSpPr/>
          <p:nvPr/>
        </p:nvSpPr>
        <p:spPr>
          <a:xfrm>
            <a:off x="1280160" y="2542032"/>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second-largest, on the tree</a:t>
            </a:r>
            <a:endParaRPr lang="en-US" sz="1050" dirty="0"/>
          </a:p>
        </p:txBody>
      </p:sp>
      <p:sp>
        <p:nvSpPr>
          <p:cNvPr id="15" name="Text 13"/>
          <p:cNvSpPr/>
          <p:nvPr/>
        </p:nvSpPr>
        <p:spPr>
          <a:xfrm>
            <a:off x="4389120" y="2203704"/>
            <a:ext cx="1325880" cy="658368"/>
          </a:xfrm>
          <a:prstGeom prst="rect">
            <a:avLst/>
          </a:prstGeom>
          <a:noFill/>
          <a:ln/>
        </p:spPr>
        <p:txBody>
          <a:bodyPr wrap="square" lIns="0" tIns="0" rIns="0" bIns="0" rtlCol="0" anchor="ctr"/>
          <a:lstStyle/>
          <a:p>
            <a:pPr algn="r" indent="0" marL="0">
              <a:buNone/>
            </a:pPr>
            <a:r>
              <a:rPr lang="en-US" sz="1200" b="1" dirty="0">
                <a:solidFill>
                  <a:srgbClr val="3F7D68"/>
                </a:solidFill>
                <a:latin typeface="Cambria" pitchFamily="34" charset="0"/>
                <a:ea typeface="Cambria" pitchFamily="34" charset="-122"/>
                <a:cs typeface="Cambria" pitchFamily="34" charset="-120"/>
              </a:rPr>
              <a:t>0.5236 → 0.5436</a:t>
            </a:r>
            <a:endParaRPr lang="en-US" sz="1200" dirty="0"/>
          </a:p>
        </p:txBody>
      </p:sp>
      <p:sp>
        <p:nvSpPr>
          <p:cNvPr id="16" name="Shape 14"/>
          <p:cNvSpPr/>
          <p:nvPr/>
        </p:nvSpPr>
        <p:spPr>
          <a:xfrm>
            <a:off x="685800" y="2926080"/>
            <a:ext cx="5257800" cy="658368"/>
          </a:xfrm>
          <a:prstGeom prst="roundRect">
            <a:avLst>
              <a:gd name="adj" fmla="val 11111"/>
            </a:avLst>
          </a:prstGeom>
          <a:solidFill>
            <a:srgbClr val="F4F6FB"/>
          </a:solidFill>
          <a:ln w="12700">
            <a:solidFill>
              <a:srgbClr val="F4F6FB"/>
            </a:solidFill>
            <a:prstDash val="solid"/>
          </a:ln>
        </p:spPr>
      </p:sp>
      <p:sp>
        <p:nvSpPr>
          <p:cNvPr id="17" name="Shape 15"/>
          <p:cNvSpPr/>
          <p:nvPr/>
        </p:nvSpPr>
        <p:spPr>
          <a:xfrm>
            <a:off x="914400" y="3136392"/>
            <a:ext cx="237744" cy="237744"/>
          </a:xfrm>
          <a:prstGeom prst="ellipse">
            <a:avLst/>
          </a:prstGeom>
          <a:solidFill>
            <a:srgbClr val="3F7D68"/>
          </a:solidFill>
          <a:ln/>
        </p:spPr>
      </p:sp>
      <p:sp>
        <p:nvSpPr>
          <p:cNvPr id="18" name="Text 16"/>
          <p:cNvSpPr/>
          <p:nvPr/>
        </p:nvSpPr>
        <p:spPr>
          <a:xfrm>
            <a:off x="1280160" y="2980944"/>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The eleven combination columns</a:t>
            </a:r>
            <a:endParaRPr lang="en-US" sz="1200" dirty="0"/>
          </a:p>
        </p:txBody>
      </p:sp>
      <p:sp>
        <p:nvSpPr>
          <p:cNvPr id="19" name="Text 17"/>
          <p:cNvSpPr/>
          <p:nvPr/>
        </p:nvSpPr>
        <p:spPr>
          <a:xfrm>
            <a:off x="1280160" y="3264408"/>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the only feature work that counted</a:t>
            </a:r>
            <a:endParaRPr lang="en-US" sz="1050" dirty="0"/>
          </a:p>
        </p:txBody>
      </p:sp>
      <p:sp>
        <p:nvSpPr>
          <p:cNvPr id="20" name="Text 18"/>
          <p:cNvSpPr/>
          <p:nvPr/>
        </p:nvSpPr>
        <p:spPr>
          <a:xfrm>
            <a:off x="4389120" y="2926080"/>
            <a:ext cx="1325880" cy="658368"/>
          </a:xfrm>
          <a:prstGeom prst="rect">
            <a:avLst/>
          </a:prstGeom>
          <a:noFill/>
          <a:ln/>
        </p:spPr>
        <p:txBody>
          <a:bodyPr wrap="square" lIns="0" tIns="0" rIns="0" bIns="0" rtlCol="0" anchor="ctr"/>
          <a:lstStyle/>
          <a:p>
            <a:pPr algn="r" indent="0" marL="0">
              <a:buNone/>
            </a:pPr>
            <a:r>
              <a:rPr lang="en-US" sz="1200" b="1" dirty="0">
                <a:solidFill>
                  <a:srgbClr val="3F7D68"/>
                </a:solidFill>
                <a:latin typeface="Cambria" pitchFamily="34" charset="0"/>
                <a:ea typeface="Cambria" pitchFamily="34" charset="-122"/>
                <a:cs typeface="Cambria" pitchFamily="34" charset="-120"/>
              </a:rPr>
              <a:t>0.5434 → 0.5489</a:t>
            </a:r>
            <a:endParaRPr lang="en-US" sz="1200" dirty="0"/>
          </a:p>
        </p:txBody>
      </p:sp>
      <p:sp>
        <p:nvSpPr>
          <p:cNvPr id="21" name="Shape 19"/>
          <p:cNvSpPr/>
          <p:nvPr/>
        </p:nvSpPr>
        <p:spPr>
          <a:xfrm>
            <a:off x="685800" y="3648456"/>
            <a:ext cx="5257800" cy="658368"/>
          </a:xfrm>
          <a:prstGeom prst="roundRect">
            <a:avLst>
              <a:gd name="adj" fmla="val 11111"/>
            </a:avLst>
          </a:prstGeom>
          <a:solidFill>
            <a:srgbClr val="F4F6FB"/>
          </a:solidFill>
          <a:ln w="12700">
            <a:solidFill>
              <a:srgbClr val="F4F6FB"/>
            </a:solidFill>
            <a:prstDash val="solid"/>
          </a:ln>
        </p:spPr>
      </p:sp>
      <p:sp>
        <p:nvSpPr>
          <p:cNvPr id="22" name="Shape 20"/>
          <p:cNvSpPr/>
          <p:nvPr/>
        </p:nvSpPr>
        <p:spPr>
          <a:xfrm>
            <a:off x="914400" y="3858768"/>
            <a:ext cx="237744" cy="237744"/>
          </a:xfrm>
          <a:prstGeom prst="ellipse">
            <a:avLst/>
          </a:prstGeom>
          <a:solidFill>
            <a:srgbClr val="3F7D68"/>
          </a:solidFill>
          <a:ln/>
        </p:spPr>
      </p:sp>
      <p:sp>
        <p:nvSpPr>
          <p:cNvPr id="23" name="Text 21"/>
          <p:cNvSpPr/>
          <p:nvPr/>
        </p:nvSpPr>
        <p:spPr>
          <a:xfrm>
            <a:off x="1280160" y="3703320"/>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Trimming the extreme 1%</a:t>
            </a:r>
            <a:endParaRPr lang="en-US" sz="1200" dirty="0"/>
          </a:p>
        </p:txBody>
      </p:sp>
      <p:sp>
        <p:nvSpPr>
          <p:cNvPr id="24" name="Text 22"/>
          <p:cNvSpPr/>
          <p:nvPr/>
        </p:nvSpPr>
        <p:spPr>
          <a:xfrm>
            <a:off x="1280160" y="3986784"/>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small, but real</a:t>
            </a:r>
            <a:endParaRPr lang="en-US" sz="1050" dirty="0"/>
          </a:p>
        </p:txBody>
      </p:sp>
      <p:sp>
        <p:nvSpPr>
          <p:cNvPr id="25" name="Text 23"/>
          <p:cNvSpPr/>
          <p:nvPr/>
        </p:nvSpPr>
        <p:spPr>
          <a:xfrm>
            <a:off x="4389120" y="3648456"/>
            <a:ext cx="1325880" cy="658368"/>
          </a:xfrm>
          <a:prstGeom prst="rect">
            <a:avLst/>
          </a:prstGeom>
          <a:noFill/>
          <a:ln/>
        </p:spPr>
        <p:txBody>
          <a:bodyPr wrap="square" lIns="0" tIns="0" rIns="0" bIns="0" rtlCol="0" anchor="ctr"/>
          <a:lstStyle/>
          <a:p>
            <a:pPr algn="r" indent="0" marL="0">
              <a:buNone/>
            </a:pPr>
            <a:r>
              <a:rPr lang="en-US" sz="1200" b="1" dirty="0">
                <a:solidFill>
                  <a:srgbClr val="3F7D68"/>
                </a:solidFill>
                <a:latin typeface="Cambria" pitchFamily="34" charset="0"/>
                <a:ea typeface="Cambria" pitchFamily="34" charset="-122"/>
                <a:cs typeface="Cambria" pitchFamily="34" charset="-120"/>
              </a:rPr>
              <a:t>0.5489 → 0.5509</a:t>
            </a:r>
            <a:endParaRPr lang="en-US" sz="1200" dirty="0"/>
          </a:p>
        </p:txBody>
      </p:sp>
      <p:sp>
        <p:nvSpPr>
          <p:cNvPr id="26" name="Shape 24"/>
          <p:cNvSpPr/>
          <p:nvPr/>
        </p:nvSpPr>
        <p:spPr>
          <a:xfrm>
            <a:off x="685800" y="4370832"/>
            <a:ext cx="5257800" cy="658368"/>
          </a:xfrm>
          <a:prstGeom prst="roundRect">
            <a:avLst>
              <a:gd name="adj" fmla="val 11111"/>
            </a:avLst>
          </a:prstGeom>
          <a:solidFill>
            <a:srgbClr val="F4F6FB"/>
          </a:solidFill>
          <a:ln w="12700">
            <a:solidFill>
              <a:srgbClr val="F4F6FB"/>
            </a:solidFill>
            <a:prstDash val="solid"/>
          </a:ln>
        </p:spPr>
      </p:sp>
      <p:sp>
        <p:nvSpPr>
          <p:cNvPr id="27" name="Shape 25"/>
          <p:cNvSpPr/>
          <p:nvPr/>
        </p:nvSpPr>
        <p:spPr>
          <a:xfrm>
            <a:off x="914400" y="4581144"/>
            <a:ext cx="237744" cy="237744"/>
          </a:xfrm>
          <a:prstGeom prst="ellipse">
            <a:avLst/>
          </a:prstGeom>
          <a:solidFill>
            <a:srgbClr val="C0453F"/>
          </a:solidFill>
          <a:ln/>
        </p:spPr>
      </p:sp>
      <p:sp>
        <p:nvSpPr>
          <p:cNvPr id="28" name="Text 26"/>
          <p:cNvSpPr/>
          <p:nvPr/>
        </p:nvSpPr>
        <p:spPr>
          <a:xfrm>
            <a:off x="1280160" y="4425696"/>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CatBoost instead of XGBoost</a:t>
            </a:r>
            <a:endParaRPr lang="en-US" sz="1200" dirty="0"/>
          </a:p>
        </p:txBody>
      </p:sp>
      <p:sp>
        <p:nvSpPr>
          <p:cNvPr id="29" name="Text 27"/>
          <p:cNvSpPr/>
          <p:nvPr/>
        </p:nvSpPr>
        <p:spPr>
          <a:xfrm>
            <a:off x="1280160" y="4709160"/>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three ten-thousandths</a:t>
            </a:r>
            <a:endParaRPr lang="en-US" sz="1050" dirty="0"/>
          </a:p>
        </p:txBody>
      </p:sp>
      <p:sp>
        <p:nvSpPr>
          <p:cNvPr id="30" name="Text 28"/>
          <p:cNvSpPr/>
          <p:nvPr/>
        </p:nvSpPr>
        <p:spPr>
          <a:xfrm>
            <a:off x="4389120" y="4370832"/>
            <a:ext cx="1325880" cy="658368"/>
          </a:xfrm>
          <a:prstGeom prst="rect">
            <a:avLst/>
          </a:prstGeom>
          <a:noFill/>
          <a:ln/>
        </p:spPr>
        <p:txBody>
          <a:bodyPr wrap="square" lIns="0" tIns="0" rIns="0" bIns="0" rtlCol="0" anchor="ctr"/>
          <a:lstStyle/>
          <a:p>
            <a:pPr algn="r" indent="0" marL="0">
              <a:buNone/>
            </a:pPr>
            <a:r>
              <a:rPr lang="en-US" sz="1200" b="1" dirty="0">
                <a:solidFill>
                  <a:srgbClr val="C0453F"/>
                </a:solidFill>
                <a:latin typeface="Cambria" pitchFamily="34" charset="0"/>
                <a:ea typeface="Cambria" pitchFamily="34" charset="-122"/>
                <a:cs typeface="Cambria" pitchFamily="34" charset="-120"/>
              </a:rPr>
              <a:t>0.7900 → 0.7897</a:t>
            </a:r>
            <a:endParaRPr lang="en-US" sz="1200" dirty="0"/>
          </a:p>
        </p:txBody>
      </p:sp>
      <p:sp>
        <p:nvSpPr>
          <p:cNvPr id="31" name="Shape 29"/>
          <p:cNvSpPr/>
          <p:nvPr/>
        </p:nvSpPr>
        <p:spPr>
          <a:xfrm>
            <a:off x="685800" y="5093208"/>
            <a:ext cx="5257800" cy="658368"/>
          </a:xfrm>
          <a:prstGeom prst="roundRect">
            <a:avLst>
              <a:gd name="adj" fmla="val 11111"/>
            </a:avLst>
          </a:prstGeom>
          <a:solidFill>
            <a:srgbClr val="F4F6FB"/>
          </a:solidFill>
          <a:ln w="12700">
            <a:solidFill>
              <a:srgbClr val="F4F6FB"/>
            </a:solidFill>
            <a:prstDash val="solid"/>
          </a:ln>
        </p:spPr>
      </p:sp>
      <p:sp>
        <p:nvSpPr>
          <p:cNvPr id="32" name="Shape 30"/>
          <p:cNvSpPr/>
          <p:nvPr/>
        </p:nvSpPr>
        <p:spPr>
          <a:xfrm>
            <a:off x="914400" y="5303520"/>
            <a:ext cx="237744" cy="237744"/>
          </a:xfrm>
          <a:prstGeom prst="ellipse">
            <a:avLst/>
          </a:prstGeom>
          <a:solidFill>
            <a:srgbClr val="C0453F"/>
          </a:solidFill>
          <a:ln/>
        </p:spPr>
      </p:sp>
      <p:sp>
        <p:nvSpPr>
          <p:cNvPr id="33" name="Text 31"/>
          <p:cNvSpPr/>
          <p:nvPr/>
        </p:nvSpPr>
        <p:spPr>
          <a:xfrm>
            <a:off x="1280160" y="5148072"/>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A bigger, deeper tree model</a:t>
            </a:r>
            <a:endParaRPr lang="en-US" sz="1200" dirty="0"/>
          </a:p>
        </p:txBody>
      </p:sp>
      <p:sp>
        <p:nvSpPr>
          <p:cNvPr id="34" name="Text 32"/>
          <p:cNvSpPr/>
          <p:nvPr/>
        </p:nvSpPr>
        <p:spPr>
          <a:xfrm>
            <a:off x="1280160" y="5431536"/>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overfitting</a:t>
            </a:r>
            <a:endParaRPr lang="en-US" sz="1050" dirty="0"/>
          </a:p>
        </p:txBody>
      </p:sp>
      <p:sp>
        <p:nvSpPr>
          <p:cNvPr id="35" name="Text 33"/>
          <p:cNvSpPr/>
          <p:nvPr/>
        </p:nvSpPr>
        <p:spPr>
          <a:xfrm>
            <a:off x="4389120" y="5093208"/>
            <a:ext cx="1325880" cy="658368"/>
          </a:xfrm>
          <a:prstGeom prst="rect">
            <a:avLst/>
          </a:prstGeom>
          <a:noFill/>
          <a:ln/>
        </p:spPr>
        <p:txBody>
          <a:bodyPr wrap="square" lIns="0" tIns="0" rIns="0" bIns="0" rtlCol="0" anchor="ctr"/>
          <a:lstStyle/>
          <a:p>
            <a:pPr algn="r" indent="0" marL="0">
              <a:buNone/>
            </a:pPr>
            <a:r>
              <a:rPr lang="en-US" sz="1200" b="1" dirty="0">
                <a:solidFill>
                  <a:srgbClr val="C0453F"/>
                </a:solidFill>
                <a:latin typeface="Cambria" pitchFamily="34" charset="0"/>
                <a:ea typeface="Cambria" pitchFamily="34" charset="-122"/>
                <a:cs typeface="Cambria" pitchFamily="34" charset="-120"/>
              </a:rPr>
              <a:t>0.7921 → 0.7756</a:t>
            </a:r>
            <a:endParaRPr lang="en-US" sz="1200" dirty="0"/>
          </a:p>
        </p:txBody>
      </p:sp>
      <p:sp>
        <p:nvSpPr>
          <p:cNvPr id="36" name="Shape 34"/>
          <p:cNvSpPr/>
          <p:nvPr/>
        </p:nvSpPr>
        <p:spPr>
          <a:xfrm>
            <a:off x="6217920" y="1481328"/>
            <a:ext cx="5257800" cy="658368"/>
          </a:xfrm>
          <a:prstGeom prst="roundRect">
            <a:avLst>
              <a:gd name="adj" fmla="val 11111"/>
            </a:avLst>
          </a:prstGeom>
          <a:solidFill>
            <a:srgbClr val="F4F6FB"/>
          </a:solidFill>
          <a:ln w="12700">
            <a:solidFill>
              <a:srgbClr val="F4F6FB"/>
            </a:solidFill>
            <a:prstDash val="solid"/>
          </a:ln>
        </p:spPr>
      </p:sp>
      <p:sp>
        <p:nvSpPr>
          <p:cNvPr id="37" name="Shape 35"/>
          <p:cNvSpPr/>
          <p:nvPr/>
        </p:nvSpPr>
        <p:spPr>
          <a:xfrm>
            <a:off x="6446520" y="1691640"/>
            <a:ext cx="237744" cy="237744"/>
          </a:xfrm>
          <a:prstGeom prst="ellipse">
            <a:avLst/>
          </a:prstGeom>
          <a:solidFill>
            <a:srgbClr val="C0453F"/>
          </a:solidFill>
          <a:ln/>
        </p:spPr>
      </p:sp>
      <p:sp>
        <p:nvSpPr>
          <p:cNvPr id="38" name="Text 36"/>
          <p:cNvSpPr/>
          <p:nvPr/>
        </p:nvSpPr>
        <p:spPr>
          <a:xfrm>
            <a:off x="6812280" y="1536192"/>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Blending the two models</a:t>
            </a:r>
            <a:endParaRPr lang="en-US" sz="1200" dirty="0"/>
          </a:p>
        </p:txBody>
      </p:sp>
      <p:sp>
        <p:nvSpPr>
          <p:cNvPr id="39" name="Text 37"/>
          <p:cNvSpPr/>
          <p:nvPr/>
        </p:nvSpPr>
        <p:spPr>
          <a:xfrm>
            <a:off x="6812280" y="1819656"/>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they agree 97.8% of the time</a:t>
            </a:r>
            <a:endParaRPr lang="en-US" sz="1050" dirty="0"/>
          </a:p>
        </p:txBody>
      </p:sp>
      <p:sp>
        <p:nvSpPr>
          <p:cNvPr id="40" name="Text 38"/>
          <p:cNvSpPr/>
          <p:nvPr/>
        </p:nvSpPr>
        <p:spPr>
          <a:xfrm>
            <a:off x="9921240" y="1481328"/>
            <a:ext cx="1325880" cy="658368"/>
          </a:xfrm>
          <a:prstGeom prst="rect">
            <a:avLst/>
          </a:prstGeom>
          <a:noFill/>
          <a:ln/>
        </p:spPr>
        <p:txBody>
          <a:bodyPr wrap="square" lIns="0" tIns="0" rIns="0" bIns="0" rtlCol="0" anchor="ctr"/>
          <a:lstStyle/>
          <a:p>
            <a:pPr algn="r" indent="0" marL="0">
              <a:buNone/>
            </a:pPr>
            <a:r>
              <a:rPr lang="en-US" sz="1200" b="1" dirty="0">
                <a:solidFill>
                  <a:srgbClr val="C0453F"/>
                </a:solidFill>
                <a:latin typeface="Cambria" pitchFamily="34" charset="0"/>
                <a:ea typeface="Cambria" pitchFamily="34" charset="-122"/>
                <a:cs typeface="Cambria" pitchFamily="34" charset="-120"/>
              </a:rPr>
              <a:t>0.5501 → 0.5490</a:t>
            </a:r>
            <a:endParaRPr lang="en-US" sz="1200" dirty="0"/>
          </a:p>
        </p:txBody>
      </p:sp>
      <p:sp>
        <p:nvSpPr>
          <p:cNvPr id="41" name="Shape 39"/>
          <p:cNvSpPr/>
          <p:nvPr/>
        </p:nvSpPr>
        <p:spPr>
          <a:xfrm>
            <a:off x="6217920" y="2203704"/>
            <a:ext cx="5257800" cy="658368"/>
          </a:xfrm>
          <a:prstGeom prst="roundRect">
            <a:avLst>
              <a:gd name="adj" fmla="val 11111"/>
            </a:avLst>
          </a:prstGeom>
          <a:solidFill>
            <a:srgbClr val="F4F6FB"/>
          </a:solidFill>
          <a:ln w="12700">
            <a:solidFill>
              <a:srgbClr val="F4F6FB"/>
            </a:solidFill>
            <a:prstDash val="solid"/>
          </a:ln>
        </p:spPr>
      </p:sp>
      <p:sp>
        <p:nvSpPr>
          <p:cNvPr id="42" name="Shape 40"/>
          <p:cNvSpPr/>
          <p:nvPr/>
        </p:nvSpPr>
        <p:spPr>
          <a:xfrm>
            <a:off x="6446520" y="2414016"/>
            <a:ext cx="237744" cy="237744"/>
          </a:xfrm>
          <a:prstGeom prst="ellipse">
            <a:avLst/>
          </a:prstGeom>
          <a:solidFill>
            <a:srgbClr val="C0453F"/>
          </a:solidFill>
          <a:ln/>
        </p:spPr>
      </p:sp>
      <p:sp>
        <p:nvSpPr>
          <p:cNvPr id="43" name="Text 41"/>
          <p:cNvSpPr/>
          <p:nvPr/>
        </p:nvSpPr>
        <p:spPr>
          <a:xfrm>
            <a:off x="6812280" y="2258568"/>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Weighting the leavers more heavily</a:t>
            </a:r>
            <a:endParaRPr lang="en-US" sz="1200" dirty="0"/>
          </a:p>
        </p:txBody>
      </p:sp>
      <p:sp>
        <p:nvSpPr>
          <p:cNvPr id="44" name="Text 42"/>
          <p:cNvSpPr/>
          <p:nvPr/>
        </p:nvSpPr>
        <p:spPr>
          <a:xfrm>
            <a:off x="6812280" y="2542032"/>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the cut-off just moves</a:t>
            </a:r>
            <a:endParaRPr lang="en-US" sz="1050" dirty="0"/>
          </a:p>
        </p:txBody>
      </p:sp>
      <p:sp>
        <p:nvSpPr>
          <p:cNvPr id="45" name="Text 43"/>
          <p:cNvSpPr/>
          <p:nvPr/>
        </p:nvSpPr>
        <p:spPr>
          <a:xfrm>
            <a:off x="9921240" y="2203704"/>
            <a:ext cx="1325880" cy="658368"/>
          </a:xfrm>
          <a:prstGeom prst="rect">
            <a:avLst/>
          </a:prstGeom>
          <a:noFill/>
          <a:ln/>
        </p:spPr>
        <p:txBody>
          <a:bodyPr wrap="square" lIns="0" tIns="0" rIns="0" bIns="0" rtlCol="0" anchor="ctr"/>
          <a:lstStyle/>
          <a:p>
            <a:pPr algn="r" indent="0" marL="0">
              <a:buNone/>
            </a:pPr>
            <a:r>
              <a:rPr lang="en-US" sz="1200" b="1" dirty="0">
                <a:solidFill>
                  <a:srgbClr val="C0453F"/>
                </a:solidFill>
                <a:latin typeface="Cambria" pitchFamily="34" charset="0"/>
                <a:ea typeface="Cambria" pitchFamily="34" charset="-122"/>
                <a:cs typeface="Cambria" pitchFamily="34" charset="-120"/>
              </a:rPr>
              <a:t>0.5236 → 0.5251</a:t>
            </a:r>
            <a:endParaRPr lang="en-US" sz="1200" dirty="0"/>
          </a:p>
        </p:txBody>
      </p:sp>
      <p:sp>
        <p:nvSpPr>
          <p:cNvPr id="46" name="Shape 44"/>
          <p:cNvSpPr/>
          <p:nvPr/>
        </p:nvSpPr>
        <p:spPr>
          <a:xfrm>
            <a:off x="6217920" y="2926080"/>
            <a:ext cx="5257800" cy="658368"/>
          </a:xfrm>
          <a:prstGeom prst="roundRect">
            <a:avLst>
              <a:gd name="adj" fmla="val 11111"/>
            </a:avLst>
          </a:prstGeom>
          <a:solidFill>
            <a:srgbClr val="F4F6FB"/>
          </a:solidFill>
          <a:ln w="12700">
            <a:solidFill>
              <a:srgbClr val="F4F6FB"/>
            </a:solidFill>
            <a:prstDash val="solid"/>
          </a:ln>
        </p:spPr>
      </p:sp>
      <p:sp>
        <p:nvSpPr>
          <p:cNvPr id="47" name="Shape 45"/>
          <p:cNvSpPr/>
          <p:nvPr/>
        </p:nvSpPr>
        <p:spPr>
          <a:xfrm>
            <a:off x="6446520" y="3136392"/>
            <a:ext cx="237744" cy="237744"/>
          </a:xfrm>
          <a:prstGeom prst="ellipse">
            <a:avLst/>
          </a:prstGeom>
          <a:solidFill>
            <a:srgbClr val="C0453F"/>
          </a:solidFill>
          <a:ln/>
        </p:spPr>
      </p:sp>
      <p:sp>
        <p:nvSpPr>
          <p:cNvPr id="48" name="Text 46"/>
          <p:cNvSpPr/>
          <p:nvPr/>
        </p:nvSpPr>
        <p:spPr>
          <a:xfrm>
            <a:off x="6812280" y="2980944"/>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SMOTE — inventing extra leavers</a:t>
            </a:r>
            <a:endParaRPr lang="en-US" sz="1200" dirty="0"/>
          </a:p>
        </p:txBody>
      </p:sp>
      <p:sp>
        <p:nvSpPr>
          <p:cNvPr id="49" name="Text 47"/>
          <p:cNvSpPr/>
          <p:nvPr/>
        </p:nvSpPr>
        <p:spPr>
          <a:xfrm>
            <a:off x="6812280" y="3264408"/>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0.6 married customers</a:t>
            </a:r>
            <a:endParaRPr lang="en-US" sz="1050" dirty="0"/>
          </a:p>
        </p:txBody>
      </p:sp>
      <p:sp>
        <p:nvSpPr>
          <p:cNvPr id="50" name="Text 48"/>
          <p:cNvSpPr/>
          <p:nvPr/>
        </p:nvSpPr>
        <p:spPr>
          <a:xfrm>
            <a:off x="9921240" y="2926080"/>
            <a:ext cx="1325880" cy="658368"/>
          </a:xfrm>
          <a:prstGeom prst="rect">
            <a:avLst/>
          </a:prstGeom>
          <a:noFill/>
          <a:ln/>
        </p:spPr>
        <p:txBody>
          <a:bodyPr wrap="square" lIns="0" tIns="0" rIns="0" bIns="0" rtlCol="0" anchor="ctr"/>
          <a:lstStyle/>
          <a:p>
            <a:pPr algn="r" indent="0" marL="0">
              <a:buNone/>
            </a:pPr>
            <a:r>
              <a:rPr lang="en-US" sz="1200" b="1" dirty="0">
                <a:solidFill>
                  <a:srgbClr val="C0453F"/>
                </a:solidFill>
                <a:latin typeface="Cambria" pitchFamily="34" charset="0"/>
                <a:ea typeface="Cambria" pitchFamily="34" charset="-122"/>
                <a:cs typeface="Cambria" pitchFamily="34" charset="-120"/>
              </a:rPr>
              <a:t>not used</a:t>
            </a:r>
            <a:endParaRPr lang="en-US" sz="1200" dirty="0"/>
          </a:p>
        </p:txBody>
      </p:sp>
      <p:sp>
        <p:nvSpPr>
          <p:cNvPr id="51" name="Shape 49"/>
          <p:cNvSpPr/>
          <p:nvPr/>
        </p:nvSpPr>
        <p:spPr>
          <a:xfrm>
            <a:off x="6217920" y="3648456"/>
            <a:ext cx="5257800" cy="658368"/>
          </a:xfrm>
          <a:prstGeom prst="roundRect">
            <a:avLst>
              <a:gd name="adj" fmla="val 11111"/>
            </a:avLst>
          </a:prstGeom>
          <a:solidFill>
            <a:srgbClr val="F4F6FB"/>
          </a:solidFill>
          <a:ln w="12700">
            <a:solidFill>
              <a:srgbClr val="F4F6FB"/>
            </a:solidFill>
            <a:prstDash val="solid"/>
          </a:ln>
        </p:spPr>
      </p:sp>
      <p:sp>
        <p:nvSpPr>
          <p:cNvPr id="52" name="Shape 50"/>
          <p:cNvSpPr/>
          <p:nvPr/>
        </p:nvSpPr>
        <p:spPr>
          <a:xfrm>
            <a:off x="6446520" y="3858768"/>
            <a:ext cx="237744" cy="237744"/>
          </a:xfrm>
          <a:prstGeom prst="ellipse">
            <a:avLst/>
          </a:prstGeom>
          <a:solidFill>
            <a:srgbClr val="C0453F"/>
          </a:solidFill>
          <a:ln/>
        </p:spPr>
      </p:sp>
      <p:sp>
        <p:nvSpPr>
          <p:cNvPr id="53" name="Text 51"/>
          <p:cNvSpPr/>
          <p:nvPr/>
        </p:nvSpPr>
        <p:spPr>
          <a:xfrm>
            <a:off x="6812280" y="3703320"/>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Splines and rank transforms</a:t>
            </a:r>
            <a:endParaRPr lang="en-US" sz="1200" dirty="0"/>
          </a:p>
        </p:txBody>
      </p:sp>
      <p:sp>
        <p:nvSpPr>
          <p:cNvPr id="54" name="Text 52"/>
          <p:cNvSpPr/>
          <p:nvPr/>
        </p:nvSpPr>
        <p:spPr>
          <a:xfrm>
            <a:off x="6812280" y="3986784"/>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the lines were already straight</a:t>
            </a:r>
            <a:endParaRPr lang="en-US" sz="1050" dirty="0"/>
          </a:p>
        </p:txBody>
      </p:sp>
      <p:sp>
        <p:nvSpPr>
          <p:cNvPr id="55" name="Text 53"/>
          <p:cNvSpPr/>
          <p:nvPr/>
        </p:nvSpPr>
        <p:spPr>
          <a:xfrm>
            <a:off x="9921240" y="3648456"/>
            <a:ext cx="1325880" cy="658368"/>
          </a:xfrm>
          <a:prstGeom prst="rect">
            <a:avLst/>
          </a:prstGeom>
          <a:noFill/>
          <a:ln/>
        </p:spPr>
        <p:txBody>
          <a:bodyPr wrap="square" lIns="0" tIns="0" rIns="0" bIns="0" rtlCol="0" anchor="ctr"/>
          <a:lstStyle/>
          <a:p>
            <a:pPr algn="r" indent="0" marL="0">
              <a:buNone/>
            </a:pPr>
            <a:r>
              <a:rPr lang="en-US" sz="1200" b="1" dirty="0">
                <a:solidFill>
                  <a:srgbClr val="C0453F"/>
                </a:solidFill>
                <a:latin typeface="Cambria" pitchFamily="34" charset="0"/>
                <a:ea typeface="Cambria" pitchFamily="34" charset="-122"/>
                <a:cs typeface="Cambria" pitchFamily="34" charset="-120"/>
              </a:rPr>
              <a:t>0.5489 → 0.5399</a:t>
            </a:r>
            <a:endParaRPr lang="en-US" sz="1200" dirty="0"/>
          </a:p>
        </p:txBody>
      </p:sp>
      <p:sp>
        <p:nvSpPr>
          <p:cNvPr id="56" name="Shape 54"/>
          <p:cNvSpPr/>
          <p:nvPr/>
        </p:nvSpPr>
        <p:spPr>
          <a:xfrm>
            <a:off x="6217920" y="4370832"/>
            <a:ext cx="5257800" cy="658368"/>
          </a:xfrm>
          <a:prstGeom prst="roundRect">
            <a:avLst>
              <a:gd name="adj" fmla="val 11111"/>
            </a:avLst>
          </a:prstGeom>
          <a:solidFill>
            <a:srgbClr val="F4F6FB"/>
          </a:solidFill>
          <a:ln w="12700">
            <a:solidFill>
              <a:srgbClr val="F4F6FB"/>
            </a:solidFill>
            <a:prstDash val="solid"/>
          </a:ln>
        </p:spPr>
      </p:sp>
      <p:sp>
        <p:nvSpPr>
          <p:cNvPr id="57" name="Shape 55"/>
          <p:cNvSpPr/>
          <p:nvPr/>
        </p:nvSpPr>
        <p:spPr>
          <a:xfrm>
            <a:off x="6446520" y="4581144"/>
            <a:ext cx="237744" cy="237744"/>
          </a:xfrm>
          <a:prstGeom prst="ellipse">
            <a:avLst/>
          </a:prstGeom>
          <a:solidFill>
            <a:srgbClr val="C0453F"/>
          </a:solidFill>
          <a:ln/>
        </p:spPr>
      </p:sp>
      <p:sp>
        <p:nvSpPr>
          <p:cNvPr id="58" name="Text 56"/>
          <p:cNvSpPr/>
          <p:nvPr/>
        </p:nvSpPr>
        <p:spPr>
          <a:xfrm>
            <a:off x="6812280" y="4425696"/>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Thirteen more spending features</a:t>
            </a:r>
            <a:endParaRPr lang="en-US" sz="1200" dirty="0"/>
          </a:p>
        </p:txBody>
      </p:sp>
      <p:sp>
        <p:nvSpPr>
          <p:cNvPr id="59" name="Text 57"/>
          <p:cNvSpPr/>
          <p:nvPr/>
        </p:nvSpPr>
        <p:spPr>
          <a:xfrm>
            <a:off x="6812280" y="4709160"/>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none reached 0.553</a:t>
            </a:r>
            <a:endParaRPr lang="en-US" sz="1050" dirty="0"/>
          </a:p>
        </p:txBody>
      </p:sp>
      <p:sp>
        <p:nvSpPr>
          <p:cNvPr id="60" name="Text 58"/>
          <p:cNvSpPr/>
          <p:nvPr/>
        </p:nvSpPr>
        <p:spPr>
          <a:xfrm>
            <a:off x="9921240" y="4370832"/>
            <a:ext cx="1325880" cy="658368"/>
          </a:xfrm>
          <a:prstGeom prst="rect">
            <a:avLst/>
          </a:prstGeom>
          <a:noFill/>
          <a:ln/>
        </p:spPr>
        <p:txBody>
          <a:bodyPr wrap="square" lIns="0" tIns="0" rIns="0" bIns="0" rtlCol="0" anchor="ctr"/>
          <a:lstStyle/>
          <a:p>
            <a:pPr algn="r" indent="0" marL="0">
              <a:buNone/>
            </a:pPr>
            <a:r>
              <a:rPr lang="en-US" sz="1200" b="1" dirty="0">
                <a:solidFill>
                  <a:srgbClr val="C0453F"/>
                </a:solidFill>
                <a:latin typeface="Cambria" pitchFamily="34" charset="0"/>
                <a:ea typeface="Cambria" pitchFamily="34" charset="-122"/>
                <a:cs typeface="Cambria" pitchFamily="34" charset="-120"/>
              </a:rPr>
              <a:t>0.5509 → 0.5519</a:t>
            </a:r>
            <a:endParaRPr lang="en-US" sz="1200" dirty="0"/>
          </a:p>
        </p:txBody>
      </p:sp>
      <p:sp>
        <p:nvSpPr>
          <p:cNvPr id="61" name="Shape 59"/>
          <p:cNvSpPr/>
          <p:nvPr/>
        </p:nvSpPr>
        <p:spPr>
          <a:xfrm>
            <a:off x="6217920" y="5093208"/>
            <a:ext cx="5257800" cy="658368"/>
          </a:xfrm>
          <a:prstGeom prst="roundRect">
            <a:avLst>
              <a:gd name="adj" fmla="val 11111"/>
            </a:avLst>
          </a:prstGeom>
          <a:solidFill>
            <a:srgbClr val="F4F6FB"/>
          </a:solidFill>
          <a:ln w="12700">
            <a:solidFill>
              <a:srgbClr val="F4F6FB"/>
            </a:solidFill>
            <a:prstDash val="solid"/>
          </a:ln>
        </p:spPr>
      </p:sp>
      <p:sp>
        <p:nvSpPr>
          <p:cNvPr id="62" name="Shape 60"/>
          <p:cNvSpPr/>
          <p:nvPr/>
        </p:nvSpPr>
        <p:spPr>
          <a:xfrm>
            <a:off x="6446520" y="5303520"/>
            <a:ext cx="237744" cy="237744"/>
          </a:xfrm>
          <a:prstGeom prst="ellipse">
            <a:avLst/>
          </a:prstGeom>
          <a:solidFill>
            <a:srgbClr val="C0453F"/>
          </a:solidFill>
          <a:ln/>
        </p:spPr>
      </p:sp>
      <p:sp>
        <p:nvSpPr>
          <p:cNvPr id="63" name="Text 61"/>
          <p:cNvSpPr/>
          <p:nvPr/>
        </p:nvSpPr>
        <p:spPr>
          <a:xfrm>
            <a:off x="6812280" y="5148072"/>
            <a:ext cx="3108960" cy="292608"/>
          </a:xfrm>
          <a:prstGeom prst="rect">
            <a:avLst/>
          </a:prstGeom>
          <a:noFill/>
          <a:ln/>
        </p:spPr>
        <p:txBody>
          <a:bodyPr wrap="square" lIns="0" tIns="0" rIns="0" bIns="0" rtlCol="0" anchor="ctr"/>
          <a:lstStyle/>
          <a:p>
            <a:pPr indent="0" marL="0">
              <a:buNone/>
            </a:pPr>
            <a:r>
              <a:rPr lang="en-US" sz="1200" b="1" dirty="0">
                <a:solidFill>
                  <a:srgbClr val="1B1F2A"/>
                </a:solidFill>
                <a:latin typeface="Calibri" pitchFamily="34" charset="0"/>
                <a:ea typeface="Calibri" pitchFamily="34" charset="-122"/>
                <a:cs typeface="Calibri" pitchFamily="34" charset="-120"/>
              </a:rPr>
              <a:t>All 190 pairs, eight levels of pruning</a:t>
            </a:r>
            <a:endParaRPr lang="en-US" sz="1200" dirty="0"/>
          </a:p>
        </p:txBody>
      </p:sp>
      <p:sp>
        <p:nvSpPr>
          <p:cNvPr id="64" name="Text 62"/>
          <p:cNvSpPr/>
          <p:nvPr/>
        </p:nvSpPr>
        <p:spPr>
          <a:xfrm>
            <a:off x="6812280" y="5431536"/>
            <a:ext cx="3108960" cy="27432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a third of the noise floor</a:t>
            </a:r>
            <a:endParaRPr lang="en-US" sz="1050" dirty="0"/>
          </a:p>
        </p:txBody>
      </p:sp>
      <p:sp>
        <p:nvSpPr>
          <p:cNvPr id="65" name="Text 63"/>
          <p:cNvSpPr/>
          <p:nvPr/>
        </p:nvSpPr>
        <p:spPr>
          <a:xfrm>
            <a:off x="9921240" y="5093208"/>
            <a:ext cx="1325880" cy="658368"/>
          </a:xfrm>
          <a:prstGeom prst="rect">
            <a:avLst/>
          </a:prstGeom>
          <a:noFill/>
          <a:ln/>
        </p:spPr>
        <p:txBody>
          <a:bodyPr wrap="square" lIns="0" tIns="0" rIns="0" bIns="0" rtlCol="0" anchor="ctr"/>
          <a:lstStyle/>
          <a:p>
            <a:pPr algn="r" indent="0" marL="0">
              <a:buNone/>
            </a:pPr>
            <a:r>
              <a:rPr lang="en-US" sz="1200" b="1" dirty="0">
                <a:solidFill>
                  <a:srgbClr val="C0453F"/>
                </a:solidFill>
                <a:latin typeface="Cambria" pitchFamily="34" charset="0"/>
                <a:ea typeface="Cambria" pitchFamily="34" charset="-122"/>
                <a:cs typeface="Cambria" pitchFamily="34" charset="-120"/>
              </a:rPr>
              <a:t>0.5509 → 0.5526</a:t>
            </a:r>
            <a:endParaRPr lang="en-US" sz="1200" dirty="0"/>
          </a:p>
        </p:txBody>
      </p:sp>
      <p:sp>
        <p:nvSpPr>
          <p:cNvPr id="66" name="Shape 64"/>
          <p:cNvSpPr/>
          <p:nvPr/>
        </p:nvSpPr>
        <p:spPr>
          <a:xfrm>
            <a:off x="685800" y="5870448"/>
            <a:ext cx="10789920" cy="658368"/>
          </a:xfrm>
          <a:prstGeom prst="roundRect">
            <a:avLst>
              <a:gd name="adj" fmla="val 11111"/>
            </a:avLst>
          </a:prstGeom>
          <a:solidFill>
            <a:srgbClr val="1E2761"/>
          </a:solidFill>
          <a:ln w="12700">
            <a:solidFill>
              <a:srgbClr val="1E2761"/>
            </a:solidFill>
            <a:prstDash val="solid"/>
          </a:ln>
        </p:spPr>
      </p:sp>
      <p:sp>
        <p:nvSpPr>
          <p:cNvPr id="67" name="Text 65"/>
          <p:cNvSpPr/>
          <p:nvPr/>
        </p:nvSpPr>
        <p:spPr>
          <a:xfrm>
            <a:off x="1005840" y="5870448"/>
            <a:ext cx="10149840" cy="658368"/>
          </a:xfrm>
          <a:prstGeom prst="rect">
            <a:avLst/>
          </a:prstGeom>
          <a:noFill/>
          <a:ln/>
        </p:spPr>
        <p:txBody>
          <a:bodyPr wrap="square" lIns="0" tIns="0" rIns="0" bIns="0" rtlCol="0" anchor="ctr"/>
          <a:lstStyle/>
          <a:p>
            <a:pPr indent="0" marL="0">
              <a:buNone/>
            </a:pPr>
            <a:r>
              <a:rPr lang="en-US" sz="1400" dirty="0">
                <a:solidFill>
                  <a:srgbClr val="C3CCE4"/>
                </a:solidFill>
                <a:latin typeface="Calibri" pitchFamily="34" charset="0"/>
                <a:ea typeface="Calibri" pitchFamily="34" charset="-122"/>
                <a:cs typeface="Calibri" pitchFamily="34" charset="-120"/>
              </a:rPr>
              <a:t>Eight of the twelve changed nothing. That is not a failed chapter — it is the evidence that the four which worked were the only four available.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The same story on the leaderboard</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Five submissions, and a measurement of how much of it is luck</a:t>
            </a:r>
            <a:endParaRPr lang="en-US" sz="1500" dirty="0"/>
          </a:p>
        </p:txBody>
      </p:sp>
      <p:sp>
        <p:nvSpPr>
          <p:cNvPr id="6" name="Text 4"/>
          <p:cNvSpPr/>
          <p:nvPr/>
        </p:nvSpPr>
        <p:spPr>
          <a:xfrm>
            <a:off x="960120" y="1554480"/>
            <a:ext cx="2377440" cy="274320"/>
          </a:xfrm>
          <a:prstGeom prst="rect">
            <a:avLst/>
          </a:prstGeom>
          <a:noFill/>
          <a:ln/>
        </p:spPr>
        <p:txBody>
          <a:bodyPr wrap="square" lIns="0" tIns="0" rIns="0" bIns="0" rtlCol="0" anchor="ctr"/>
          <a:lstStyle/>
          <a:p>
            <a:pPr indent="0" marL="0">
              <a:buNone/>
            </a:pPr>
            <a:endParaRPr lang="en-US" sz="1100" dirty="0"/>
          </a:p>
        </p:txBody>
      </p:sp>
      <p:sp>
        <p:nvSpPr>
          <p:cNvPr id="7" name="Text 5"/>
          <p:cNvSpPr/>
          <p:nvPr/>
        </p:nvSpPr>
        <p:spPr>
          <a:xfrm>
            <a:off x="3383280" y="1554480"/>
            <a:ext cx="1143000" cy="274320"/>
          </a:xfrm>
          <a:prstGeom prst="rect">
            <a:avLst/>
          </a:prstGeom>
          <a:noFill/>
          <a:ln/>
        </p:spPr>
        <p:txBody>
          <a:bodyPr wrap="square" lIns="0" tIns="0" rIns="0" bIns="0" rtlCol="0" anchor="ctr"/>
          <a:lstStyle/>
          <a:p>
            <a:pPr algn="ctr" indent="0" marL="0">
              <a:buNone/>
            </a:pPr>
            <a:endParaRPr lang="en-US" sz="1100" dirty="0"/>
          </a:p>
        </p:txBody>
      </p:sp>
      <p:sp>
        <p:nvSpPr>
          <p:cNvPr id="8" name="Text 6"/>
          <p:cNvSpPr/>
          <p:nvPr/>
        </p:nvSpPr>
        <p:spPr>
          <a:xfrm>
            <a:off x="4526280" y="1554480"/>
            <a:ext cx="1143000" cy="274320"/>
          </a:xfrm>
          <a:prstGeom prst="rect">
            <a:avLst/>
          </a:prstGeom>
          <a:noFill/>
          <a:ln/>
        </p:spPr>
        <p:txBody>
          <a:bodyPr wrap="square" lIns="0" tIns="0" rIns="0" bIns="0" rtlCol="0" anchor="ctr"/>
          <a:lstStyle/>
          <a:p>
            <a:pPr algn="ctr" indent="0" marL="0">
              <a:buNone/>
            </a:pPr>
            <a:r>
              <a:rPr lang="en-US" sz="1100" b="1" dirty="0">
                <a:solidFill>
                  <a:srgbClr val="8891A4"/>
                </a:solidFill>
                <a:latin typeface="Calibri" pitchFamily="34" charset="0"/>
                <a:ea typeface="Calibri" pitchFamily="34" charset="-122"/>
                <a:cs typeface="Calibri" pitchFamily="34" charset="-120"/>
              </a:rPr>
              <a:t>score</a:t>
            </a:r>
            <a:endParaRPr lang="en-US" sz="1100" dirty="0"/>
          </a:p>
        </p:txBody>
      </p:sp>
      <p:sp>
        <p:nvSpPr>
          <p:cNvPr id="9" name="Shape 7"/>
          <p:cNvSpPr/>
          <p:nvPr/>
        </p:nvSpPr>
        <p:spPr>
          <a:xfrm>
            <a:off x="685800" y="1865376"/>
            <a:ext cx="6858000" cy="548640"/>
          </a:xfrm>
          <a:prstGeom prst="roundRect">
            <a:avLst>
              <a:gd name="adj" fmla="val 13333"/>
            </a:avLst>
          </a:prstGeom>
          <a:solidFill>
            <a:srgbClr val="F4F6FB"/>
          </a:solidFill>
          <a:ln w="12700">
            <a:solidFill>
              <a:srgbClr val="F4F6FB"/>
            </a:solidFill>
            <a:prstDash val="solid"/>
          </a:ln>
        </p:spPr>
      </p:sp>
      <p:sp>
        <p:nvSpPr>
          <p:cNvPr id="10" name="Text 8"/>
          <p:cNvSpPr/>
          <p:nvPr/>
        </p:nvSpPr>
        <p:spPr>
          <a:xfrm>
            <a:off x="960120" y="1865376"/>
            <a:ext cx="2377440" cy="54864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Cut at 0.50 — the obvious choice</a:t>
            </a:r>
            <a:endParaRPr lang="en-US" sz="1300" dirty="0"/>
          </a:p>
        </p:txBody>
      </p:sp>
      <p:sp>
        <p:nvSpPr>
          <p:cNvPr id="11" name="Text 9"/>
          <p:cNvSpPr/>
          <p:nvPr/>
        </p:nvSpPr>
        <p:spPr>
          <a:xfrm>
            <a:off x="3383280" y="1865376"/>
            <a:ext cx="1143000" cy="548640"/>
          </a:xfrm>
          <a:prstGeom prst="rect">
            <a:avLst/>
          </a:prstGeom>
          <a:noFill/>
          <a:ln/>
        </p:spPr>
        <p:txBody>
          <a:bodyPr wrap="square" lIns="0" tIns="0" rIns="0" bIns="0" rtlCol="0" anchor="ctr"/>
          <a:lstStyle/>
          <a:p>
            <a:pPr algn="ctr" indent="0" marL="0">
              <a:buNone/>
            </a:pPr>
            <a:endParaRPr lang="en-US" sz="1500" dirty="0"/>
          </a:p>
        </p:txBody>
      </p:sp>
      <p:sp>
        <p:nvSpPr>
          <p:cNvPr id="12" name="Text 10"/>
          <p:cNvSpPr/>
          <p:nvPr/>
        </p:nvSpPr>
        <p:spPr>
          <a:xfrm>
            <a:off x="4526280" y="1865376"/>
            <a:ext cx="1143000" cy="548640"/>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0.40</a:t>
            </a:r>
            <a:endParaRPr lang="en-US" sz="1500" dirty="0"/>
          </a:p>
        </p:txBody>
      </p:sp>
      <p:sp>
        <p:nvSpPr>
          <p:cNvPr id="13" name="Text 11"/>
          <p:cNvSpPr/>
          <p:nvPr/>
        </p:nvSpPr>
        <p:spPr>
          <a:xfrm>
            <a:off x="5760720" y="1865376"/>
            <a:ext cx="1600200" cy="54864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wrong metric</a:t>
            </a:r>
            <a:endParaRPr lang="en-US" sz="1050" dirty="0"/>
          </a:p>
        </p:txBody>
      </p:sp>
      <p:sp>
        <p:nvSpPr>
          <p:cNvPr id="14" name="Shape 12"/>
          <p:cNvSpPr/>
          <p:nvPr/>
        </p:nvSpPr>
        <p:spPr>
          <a:xfrm>
            <a:off x="685800" y="2487168"/>
            <a:ext cx="6858000" cy="548640"/>
          </a:xfrm>
          <a:prstGeom prst="roundRect">
            <a:avLst>
              <a:gd name="adj" fmla="val 13333"/>
            </a:avLst>
          </a:prstGeom>
          <a:solidFill>
            <a:srgbClr val="F4F6FB"/>
          </a:solidFill>
          <a:ln w="12700">
            <a:solidFill>
              <a:srgbClr val="F4F6FB"/>
            </a:solidFill>
            <a:prstDash val="solid"/>
          </a:ln>
        </p:spPr>
      </p:sp>
      <p:sp>
        <p:nvSpPr>
          <p:cNvPr id="15" name="Text 13"/>
          <p:cNvSpPr/>
          <p:nvPr/>
        </p:nvSpPr>
        <p:spPr>
          <a:xfrm>
            <a:off x="960120" y="2487168"/>
            <a:ext cx="2377440" cy="548640"/>
          </a:xfrm>
          <a:prstGeom prst="rect">
            <a:avLst/>
          </a:prstGeom>
          <a:noFill/>
          <a:ln/>
        </p:spPr>
        <p:txBody>
          <a:bodyPr wrap="square" lIns="0" tIns="0" rIns="0" bIns="0" rtlCol="0" anchor="ctr"/>
          <a:lstStyle/>
          <a:p>
            <a:pPr indent="0" marL="0">
              <a:buNone/>
            </a:pPr>
            <a:r>
              <a:rPr lang="en-US" sz="1300" b="1" dirty="0">
                <a:solidFill>
                  <a:srgbClr val="3F7D68"/>
                </a:solidFill>
                <a:latin typeface="Calibri" pitchFamily="34" charset="0"/>
                <a:ea typeface="Calibri" pitchFamily="34" charset="-122"/>
                <a:cs typeface="Calibri" pitchFamily="34" charset="-120"/>
              </a:rPr>
              <a:t>Cut at 0.23 — tuned for F1</a:t>
            </a:r>
            <a:endParaRPr lang="en-US" sz="1300" dirty="0"/>
          </a:p>
        </p:txBody>
      </p:sp>
      <p:sp>
        <p:nvSpPr>
          <p:cNvPr id="16" name="Text 14"/>
          <p:cNvSpPr/>
          <p:nvPr/>
        </p:nvSpPr>
        <p:spPr>
          <a:xfrm>
            <a:off x="3383280" y="2487168"/>
            <a:ext cx="1143000" cy="548640"/>
          </a:xfrm>
          <a:prstGeom prst="rect">
            <a:avLst/>
          </a:prstGeom>
          <a:noFill/>
          <a:ln/>
        </p:spPr>
        <p:txBody>
          <a:bodyPr wrap="square" lIns="0" tIns="0" rIns="0" bIns="0" rtlCol="0" anchor="ctr"/>
          <a:lstStyle/>
          <a:p>
            <a:pPr algn="ctr" indent="0" marL="0">
              <a:buNone/>
            </a:pPr>
            <a:endParaRPr lang="en-US" sz="1500" dirty="0"/>
          </a:p>
        </p:txBody>
      </p:sp>
      <p:sp>
        <p:nvSpPr>
          <p:cNvPr id="17" name="Text 15"/>
          <p:cNvSpPr/>
          <p:nvPr/>
        </p:nvSpPr>
        <p:spPr>
          <a:xfrm>
            <a:off x="4526280" y="2487168"/>
            <a:ext cx="1143000" cy="548640"/>
          </a:xfrm>
          <a:prstGeom prst="rect">
            <a:avLst/>
          </a:prstGeom>
          <a:noFill/>
          <a:ln/>
        </p:spPr>
        <p:txBody>
          <a:bodyPr wrap="square" lIns="0" tIns="0" rIns="0" bIns="0" rtlCol="0" anchor="ctr"/>
          <a:lstStyle/>
          <a:p>
            <a:pPr algn="ctr" indent="0" marL="0">
              <a:buNone/>
            </a:pPr>
            <a:r>
              <a:rPr lang="en-US" sz="1500" b="1" dirty="0">
                <a:solidFill>
                  <a:srgbClr val="3F7D68"/>
                </a:solidFill>
                <a:latin typeface="Cambria" pitchFamily="34" charset="0"/>
                <a:ea typeface="Cambria" pitchFamily="34" charset="-122"/>
                <a:cs typeface="Cambria" pitchFamily="34" charset="-120"/>
              </a:rPr>
              <a:t>0.53</a:t>
            </a:r>
            <a:endParaRPr lang="en-US" sz="1500" dirty="0"/>
          </a:p>
        </p:txBody>
      </p:sp>
      <p:sp>
        <p:nvSpPr>
          <p:cNvPr id="18" name="Text 16"/>
          <p:cNvSpPr/>
          <p:nvPr/>
        </p:nvSpPr>
        <p:spPr>
          <a:xfrm>
            <a:off x="5760720" y="2487168"/>
            <a:ext cx="1600200" cy="54864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our best</a:t>
            </a:r>
            <a:endParaRPr lang="en-US" sz="1050" dirty="0"/>
          </a:p>
        </p:txBody>
      </p:sp>
      <p:sp>
        <p:nvSpPr>
          <p:cNvPr id="19" name="Shape 17"/>
          <p:cNvSpPr/>
          <p:nvPr/>
        </p:nvSpPr>
        <p:spPr>
          <a:xfrm>
            <a:off x="685800" y="3108960"/>
            <a:ext cx="6858000" cy="548640"/>
          </a:xfrm>
          <a:prstGeom prst="roundRect">
            <a:avLst>
              <a:gd name="adj" fmla="val 13333"/>
            </a:avLst>
          </a:prstGeom>
          <a:solidFill>
            <a:srgbClr val="F4F6FB"/>
          </a:solidFill>
          <a:ln w="12700">
            <a:solidFill>
              <a:srgbClr val="F4F6FB"/>
            </a:solidFill>
            <a:prstDash val="solid"/>
          </a:ln>
        </p:spPr>
      </p:sp>
      <p:sp>
        <p:nvSpPr>
          <p:cNvPr id="20" name="Text 18"/>
          <p:cNvSpPr/>
          <p:nvPr/>
        </p:nvSpPr>
        <p:spPr>
          <a:xfrm>
            <a:off x="960120" y="3108960"/>
            <a:ext cx="2377440" cy="54864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Flag everyone as a leaver</a:t>
            </a:r>
            <a:endParaRPr lang="en-US" sz="1300" dirty="0"/>
          </a:p>
        </p:txBody>
      </p:sp>
      <p:sp>
        <p:nvSpPr>
          <p:cNvPr id="21" name="Text 19"/>
          <p:cNvSpPr/>
          <p:nvPr/>
        </p:nvSpPr>
        <p:spPr>
          <a:xfrm>
            <a:off x="3383280" y="3108960"/>
            <a:ext cx="1143000" cy="548640"/>
          </a:xfrm>
          <a:prstGeom prst="rect">
            <a:avLst/>
          </a:prstGeom>
          <a:noFill/>
          <a:ln/>
        </p:spPr>
        <p:txBody>
          <a:bodyPr wrap="square" lIns="0" tIns="0" rIns="0" bIns="0" rtlCol="0" anchor="ctr"/>
          <a:lstStyle/>
          <a:p>
            <a:pPr algn="ctr" indent="0" marL="0">
              <a:buNone/>
            </a:pPr>
            <a:endParaRPr lang="en-US" sz="1500" dirty="0"/>
          </a:p>
        </p:txBody>
      </p:sp>
      <p:sp>
        <p:nvSpPr>
          <p:cNvPr id="22" name="Text 20"/>
          <p:cNvSpPr/>
          <p:nvPr/>
        </p:nvSpPr>
        <p:spPr>
          <a:xfrm>
            <a:off x="4526280" y="3108960"/>
            <a:ext cx="1143000" cy="548640"/>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0.32</a:t>
            </a:r>
            <a:endParaRPr lang="en-US" sz="1500" dirty="0"/>
          </a:p>
        </p:txBody>
      </p:sp>
      <p:sp>
        <p:nvSpPr>
          <p:cNvPr id="23" name="Text 21"/>
          <p:cNvSpPr/>
          <p:nvPr/>
        </p:nvSpPr>
        <p:spPr>
          <a:xfrm>
            <a:off x="5760720" y="3108960"/>
            <a:ext cx="1600200" cy="54864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a diagnostic, not an attempt</a:t>
            </a:r>
            <a:endParaRPr lang="en-US" sz="1050" dirty="0"/>
          </a:p>
        </p:txBody>
      </p:sp>
      <p:sp>
        <p:nvSpPr>
          <p:cNvPr id="24" name="Shape 22"/>
          <p:cNvSpPr/>
          <p:nvPr/>
        </p:nvSpPr>
        <p:spPr>
          <a:xfrm>
            <a:off x="685800" y="3730752"/>
            <a:ext cx="6858000" cy="548640"/>
          </a:xfrm>
          <a:prstGeom prst="roundRect">
            <a:avLst>
              <a:gd name="adj" fmla="val 13333"/>
            </a:avLst>
          </a:prstGeom>
          <a:solidFill>
            <a:srgbClr val="F4F6FB"/>
          </a:solidFill>
          <a:ln w="12700">
            <a:solidFill>
              <a:srgbClr val="F4F6FB"/>
            </a:solidFill>
            <a:prstDash val="solid"/>
          </a:ln>
        </p:spPr>
      </p:sp>
      <p:sp>
        <p:nvSpPr>
          <p:cNvPr id="25" name="Text 23"/>
          <p:cNvSpPr/>
          <p:nvPr/>
        </p:nvSpPr>
        <p:spPr>
          <a:xfrm>
            <a:off x="960120" y="3730752"/>
            <a:ext cx="2377440" cy="54864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Flag the riskiest 420 customers</a:t>
            </a:r>
            <a:endParaRPr lang="en-US" sz="1300" dirty="0"/>
          </a:p>
        </p:txBody>
      </p:sp>
      <p:sp>
        <p:nvSpPr>
          <p:cNvPr id="26" name="Text 24"/>
          <p:cNvSpPr/>
          <p:nvPr/>
        </p:nvSpPr>
        <p:spPr>
          <a:xfrm>
            <a:off x="3383280" y="3730752"/>
            <a:ext cx="1143000" cy="548640"/>
          </a:xfrm>
          <a:prstGeom prst="rect">
            <a:avLst/>
          </a:prstGeom>
          <a:noFill/>
          <a:ln/>
        </p:spPr>
        <p:txBody>
          <a:bodyPr wrap="square" lIns="0" tIns="0" rIns="0" bIns="0" rtlCol="0" anchor="ctr"/>
          <a:lstStyle/>
          <a:p>
            <a:pPr algn="ctr" indent="0" marL="0">
              <a:buNone/>
            </a:pPr>
            <a:endParaRPr lang="en-US" sz="1500" dirty="0"/>
          </a:p>
        </p:txBody>
      </p:sp>
      <p:sp>
        <p:nvSpPr>
          <p:cNvPr id="27" name="Text 25"/>
          <p:cNvSpPr/>
          <p:nvPr/>
        </p:nvSpPr>
        <p:spPr>
          <a:xfrm>
            <a:off x="4526280" y="3730752"/>
            <a:ext cx="1143000" cy="548640"/>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0.53</a:t>
            </a:r>
            <a:endParaRPr lang="en-US" sz="1500" dirty="0"/>
          </a:p>
        </p:txBody>
      </p:sp>
      <p:sp>
        <p:nvSpPr>
          <p:cNvPr id="28" name="Text 26"/>
          <p:cNvSpPr/>
          <p:nvPr/>
        </p:nvSpPr>
        <p:spPr>
          <a:xfrm>
            <a:off x="5760720" y="3730752"/>
            <a:ext cx="1600200" cy="548640"/>
          </a:xfrm>
          <a:prstGeom prst="rect">
            <a:avLst/>
          </a:prstGeom>
          <a:noFill/>
          <a:ln/>
        </p:spPr>
        <p:txBody>
          <a:bodyPr wrap="square" lIns="0" tIns="0" rIns="0" bIns="0" rtlCol="0" anchor="ctr"/>
          <a:lstStyle/>
          <a:p>
            <a:pPr indent="0" marL="0">
              <a:buNone/>
            </a:pPr>
            <a:r>
              <a:rPr lang="en-US" sz="1050" dirty="0">
                <a:solidFill>
                  <a:srgbClr val="8891A4"/>
                </a:solidFill>
                <a:latin typeface="Calibri" pitchFamily="34" charset="0"/>
                <a:ea typeface="Calibri" pitchFamily="34" charset="-122"/>
                <a:cs typeface="Calibri" pitchFamily="34" charset="-120"/>
              </a:rPr>
              <a:t>identical to the cut</a:t>
            </a:r>
            <a:endParaRPr lang="en-US" sz="1050" dirty="0"/>
          </a:p>
        </p:txBody>
      </p:sp>
      <p:sp>
        <p:nvSpPr>
          <p:cNvPr id="29" name="Shape 27"/>
          <p:cNvSpPr/>
          <p:nvPr/>
        </p:nvSpPr>
        <p:spPr>
          <a:xfrm>
            <a:off x="685800" y="4352544"/>
            <a:ext cx="6858000" cy="548640"/>
          </a:xfrm>
          <a:prstGeom prst="roundRect">
            <a:avLst>
              <a:gd name="adj" fmla="val 13333"/>
            </a:avLst>
          </a:prstGeom>
          <a:solidFill>
            <a:srgbClr val="F4F6FB"/>
          </a:solidFill>
          <a:ln w="12700">
            <a:solidFill>
              <a:srgbClr val="F4F6FB"/>
            </a:solidFill>
            <a:prstDash val="solid"/>
          </a:ln>
        </p:spPr>
      </p:sp>
      <p:sp>
        <p:nvSpPr>
          <p:cNvPr id="30" name="Text 28"/>
          <p:cNvSpPr/>
          <p:nvPr/>
        </p:nvSpPr>
        <p:spPr>
          <a:xfrm>
            <a:off x="960120" y="4352544"/>
            <a:ext cx="2377440" cy="548640"/>
          </a:xfrm>
          <a:prstGeom prst="rect">
            <a:avLst/>
          </a:prstGeom>
          <a:noFill/>
          <a:ln/>
        </p:spPr>
        <p:txBody>
          <a:bodyPr wrap="square" lIns="0" tIns="0" rIns="0" bIns="0" rtlCol="0" anchor="ctr"/>
          <a:lstStyle/>
          <a:p>
            <a:pPr indent="0" marL="0">
              <a:buNone/>
            </a:pPr>
            <a:r>
              <a:rPr lang="en-US" sz="1300" dirty="0">
                <a:solidFill>
                  <a:srgbClr val="1B1F2A"/>
                </a:solidFill>
                <a:latin typeface="Calibri" pitchFamily="34" charset="0"/>
                <a:ea typeface="Calibri" pitchFamily="34" charset="-122"/>
                <a:cs typeface="Calibri" pitchFamily="34" charset="-120"/>
              </a:rPr>
              <a:t>The leaderboard leader</a:t>
            </a:r>
            <a:endParaRPr lang="en-US" sz="1300" dirty="0"/>
          </a:p>
        </p:txBody>
      </p:sp>
      <p:sp>
        <p:nvSpPr>
          <p:cNvPr id="31" name="Text 29"/>
          <p:cNvSpPr/>
          <p:nvPr/>
        </p:nvSpPr>
        <p:spPr>
          <a:xfrm>
            <a:off x="3383280" y="4352544"/>
            <a:ext cx="1143000" cy="548640"/>
          </a:xfrm>
          <a:prstGeom prst="rect">
            <a:avLst/>
          </a:prstGeom>
          <a:noFill/>
          <a:ln/>
        </p:spPr>
        <p:txBody>
          <a:bodyPr wrap="square" lIns="0" tIns="0" rIns="0" bIns="0" rtlCol="0" anchor="ctr"/>
          <a:lstStyle/>
          <a:p>
            <a:pPr algn="ctr" indent="0" marL="0">
              <a:buNone/>
            </a:pPr>
            <a:endParaRPr lang="en-US" sz="1500" dirty="0"/>
          </a:p>
        </p:txBody>
      </p:sp>
      <p:sp>
        <p:nvSpPr>
          <p:cNvPr id="32" name="Text 30"/>
          <p:cNvSpPr/>
          <p:nvPr/>
        </p:nvSpPr>
        <p:spPr>
          <a:xfrm>
            <a:off x="4526280" y="4352544"/>
            <a:ext cx="1143000" cy="548640"/>
          </a:xfrm>
          <a:prstGeom prst="rect">
            <a:avLst/>
          </a:prstGeom>
          <a:noFill/>
          <a:ln/>
        </p:spPr>
        <p:txBody>
          <a:bodyPr wrap="square" lIns="0" tIns="0" rIns="0" bIns="0" rtlCol="0" anchor="ctr"/>
          <a:lstStyle/>
          <a:p>
            <a:pPr algn="ctr" indent="0" marL="0">
              <a:buNone/>
            </a:pPr>
            <a:r>
              <a:rPr lang="en-US" sz="1500" dirty="0">
                <a:solidFill>
                  <a:srgbClr val="4A5163"/>
                </a:solidFill>
                <a:latin typeface="Cambria" pitchFamily="34" charset="0"/>
                <a:ea typeface="Cambria" pitchFamily="34" charset="-122"/>
                <a:cs typeface="Cambria" pitchFamily="34" charset="-120"/>
              </a:rPr>
              <a:t>0.56</a:t>
            </a:r>
            <a:endParaRPr lang="en-US" sz="1500" dirty="0"/>
          </a:p>
        </p:txBody>
      </p:sp>
      <p:sp>
        <p:nvSpPr>
          <p:cNvPr id="33" name="Shape 31"/>
          <p:cNvSpPr/>
          <p:nvPr/>
        </p:nvSpPr>
        <p:spPr>
          <a:xfrm>
            <a:off x="7863840" y="1554480"/>
            <a:ext cx="3611880" cy="2194560"/>
          </a:xfrm>
          <a:prstGeom prst="roundRect">
            <a:avLst>
              <a:gd name="adj" fmla="val 3333"/>
            </a:avLst>
          </a:prstGeom>
          <a:solidFill>
            <a:srgbClr val="1E2761"/>
          </a:solidFill>
          <a:ln w="12700">
            <a:solidFill>
              <a:srgbClr val="1E2761"/>
            </a:solidFill>
            <a:prstDash val="solid"/>
          </a:ln>
        </p:spPr>
      </p:sp>
      <p:sp>
        <p:nvSpPr>
          <p:cNvPr id="34" name="Text 32"/>
          <p:cNvSpPr/>
          <p:nvPr/>
        </p:nvSpPr>
        <p:spPr>
          <a:xfrm>
            <a:off x="8183880" y="1719072"/>
            <a:ext cx="3017520" cy="685800"/>
          </a:xfrm>
          <a:prstGeom prst="rect">
            <a:avLst/>
          </a:prstGeom>
          <a:noFill/>
          <a:ln/>
        </p:spPr>
        <p:txBody>
          <a:bodyPr wrap="square" lIns="0" tIns="0" rIns="0" bIns="0" rtlCol="0" anchor="ctr"/>
          <a:lstStyle/>
          <a:p>
            <a:pPr indent="0" marL="0">
              <a:buNone/>
            </a:pPr>
            <a:r>
              <a:rPr lang="en-US" sz="4000" b="1" dirty="0">
                <a:solidFill>
                  <a:srgbClr val="E39A00"/>
                </a:solidFill>
                <a:latin typeface="Cambria" pitchFamily="34" charset="0"/>
                <a:ea typeface="Cambria" pitchFamily="34" charset="-122"/>
                <a:cs typeface="Cambria" pitchFamily="34" charset="-120"/>
              </a:rPr>
              <a:t>0.024</a:t>
            </a:r>
            <a:endParaRPr lang="en-US" sz="4000" dirty="0"/>
          </a:p>
        </p:txBody>
      </p:sp>
      <p:sp>
        <p:nvSpPr>
          <p:cNvPr id="35" name="Text 33"/>
          <p:cNvSpPr/>
          <p:nvPr/>
        </p:nvSpPr>
        <p:spPr>
          <a:xfrm>
            <a:off x="8183880" y="2377440"/>
            <a:ext cx="3017520" cy="457200"/>
          </a:xfrm>
          <a:prstGeom prst="rect">
            <a:avLst/>
          </a:prstGeom>
          <a:noFill/>
          <a:ln/>
        </p:spPr>
        <p:txBody>
          <a:bodyPr wrap="square" lIns="0" tIns="0" rIns="0" bIns="0" rtlCol="0" anchor="ctr"/>
          <a:lstStyle/>
          <a:p>
            <a:pPr indent="0" marL="0">
              <a:lnSpc>
                <a:spcPts val="1600"/>
              </a:lnSpc>
              <a:buNone/>
            </a:pPr>
            <a:r>
              <a:rPr lang="en-US" sz="1250" dirty="0">
                <a:solidFill>
                  <a:srgbClr val="C3CCE4"/>
                </a:solidFill>
                <a:latin typeface="Calibri" pitchFamily="34" charset="0"/>
                <a:ea typeface="Calibri" pitchFamily="34" charset="-122"/>
                <a:cs typeface="Calibri" pitchFamily="34" charset="-120"/>
              </a:rPr>
              <a:t>how much the score swings on luck alone</a:t>
            </a:r>
            <a:endParaRPr lang="en-US" sz="1250" dirty="0"/>
          </a:p>
        </p:txBody>
      </p:sp>
      <p:sp>
        <p:nvSpPr>
          <p:cNvPr id="36" name="Text 34"/>
          <p:cNvSpPr/>
          <p:nvPr/>
        </p:nvSpPr>
        <p:spPr>
          <a:xfrm>
            <a:off x="8183880" y="2852928"/>
            <a:ext cx="3017520" cy="777240"/>
          </a:xfrm>
          <a:prstGeom prst="rect">
            <a:avLst/>
          </a:prstGeom>
          <a:noFill/>
          <a:ln/>
        </p:spPr>
        <p:txBody>
          <a:bodyPr wrap="square" lIns="0" tIns="0" rIns="0" bIns="0" rtlCol="0" anchor="ctr"/>
          <a:lstStyle/>
          <a:p>
            <a:pPr indent="0" marL="0">
              <a:lnSpc>
                <a:spcPts val="1600"/>
              </a:lnSpc>
              <a:buNone/>
            </a:pPr>
            <a:r>
              <a:rPr lang="en-US" sz="1200" dirty="0">
                <a:solidFill>
                  <a:srgbClr val="C3CCE4"/>
                </a:solidFill>
                <a:latin typeface="Calibri" pitchFamily="34" charset="0"/>
                <a:ea typeface="Calibri" pitchFamily="34" charset="-122"/>
                <a:cs typeface="Calibri" pitchFamily="34" charset="-120"/>
              </a:rPr>
              <a:t>We simulated the competition twelve times. Same model, same code — scores ran from 0.517 to 0.591 depending purely on which customers landed in the test set.</a:t>
            </a:r>
            <a:endParaRPr lang="en-US" sz="1200" dirty="0"/>
          </a:p>
        </p:txBody>
      </p:sp>
      <p:sp>
        <p:nvSpPr>
          <p:cNvPr id="37" name="Shape 35"/>
          <p:cNvSpPr/>
          <p:nvPr/>
        </p:nvSpPr>
        <p:spPr>
          <a:xfrm>
            <a:off x="685800" y="4434840"/>
            <a:ext cx="10789920" cy="1828800"/>
          </a:xfrm>
          <a:prstGeom prst="roundRect">
            <a:avLst>
              <a:gd name="adj" fmla="val 4000"/>
            </a:avLst>
          </a:prstGeom>
          <a:solidFill>
            <a:srgbClr val="F4F6FB"/>
          </a:solidFill>
          <a:ln w="12700">
            <a:solidFill>
              <a:srgbClr val="F4F6FB"/>
            </a:solidFill>
            <a:prstDash val="solid"/>
          </a:ln>
        </p:spPr>
      </p:sp>
      <p:sp>
        <p:nvSpPr>
          <p:cNvPr id="38" name="Text 36"/>
          <p:cNvSpPr/>
          <p:nvPr/>
        </p:nvSpPr>
        <p:spPr>
          <a:xfrm>
            <a:off x="1005840" y="4599432"/>
            <a:ext cx="10149840" cy="320040"/>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Which means 0.53 and 0.56 are the same score</a:t>
            </a:r>
            <a:endParaRPr lang="en-US" sz="1700" dirty="0"/>
          </a:p>
        </p:txBody>
      </p:sp>
      <p:sp>
        <p:nvSpPr>
          <p:cNvPr id="39" name="Text 37"/>
          <p:cNvSpPr/>
          <p:nvPr/>
        </p:nvSpPr>
        <p:spPr>
          <a:xfrm>
            <a:off x="1005840" y="4956048"/>
            <a:ext cx="10149840" cy="411480"/>
          </a:xfrm>
          <a:prstGeom prst="rect">
            <a:avLst/>
          </a:prstGeom>
          <a:noFill/>
          <a:ln/>
        </p:spPr>
        <p:txBody>
          <a:bodyPr wrap="square" lIns="0" tIns="0" rIns="0" bIns="0" rtlCol="0" anchor="ctr"/>
          <a:lstStyle/>
          <a:p>
            <a:pPr indent="0" marL="0">
              <a:lnSpc>
                <a:spcPts val="1900"/>
              </a:lnSpc>
              <a:buNone/>
            </a:pPr>
            <a:r>
              <a:rPr lang="en-US" sz="1400" dirty="0">
                <a:solidFill>
                  <a:srgbClr val="4A5163"/>
                </a:solidFill>
                <a:latin typeface="Calibri" pitchFamily="34" charset="0"/>
                <a:ea typeface="Calibri" pitchFamily="34" charset="-122"/>
                <a:cs typeface="Calibri" pitchFamily="34" charset="-120"/>
              </a:rPr>
              <a:t>They are one swing apart. Both are consistent with a true score of about 0.545. A higher position on that leaderboard is mostly a kinder draw of customers.</a:t>
            </a:r>
            <a:endParaRPr lang="en-US" sz="1400" dirty="0"/>
          </a:p>
        </p:txBody>
      </p:sp>
      <p:sp>
        <p:nvSpPr>
          <p:cNvPr id="40" name="Text 38"/>
          <p:cNvSpPr/>
          <p:nvPr/>
        </p:nvSpPr>
        <p:spPr>
          <a:xfrm>
            <a:off x="1005840" y="5440680"/>
            <a:ext cx="10149840" cy="685800"/>
          </a:xfrm>
          <a:prstGeom prst="rect">
            <a:avLst/>
          </a:prstGeom>
          <a:noFill/>
          <a:ln/>
        </p:spPr>
        <p:txBody>
          <a:bodyPr wrap="square" lIns="0" tIns="0" rIns="0" bIns="0" rtlCol="0" anchor="ctr"/>
          <a:lstStyle/>
          <a:p>
            <a:pPr indent="0" marL="0">
              <a:lnSpc>
                <a:spcPts val="1900"/>
              </a:lnSpc>
              <a:buNone/>
            </a:pPr>
            <a:r>
              <a:rPr lang="en-US" sz="1400" b="1" dirty="0">
                <a:solidFill>
                  <a:srgbClr val="1E2761"/>
                </a:solidFill>
                <a:latin typeface="Calibri" pitchFamily="34" charset="0"/>
                <a:ea typeface="Calibri" pitchFamily="34" charset="-122"/>
                <a:cs typeface="Calibri" pitchFamily="34" charset="-120"/>
              </a:rPr>
              <a:t>And that is why we stopped submitting. With a swing of 0.024, trying six more variations would produce one scoring 0.57 by luck alone — and we would have no way to tell it from a real improvement.</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22960" y="2148840"/>
            <a:ext cx="1371600" cy="1371600"/>
          </a:xfrm>
          <a:prstGeom prst="ellipse">
            <a:avLst/>
          </a:prstGeom>
          <a:solidFill>
            <a:srgbClr val="E39A00"/>
          </a:solidFill>
          <a:ln/>
        </p:spPr>
      </p:sp>
      <p:sp>
        <p:nvSpPr>
          <p:cNvPr id="3" name="Text 1"/>
          <p:cNvSpPr/>
          <p:nvPr/>
        </p:nvSpPr>
        <p:spPr>
          <a:xfrm>
            <a:off x="822960" y="2148840"/>
            <a:ext cx="1371600" cy="13716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3</a:t>
            </a:r>
            <a:endParaRPr lang="en-US" sz="5400" dirty="0"/>
          </a:p>
        </p:txBody>
      </p:sp>
      <p:sp>
        <p:nvSpPr>
          <p:cNvPr id="4" name="Text 2"/>
          <p:cNvSpPr/>
          <p:nvPr/>
        </p:nvSpPr>
        <p:spPr>
          <a:xfrm>
            <a:off x="2651760" y="2148840"/>
            <a:ext cx="8686800" cy="365760"/>
          </a:xfrm>
          <a:prstGeom prst="rect">
            <a:avLst/>
          </a:prstGeom>
          <a:noFill/>
          <a:ln/>
        </p:spPr>
        <p:txBody>
          <a:bodyPr wrap="square" lIns="0" tIns="0" rIns="0" bIns="0" rtlCol="0" anchor="ctr"/>
          <a:lstStyle/>
          <a:p>
            <a:pPr indent="0" marL="0">
              <a:buNone/>
            </a:pPr>
            <a:r>
              <a:rPr lang="en-US" sz="1400" b="1" spc="300" kern="0" dirty="0">
                <a:solidFill>
                  <a:srgbClr val="E39A00"/>
                </a:solidFill>
                <a:latin typeface="Calibri" pitchFamily="34" charset="0"/>
                <a:ea typeface="Calibri" pitchFamily="34" charset="-122"/>
                <a:cs typeface="Calibri" pitchFamily="34" charset="-120"/>
              </a:rPr>
              <a:t>CHAPTER THREE</a:t>
            </a:r>
            <a:endParaRPr lang="en-US" sz="1400" dirty="0"/>
          </a:p>
        </p:txBody>
      </p:sp>
      <p:sp>
        <p:nvSpPr>
          <p:cNvPr id="5" name="Text 3"/>
          <p:cNvSpPr/>
          <p:nvPr/>
        </p:nvSpPr>
        <p:spPr>
          <a:xfrm>
            <a:off x="2651760" y="2560320"/>
            <a:ext cx="86868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Knowing when to stop</a:t>
            </a:r>
            <a:endParaRPr lang="en-US" sz="4000" dirty="0"/>
          </a:p>
        </p:txBody>
      </p:sp>
      <p:sp>
        <p:nvSpPr>
          <p:cNvPr id="6" name="Text 4"/>
          <p:cNvSpPr/>
          <p:nvPr/>
        </p:nvSpPr>
        <p:spPr>
          <a:xfrm>
            <a:off x="2651760" y="3520440"/>
            <a:ext cx="8046720" cy="822960"/>
          </a:xfrm>
          <a:prstGeom prst="rect">
            <a:avLst/>
          </a:prstGeom>
          <a:noFill/>
          <a:ln/>
        </p:spPr>
        <p:txBody>
          <a:bodyPr wrap="square" lIns="0" tIns="0" rIns="0" bIns="0" rtlCol="0" anchor="ctr"/>
          <a:lstStyle/>
          <a:p>
            <a:pPr indent="0" marL="0">
              <a:lnSpc>
                <a:spcPts val="2400"/>
              </a:lnSpc>
              <a:buNone/>
            </a:pPr>
            <a:r>
              <a:rPr lang="en-US" sz="1600" dirty="0">
                <a:solidFill>
                  <a:srgbClr val="C3CCE4"/>
                </a:solidFill>
                <a:latin typeface="Calibri" pitchFamily="34" charset="0"/>
                <a:ea typeface="Calibri" pitchFamily="34" charset="-122"/>
                <a:cs typeface="Calibri" pitchFamily="34" charset="-120"/>
              </a:rPr>
              <a:t>The hardest part was not improving the model. It was proving that nobody could.</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The customers the model cannot see</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We flagged 1,098 leavers. We missed 599</a:t>
            </a:r>
            <a:endParaRPr lang="en-US" sz="1500" dirty="0"/>
          </a:p>
        </p:txBody>
      </p:sp>
      <p:sp>
        <p:nvSpPr>
          <p:cNvPr id="6" name="Shape 4"/>
          <p:cNvSpPr/>
          <p:nvPr/>
        </p:nvSpPr>
        <p:spPr>
          <a:xfrm>
            <a:off x="685800" y="1691640"/>
            <a:ext cx="10789920" cy="2148840"/>
          </a:xfrm>
          <a:prstGeom prst="roundRect">
            <a:avLst>
              <a:gd name="adj" fmla="val 3404"/>
            </a:avLst>
          </a:prstGeom>
          <a:solidFill>
            <a:srgbClr val="F4F6FB"/>
          </a:solidFill>
          <a:ln w="12700">
            <a:solidFill>
              <a:srgbClr val="F4F6FB"/>
            </a:solidFill>
            <a:prstDash val="solid"/>
          </a:ln>
        </p:spPr>
      </p:sp>
      <p:sp>
        <p:nvSpPr>
          <p:cNvPr id="7" name="Text 5"/>
          <p:cNvSpPr/>
          <p:nvPr/>
        </p:nvSpPr>
        <p:spPr>
          <a:xfrm>
            <a:off x="1005840" y="1874520"/>
            <a:ext cx="10149840" cy="320040"/>
          </a:xfrm>
          <a:prstGeom prst="rect">
            <a:avLst/>
          </a:prstGeom>
          <a:noFill/>
          <a:ln/>
        </p:spPr>
        <p:txBody>
          <a:bodyPr wrap="square" lIns="0" tIns="0" rIns="0" bIns="0"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How the missed leavers compare</a:t>
            </a:r>
            <a:endParaRPr lang="en-US" sz="1800" dirty="0"/>
          </a:p>
        </p:txBody>
      </p:sp>
      <p:sp>
        <p:nvSpPr>
          <p:cNvPr id="8" name="Text 6"/>
          <p:cNvSpPr/>
          <p:nvPr/>
        </p:nvSpPr>
        <p:spPr>
          <a:xfrm>
            <a:off x="4663440" y="2240280"/>
            <a:ext cx="2103120" cy="274320"/>
          </a:xfrm>
          <a:prstGeom prst="rect">
            <a:avLst/>
          </a:prstGeom>
          <a:noFill/>
          <a:ln/>
        </p:spPr>
        <p:txBody>
          <a:bodyPr wrap="square" lIns="0" tIns="0" rIns="0" bIns="0" rtlCol="0" anchor="ctr"/>
          <a:lstStyle/>
          <a:p>
            <a:pPr algn="ctr" indent="0" marL="0">
              <a:buNone/>
            </a:pPr>
            <a:r>
              <a:rPr lang="en-US" sz="1200" b="1" dirty="0">
                <a:solidFill>
                  <a:srgbClr val="8891A4"/>
                </a:solidFill>
                <a:latin typeface="Calibri" pitchFamily="34" charset="0"/>
                <a:ea typeface="Calibri" pitchFamily="34" charset="-122"/>
                <a:cs typeface="Calibri" pitchFamily="34" charset="-120"/>
              </a:rPr>
              <a:t>Missed leavers</a:t>
            </a:r>
            <a:endParaRPr lang="en-US" sz="1200" dirty="0"/>
          </a:p>
        </p:txBody>
      </p:sp>
      <p:sp>
        <p:nvSpPr>
          <p:cNvPr id="9" name="Text 7"/>
          <p:cNvSpPr/>
          <p:nvPr/>
        </p:nvSpPr>
        <p:spPr>
          <a:xfrm>
            <a:off x="6858000" y="2240280"/>
            <a:ext cx="2194560" cy="274320"/>
          </a:xfrm>
          <a:prstGeom prst="rect">
            <a:avLst/>
          </a:prstGeom>
          <a:noFill/>
          <a:ln/>
        </p:spPr>
        <p:txBody>
          <a:bodyPr wrap="square" lIns="0" tIns="0" rIns="0" bIns="0" rtlCol="0" anchor="ctr"/>
          <a:lstStyle/>
          <a:p>
            <a:pPr algn="ctr" indent="0" marL="0">
              <a:buNone/>
            </a:pPr>
            <a:r>
              <a:rPr lang="en-US" sz="1200" b="1" dirty="0">
                <a:solidFill>
                  <a:srgbClr val="8891A4"/>
                </a:solidFill>
                <a:latin typeface="Calibri" pitchFamily="34" charset="0"/>
                <a:ea typeface="Calibri" pitchFamily="34" charset="-122"/>
                <a:cs typeface="Calibri" pitchFamily="34" charset="-120"/>
              </a:rPr>
              <a:t>Customers who stayed</a:t>
            </a:r>
            <a:endParaRPr lang="en-US" sz="1200" dirty="0"/>
          </a:p>
        </p:txBody>
      </p:sp>
      <p:sp>
        <p:nvSpPr>
          <p:cNvPr id="10" name="Text 8"/>
          <p:cNvSpPr/>
          <p:nvPr/>
        </p:nvSpPr>
        <p:spPr>
          <a:xfrm>
            <a:off x="9144000" y="2240280"/>
            <a:ext cx="2011680" cy="274320"/>
          </a:xfrm>
          <a:prstGeom prst="rect">
            <a:avLst/>
          </a:prstGeom>
          <a:noFill/>
          <a:ln/>
        </p:spPr>
        <p:txBody>
          <a:bodyPr wrap="square" lIns="0" tIns="0" rIns="0" bIns="0" rtlCol="0" anchor="ctr"/>
          <a:lstStyle/>
          <a:p>
            <a:pPr algn="ctr" indent="0" marL="0">
              <a:buNone/>
            </a:pPr>
            <a:r>
              <a:rPr lang="en-US" sz="1200" b="1" dirty="0">
                <a:solidFill>
                  <a:srgbClr val="8891A4"/>
                </a:solidFill>
                <a:latin typeface="Calibri" pitchFamily="34" charset="0"/>
                <a:ea typeface="Calibri" pitchFamily="34" charset="-122"/>
                <a:cs typeface="Calibri" pitchFamily="34" charset="-120"/>
              </a:rPr>
              <a:t>Leavers we caught</a:t>
            </a:r>
            <a:endParaRPr lang="en-US" sz="1200" dirty="0"/>
          </a:p>
        </p:txBody>
      </p:sp>
      <p:sp>
        <p:nvSpPr>
          <p:cNvPr id="11" name="Text 9"/>
          <p:cNvSpPr/>
          <p:nvPr/>
        </p:nvSpPr>
        <p:spPr>
          <a:xfrm>
            <a:off x="1005840" y="2560320"/>
            <a:ext cx="3566160" cy="548640"/>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Spending trend</a:t>
            </a:r>
            <a:endParaRPr lang="en-US" sz="1400" dirty="0"/>
          </a:p>
        </p:txBody>
      </p:sp>
      <p:sp>
        <p:nvSpPr>
          <p:cNvPr id="12" name="Text 10"/>
          <p:cNvSpPr/>
          <p:nvPr/>
        </p:nvSpPr>
        <p:spPr>
          <a:xfrm>
            <a:off x="4663440" y="2560320"/>
            <a:ext cx="2103120" cy="548640"/>
          </a:xfrm>
          <a:prstGeom prst="rect">
            <a:avLst/>
          </a:prstGeom>
          <a:noFill/>
          <a:ln/>
        </p:spPr>
        <p:txBody>
          <a:bodyPr wrap="square" lIns="0" tIns="0" rIns="0" bIns="0" rtlCol="0" anchor="ctr"/>
          <a:lstStyle/>
          <a:p>
            <a:pPr algn="ctr" indent="0" marL="0">
              <a:buNone/>
            </a:pPr>
            <a:r>
              <a:rPr lang="en-US" sz="2000" b="1" dirty="0">
                <a:solidFill>
                  <a:srgbClr val="E39A00"/>
                </a:solidFill>
                <a:latin typeface="Cambria" pitchFamily="34" charset="0"/>
                <a:ea typeface="Cambria" pitchFamily="34" charset="-122"/>
                <a:cs typeface="Cambria" pitchFamily="34" charset="-120"/>
              </a:rPr>
              <a:t>+4.73</a:t>
            </a:r>
            <a:endParaRPr lang="en-US" sz="2000" dirty="0"/>
          </a:p>
        </p:txBody>
      </p:sp>
      <p:sp>
        <p:nvSpPr>
          <p:cNvPr id="13" name="Text 11"/>
          <p:cNvSpPr/>
          <p:nvPr/>
        </p:nvSpPr>
        <p:spPr>
          <a:xfrm>
            <a:off x="6858000" y="2560320"/>
            <a:ext cx="2194560" cy="548640"/>
          </a:xfrm>
          <a:prstGeom prst="rect">
            <a:avLst/>
          </a:prstGeom>
          <a:noFill/>
          <a:ln/>
        </p:spPr>
        <p:txBody>
          <a:bodyPr wrap="square" lIns="0" tIns="0" rIns="0" bIns="0" rtlCol="0" anchor="ctr"/>
          <a:lstStyle/>
          <a:p>
            <a:pPr algn="ctr" indent="0" marL="0">
              <a:buNone/>
            </a:pPr>
            <a:r>
              <a:rPr lang="en-US" sz="2000" b="1" dirty="0">
                <a:solidFill>
                  <a:srgbClr val="4A6FA5"/>
                </a:solidFill>
                <a:latin typeface="Cambria" pitchFamily="34" charset="0"/>
                <a:ea typeface="Cambria" pitchFamily="34" charset="-122"/>
                <a:cs typeface="Cambria" pitchFamily="34" charset="-120"/>
              </a:rPr>
              <a:t>+22.03</a:t>
            </a:r>
            <a:endParaRPr lang="en-US" sz="2000" dirty="0"/>
          </a:p>
        </p:txBody>
      </p:sp>
      <p:sp>
        <p:nvSpPr>
          <p:cNvPr id="14" name="Text 12"/>
          <p:cNvSpPr/>
          <p:nvPr/>
        </p:nvSpPr>
        <p:spPr>
          <a:xfrm>
            <a:off x="9144000" y="2560320"/>
            <a:ext cx="2011680" cy="548640"/>
          </a:xfrm>
          <a:prstGeom prst="rect">
            <a:avLst/>
          </a:prstGeom>
          <a:noFill/>
          <a:ln/>
        </p:spPr>
        <p:txBody>
          <a:bodyPr wrap="square" lIns="0" tIns="0" rIns="0" bIns="0" rtlCol="0" anchor="ctr"/>
          <a:lstStyle/>
          <a:p>
            <a:pPr algn="ctr" indent="0" marL="0">
              <a:buNone/>
            </a:pPr>
            <a:r>
              <a:rPr lang="en-US" sz="2000" b="1" dirty="0">
                <a:solidFill>
                  <a:srgbClr val="8891A4"/>
                </a:solidFill>
                <a:latin typeface="Cambria" pitchFamily="34" charset="0"/>
                <a:ea typeface="Cambria" pitchFamily="34" charset="-122"/>
                <a:cs typeface="Cambria" pitchFamily="34" charset="-120"/>
              </a:rPr>
              <a:t>−146.25</a:t>
            </a:r>
            <a:endParaRPr lang="en-US" sz="2000" dirty="0"/>
          </a:p>
        </p:txBody>
      </p:sp>
      <p:sp>
        <p:nvSpPr>
          <p:cNvPr id="15" name="Text 13"/>
          <p:cNvSpPr/>
          <p:nvPr/>
        </p:nvSpPr>
        <p:spPr>
          <a:xfrm>
            <a:off x="1005840" y="3154680"/>
            <a:ext cx="3566160" cy="548640"/>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Missed a loan payment</a:t>
            </a:r>
            <a:endParaRPr lang="en-US" sz="1400" dirty="0"/>
          </a:p>
        </p:txBody>
      </p:sp>
      <p:sp>
        <p:nvSpPr>
          <p:cNvPr id="16" name="Text 14"/>
          <p:cNvSpPr/>
          <p:nvPr/>
        </p:nvSpPr>
        <p:spPr>
          <a:xfrm>
            <a:off x="4663440" y="3154680"/>
            <a:ext cx="2103120" cy="548640"/>
          </a:xfrm>
          <a:prstGeom prst="rect">
            <a:avLst/>
          </a:prstGeom>
          <a:noFill/>
          <a:ln/>
        </p:spPr>
        <p:txBody>
          <a:bodyPr wrap="square" lIns="0" tIns="0" rIns="0" bIns="0" rtlCol="0" anchor="ctr"/>
          <a:lstStyle/>
          <a:p>
            <a:pPr algn="ctr" indent="0" marL="0">
              <a:buNone/>
            </a:pPr>
            <a:r>
              <a:rPr lang="en-US" sz="2000" b="1" dirty="0">
                <a:solidFill>
                  <a:srgbClr val="E39A00"/>
                </a:solidFill>
                <a:latin typeface="Cambria" pitchFamily="34" charset="0"/>
                <a:ea typeface="Cambria" pitchFamily="34" charset="-122"/>
                <a:cs typeface="Cambria" pitchFamily="34" charset="-120"/>
              </a:rPr>
              <a:t>0.08</a:t>
            </a:r>
            <a:endParaRPr lang="en-US" sz="2000" dirty="0"/>
          </a:p>
        </p:txBody>
      </p:sp>
      <p:sp>
        <p:nvSpPr>
          <p:cNvPr id="17" name="Text 15"/>
          <p:cNvSpPr/>
          <p:nvPr/>
        </p:nvSpPr>
        <p:spPr>
          <a:xfrm>
            <a:off x="6858000" y="3154680"/>
            <a:ext cx="2194560" cy="548640"/>
          </a:xfrm>
          <a:prstGeom prst="rect">
            <a:avLst/>
          </a:prstGeom>
          <a:noFill/>
          <a:ln/>
        </p:spPr>
        <p:txBody>
          <a:bodyPr wrap="square" lIns="0" tIns="0" rIns="0" bIns="0" rtlCol="0" anchor="ctr"/>
          <a:lstStyle/>
          <a:p>
            <a:pPr algn="ctr" indent="0" marL="0">
              <a:buNone/>
            </a:pPr>
            <a:r>
              <a:rPr lang="en-US" sz="2000" b="1" dirty="0">
                <a:solidFill>
                  <a:srgbClr val="4A6FA5"/>
                </a:solidFill>
                <a:latin typeface="Cambria" pitchFamily="34" charset="0"/>
                <a:ea typeface="Cambria" pitchFamily="34" charset="-122"/>
                <a:cs typeface="Cambria" pitchFamily="34" charset="-120"/>
              </a:rPr>
              <a:t>0.11</a:t>
            </a:r>
            <a:endParaRPr lang="en-US" sz="2000" dirty="0"/>
          </a:p>
        </p:txBody>
      </p:sp>
      <p:sp>
        <p:nvSpPr>
          <p:cNvPr id="18" name="Text 16"/>
          <p:cNvSpPr/>
          <p:nvPr/>
        </p:nvSpPr>
        <p:spPr>
          <a:xfrm>
            <a:off x="9144000" y="3154680"/>
            <a:ext cx="2011680" cy="548640"/>
          </a:xfrm>
          <a:prstGeom prst="rect">
            <a:avLst/>
          </a:prstGeom>
          <a:noFill/>
          <a:ln/>
        </p:spPr>
        <p:txBody>
          <a:bodyPr wrap="square" lIns="0" tIns="0" rIns="0" bIns="0" rtlCol="0" anchor="ctr"/>
          <a:lstStyle/>
          <a:p>
            <a:pPr algn="ctr" indent="0" marL="0">
              <a:buNone/>
            </a:pPr>
            <a:r>
              <a:rPr lang="en-US" sz="2000" b="1" dirty="0">
                <a:solidFill>
                  <a:srgbClr val="8891A4"/>
                </a:solidFill>
                <a:latin typeface="Cambria" pitchFamily="34" charset="0"/>
                <a:ea typeface="Cambria" pitchFamily="34" charset="-122"/>
                <a:cs typeface="Cambria" pitchFamily="34" charset="-120"/>
              </a:rPr>
              <a:t>0.51</a:t>
            </a:r>
            <a:endParaRPr lang="en-US" sz="2000" dirty="0"/>
          </a:p>
        </p:txBody>
      </p:sp>
      <p:sp>
        <p:nvSpPr>
          <p:cNvPr id="19" name="Shape 17"/>
          <p:cNvSpPr/>
          <p:nvPr/>
        </p:nvSpPr>
        <p:spPr>
          <a:xfrm>
            <a:off x="685800" y="4023360"/>
            <a:ext cx="5257800" cy="1920240"/>
          </a:xfrm>
          <a:prstGeom prst="roundRect">
            <a:avLst>
              <a:gd name="adj" fmla="val 3810"/>
            </a:avLst>
          </a:prstGeom>
          <a:solidFill>
            <a:srgbClr val="1E2761"/>
          </a:solidFill>
          <a:ln w="12700">
            <a:solidFill>
              <a:srgbClr val="1E2761"/>
            </a:solidFill>
            <a:prstDash val="solid"/>
          </a:ln>
        </p:spPr>
      </p:sp>
      <p:sp>
        <p:nvSpPr>
          <p:cNvPr id="20" name="Text 18"/>
          <p:cNvSpPr/>
          <p:nvPr/>
        </p:nvSpPr>
        <p:spPr>
          <a:xfrm>
            <a:off x="1005840" y="4206240"/>
            <a:ext cx="4663440" cy="320040"/>
          </a:xfrm>
          <a:prstGeom prst="rect">
            <a:avLst/>
          </a:prstGeom>
          <a:noFill/>
          <a:ln/>
        </p:spPr>
        <p:txBody>
          <a:bodyPr wrap="square" lIns="0" tIns="0" rIns="0" bIns="0" rtlCol="0" anchor="ctr"/>
          <a:lstStyle/>
          <a:p>
            <a:pPr indent="0" marL="0">
              <a:buNone/>
            </a:pPr>
            <a:r>
              <a:rPr lang="en-US" sz="1700" b="1" dirty="0">
                <a:solidFill>
                  <a:srgbClr val="E39A00"/>
                </a:solidFill>
                <a:latin typeface="Cambria" pitchFamily="34" charset="0"/>
                <a:ea typeface="Cambria" pitchFamily="34" charset="-122"/>
                <a:cs typeface="Cambria" pitchFamily="34" charset="-120"/>
              </a:rPr>
              <a:t>They look exactly like stayers</a:t>
            </a:r>
            <a:endParaRPr lang="en-US" sz="1700" dirty="0"/>
          </a:p>
        </p:txBody>
      </p:sp>
      <p:sp>
        <p:nvSpPr>
          <p:cNvPr id="21" name="Text 19"/>
          <p:cNvSpPr/>
          <p:nvPr/>
        </p:nvSpPr>
        <p:spPr>
          <a:xfrm>
            <a:off x="1005840" y="4572000"/>
            <a:ext cx="4663440" cy="1234440"/>
          </a:xfrm>
          <a:prstGeom prst="rect">
            <a:avLst/>
          </a:prstGeom>
          <a:noFill/>
          <a:ln/>
        </p:spPr>
        <p:txBody>
          <a:bodyPr wrap="square" lIns="0" tIns="0" rIns="0" bIns="0" rtlCol="0" anchor="ctr"/>
          <a:lstStyle/>
          <a:p>
            <a:pPr indent="0" marL="0">
              <a:lnSpc>
                <a:spcPts val="1900"/>
              </a:lnSpc>
              <a:buNone/>
            </a:pPr>
            <a:r>
              <a:rPr lang="en-US" sz="1350" dirty="0">
                <a:solidFill>
                  <a:srgbClr val="C3CCE4"/>
                </a:solidFill>
                <a:latin typeface="Calibri" pitchFamily="34" charset="0"/>
                <a:ea typeface="Calibri" pitchFamily="34" charset="-122"/>
                <a:cs typeface="Calibri" pitchFamily="34" charset="-120"/>
              </a:rPr>
              <a:t>Their spending is barely declining. And they have a BETTER payment record than the average customer who stayed.</a:t>
            </a:r>
            <a:endParaRPr lang="en-US" sz="1350" dirty="0"/>
          </a:p>
          <a:p>
            <a:pPr indent="0" marL="0">
              <a:lnSpc>
                <a:spcPts val="1900"/>
              </a:lnSpc>
              <a:buNone/>
            </a:pPr>
            <a:endParaRPr lang="en-US" sz="1350" dirty="0"/>
          </a:p>
          <a:p>
            <a:pPr indent="0" marL="0">
              <a:lnSpc>
                <a:spcPts val="1900"/>
              </a:lnSpc>
              <a:buNone/>
            </a:pPr>
            <a:r>
              <a:rPr lang="en-US" sz="1350" dirty="0">
                <a:solidFill>
                  <a:srgbClr val="C3CCE4"/>
                </a:solidFill>
                <a:latin typeface="Calibri" pitchFamily="34" charset="0"/>
                <a:ea typeface="Calibri" pitchFamily="34" charset="-122"/>
                <a:cs typeface="Calibri" pitchFamily="34" charset="-120"/>
              </a:rPr>
              <a:t>Across every column, almost every comparison sits between 0.86 and 1.04.</a:t>
            </a:r>
            <a:endParaRPr lang="en-US" sz="1350" dirty="0"/>
          </a:p>
        </p:txBody>
      </p:sp>
      <p:sp>
        <p:nvSpPr>
          <p:cNvPr id="22" name="Shape 20"/>
          <p:cNvSpPr/>
          <p:nvPr/>
        </p:nvSpPr>
        <p:spPr>
          <a:xfrm>
            <a:off x="6217920" y="4023360"/>
            <a:ext cx="5257800" cy="1920240"/>
          </a:xfrm>
          <a:prstGeom prst="roundRect">
            <a:avLst>
              <a:gd name="adj" fmla="val 3810"/>
            </a:avLst>
          </a:prstGeom>
          <a:solidFill>
            <a:srgbClr val="F4F6FB"/>
          </a:solidFill>
          <a:ln w="12700">
            <a:solidFill>
              <a:srgbClr val="F4F6FB"/>
            </a:solidFill>
            <a:prstDash val="solid"/>
          </a:ln>
        </p:spPr>
      </p:sp>
      <p:sp>
        <p:nvSpPr>
          <p:cNvPr id="23" name="Text 21"/>
          <p:cNvSpPr/>
          <p:nvPr/>
        </p:nvSpPr>
        <p:spPr>
          <a:xfrm>
            <a:off x="6537960" y="4206240"/>
            <a:ext cx="4663440" cy="320040"/>
          </a:xfrm>
          <a:prstGeom prst="rect">
            <a:avLst/>
          </a:prstGeom>
          <a:noFill/>
          <a:ln/>
        </p:spPr>
        <p:txBody>
          <a:bodyPr wrap="square" lIns="0" tIns="0" rIns="0" bIns="0" rtlCol="0" anchor="ctr"/>
          <a:lstStyle/>
          <a:p>
            <a:pPr indent="0" marL="0">
              <a:buNone/>
            </a:pPr>
            <a:r>
              <a:rPr lang="en-US" sz="1700" b="1" dirty="0">
                <a:solidFill>
                  <a:srgbClr val="1B1F2A"/>
                </a:solidFill>
                <a:latin typeface="Cambria" pitchFamily="34" charset="0"/>
                <a:ea typeface="Cambria" pitchFamily="34" charset="-122"/>
                <a:cs typeface="Cambria" pitchFamily="34" charset="-120"/>
              </a:rPr>
              <a:t>So there is no clever fix</a:t>
            </a:r>
            <a:endParaRPr lang="en-US" sz="1700" dirty="0"/>
          </a:p>
        </p:txBody>
      </p:sp>
      <p:sp>
        <p:nvSpPr>
          <p:cNvPr id="24" name="Text 22"/>
          <p:cNvSpPr/>
          <p:nvPr/>
        </p:nvSpPr>
        <p:spPr>
          <a:xfrm>
            <a:off x="6537960" y="4572000"/>
            <a:ext cx="4663440" cy="1234440"/>
          </a:xfrm>
          <a:prstGeom prst="rect">
            <a:avLst/>
          </a:prstGeom>
          <a:noFill/>
          <a:ln/>
        </p:spPr>
        <p:txBody>
          <a:bodyPr wrap="square" lIns="0" tIns="0" rIns="0" bIns="0" rtlCol="0" anchor="ctr"/>
          <a:lstStyle/>
          <a:p>
            <a:pPr indent="0" marL="0">
              <a:lnSpc>
                <a:spcPts val="1900"/>
              </a:lnSpc>
              <a:buNone/>
            </a:pPr>
            <a:r>
              <a:rPr lang="en-US" sz="1350" dirty="0">
                <a:solidFill>
                  <a:srgbClr val="4A5163"/>
                </a:solidFill>
                <a:latin typeface="Calibri" pitchFamily="34" charset="0"/>
                <a:ea typeface="Calibri" pitchFamily="34" charset="-122"/>
                <a:cs typeface="Calibri" pitchFamily="34" charset="-120"/>
              </a:rPr>
              <a:t>No new column is hiding in these 599 customers. They left for reasons that were never written down — a rival's offer, a move, a bad branch visit.</a:t>
            </a:r>
            <a:endParaRPr lang="en-US" sz="1350" dirty="0"/>
          </a:p>
          <a:p>
            <a:pPr indent="0" marL="0">
              <a:lnSpc>
                <a:spcPts val="1900"/>
              </a:lnSpc>
              <a:buNone/>
            </a:pPr>
            <a:endParaRPr lang="en-US" sz="1350" dirty="0"/>
          </a:p>
          <a:p>
            <a:pPr indent="0" marL="0">
              <a:lnSpc>
                <a:spcPts val="1900"/>
              </a:lnSpc>
              <a:buNone/>
            </a:pPr>
            <a:r>
              <a:rPr lang="en-US" sz="1350" dirty="0">
                <a:solidFill>
                  <a:srgbClr val="4A5163"/>
                </a:solidFill>
                <a:latin typeface="Calibri" pitchFamily="34" charset="0"/>
                <a:ea typeface="Calibri" pitchFamily="34" charset="-122"/>
                <a:cs typeface="Calibri" pitchFamily="34" charset="-120"/>
              </a:rPr>
              <a:t>The answer is not a better algorithm. It is more information.</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24</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Proving we had finished</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Instead of just deciding we had</a:t>
            </a:r>
            <a:endParaRPr lang="en-US" sz="1500" dirty="0"/>
          </a:p>
        </p:txBody>
      </p:sp>
      <p:sp>
        <p:nvSpPr>
          <p:cNvPr id="6" name="Shape 4"/>
          <p:cNvSpPr/>
          <p:nvPr/>
        </p:nvSpPr>
        <p:spPr>
          <a:xfrm>
            <a:off x="685800" y="1645920"/>
            <a:ext cx="10789920" cy="1371600"/>
          </a:xfrm>
          <a:prstGeom prst="roundRect">
            <a:avLst>
              <a:gd name="adj" fmla="val 5333"/>
            </a:avLst>
          </a:prstGeom>
          <a:solidFill>
            <a:srgbClr val="F4F6FB"/>
          </a:solidFill>
          <a:ln w="12700">
            <a:solidFill>
              <a:srgbClr val="F4F6FB"/>
            </a:solidFill>
            <a:prstDash val="solid"/>
          </a:ln>
        </p:spPr>
      </p:sp>
      <p:sp>
        <p:nvSpPr>
          <p:cNvPr id="7" name="Text 5"/>
          <p:cNvSpPr/>
          <p:nvPr/>
        </p:nvSpPr>
        <p:spPr>
          <a:xfrm>
            <a:off x="1005840" y="1810512"/>
            <a:ext cx="10149840" cy="320040"/>
          </a:xfrm>
          <a:prstGeom prst="rect">
            <a:avLst/>
          </a:prstGeom>
          <a:noFill/>
          <a:ln/>
        </p:spPr>
        <p:txBody>
          <a:bodyPr wrap="square" lIns="0" tIns="0" rIns="0" bIns="0" rtlCol="0" anchor="ctr"/>
          <a:lstStyle/>
          <a:p>
            <a:pPr indent="0" marL="0">
              <a:buNone/>
            </a:pPr>
            <a:r>
              <a:rPr lang="en-US" sz="1800" b="1" dirty="0">
                <a:solidFill>
                  <a:srgbClr val="1B1F2A"/>
                </a:solidFill>
                <a:latin typeface="Cambria" pitchFamily="34" charset="0"/>
                <a:ea typeface="Cambria" pitchFamily="34" charset="-122"/>
                <a:cs typeface="Cambria" pitchFamily="34" charset="-120"/>
              </a:rPr>
              <a:t>The test</a:t>
            </a:r>
            <a:endParaRPr lang="en-US" sz="1800" dirty="0"/>
          </a:p>
        </p:txBody>
      </p:sp>
      <p:sp>
        <p:nvSpPr>
          <p:cNvPr id="8" name="Text 6"/>
          <p:cNvSpPr/>
          <p:nvPr/>
        </p:nvSpPr>
        <p:spPr>
          <a:xfrm>
            <a:off x="1005840" y="2176272"/>
            <a:ext cx="10149840" cy="731520"/>
          </a:xfrm>
          <a:prstGeom prst="rect">
            <a:avLst/>
          </a:prstGeom>
          <a:noFill/>
          <a:ln/>
        </p:spPr>
        <p:txBody>
          <a:bodyPr wrap="square" lIns="0" tIns="0" rIns="0" bIns="0" rtlCol="0" anchor="ctr"/>
          <a:lstStyle/>
          <a:p>
            <a:pPr indent="0" marL="0">
              <a:lnSpc>
                <a:spcPts val="2000"/>
              </a:lnSpc>
              <a:buNone/>
            </a:pPr>
            <a:r>
              <a:rPr lang="en-US" sz="1450" dirty="0">
                <a:solidFill>
                  <a:srgbClr val="4A5163"/>
                </a:solidFill>
                <a:latin typeface="Calibri" pitchFamily="34" charset="0"/>
                <a:ea typeface="Calibri" pitchFamily="34" charset="-122"/>
                <a:cs typeface="Calibri" pitchFamily="34" charset="-120"/>
              </a:rPr>
              <a:t>Take the model's own predictions. Throw away the real answers entirely. Invent brand new answers from those predictions, and score the model against them. If the model has genuinely learned the rule that created this data, the two scores will match.</a:t>
            </a:r>
            <a:endParaRPr lang="en-US" sz="1450" dirty="0"/>
          </a:p>
        </p:txBody>
      </p:sp>
      <p:sp>
        <p:nvSpPr>
          <p:cNvPr id="9" name="Shape 7"/>
          <p:cNvSpPr/>
          <p:nvPr/>
        </p:nvSpPr>
        <p:spPr>
          <a:xfrm>
            <a:off x="685800" y="3154680"/>
            <a:ext cx="10789920" cy="1664208"/>
          </a:xfrm>
          <a:prstGeom prst="roundRect">
            <a:avLst>
              <a:gd name="adj" fmla="val 4396"/>
            </a:avLst>
          </a:prstGeom>
          <a:solidFill>
            <a:srgbClr val="1E2761"/>
          </a:solidFill>
          <a:ln w="12700">
            <a:solidFill>
              <a:srgbClr val="1E2761"/>
            </a:solidFill>
            <a:prstDash val="solid"/>
          </a:ln>
        </p:spPr>
      </p:sp>
      <p:sp>
        <p:nvSpPr>
          <p:cNvPr id="10" name="Text 8"/>
          <p:cNvSpPr/>
          <p:nvPr/>
        </p:nvSpPr>
        <p:spPr>
          <a:xfrm>
            <a:off x="1188720" y="3291840"/>
            <a:ext cx="3931920" cy="731520"/>
          </a:xfrm>
          <a:prstGeom prst="rect">
            <a:avLst/>
          </a:prstGeom>
          <a:noFill/>
          <a:ln/>
        </p:spPr>
        <p:txBody>
          <a:bodyPr wrap="square" lIns="0" tIns="0" rIns="0" bIns="0" rtlCol="0" anchor="ctr"/>
          <a:lstStyle/>
          <a:p>
            <a:pPr algn="ctr" indent="0" marL="0">
              <a:buNone/>
            </a:pPr>
            <a:r>
              <a:rPr lang="en-US" sz="4200" b="1" dirty="0">
                <a:solidFill>
                  <a:srgbClr val="E39A00"/>
                </a:solidFill>
                <a:latin typeface="Cambria" pitchFamily="34" charset="0"/>
                <a:ea typeface="Cambria" pitchFamily="34" charset="-122"/>
                <a:cs typeface="Cambria" pitchFamily="34" charset="-120"/>
              </a:rPr>
              <a:t>0.8074</a:t>
            </a:r>
            <a:endParaRPr lang="en-US" sz="4200" dirty="0"/>
          </a:p>
        </p:txBody>
      </p:sp>
      <p:sp>
        <p:nvSpPr>
          <p:cNvPr id="11" name="Text 9"/>
          <p:cNvSpPr/>
          <p:nvPr/>
        </p:nvSpPr>
        <p:spPr>
          <a:xfrm>
            <a:off x="1188720" y="4005072"/>
            <a:ext cx="3931920" cy="274320"/>
          </a:xfrm>
          <a:prstGeom prst="rect">
            <a:avLst/>
          </a:prstGeom>
          <a:noFill/>
          <a:ln/>
        </p:spPr>
        <p:txBody>
          <a:bodyPr wrap="square" lIns="0" tIns="0" rIns="0" bIns="0" rtlCol="0" anchor="ctr"/>
          <a:lstStyle/>
          <a:p>
            <a:pPr algn="ctr" indent="0" marL="0">
              <a:buNone/>
            </a:pPr>
            <a:r>
              <a:rPr lang="en-US" sz="1200" dirty="0">
                <a:solidFill>
                  <a:srgbClr val="C3CCE4"/>
                </a:solidFill>
                <a:latin typeface="Calibri" pitchFamily="34" charset="0"/>
                <a:ea typeface="Calibri" pitchFamily="34" charset="-122"/>
                <a:cs typeface="Calibri" pitchFamily="34" charset="-120"/>
              </a:rPr>
              <a:t>score against invented answers</a:t>
            </a:r>
            <a:endParaRPr lang="en-US" sz="1200" dirty="0"/>
          </a:p>
        </p:txBody>
      </p:sp>
      <p:sp>
        <p:nvSpPr>
          <p:cNvPr id="12" name="Text 10"/>
          <p:cNvSpPr/>
          <p:nvPr/>
        </p:nvSpPr>
        <p:spPr>
          <a:xfrm>
            <a:off x="5303520" y="3291840"/>
            <a:ext cx="109728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a:t>
            </a:r>
            <a:endParaRPr lang="en-US" sz="3800" dirty="0"/>
          </a:p>
        </p:txBody>
      </p:sp>
      <p:sp>
        <p:nvSpPr>
          <p:cNvPr id="13" name="Text 11"/>
          <p:cNvSpPr/>
          <p:nvPr/>
        </p:nvSpPr>
        <p:spPr>
          <a:xfrm>
            <a:off x="6492240" y="3291840"/>
            <a:ext cx="3931920" cy="731520"/>
          </a:xfrm>
          <a:prstGeom prst="rect">
            <a:avLst/>
          </a:prstGeom>
          <a:noFill/>
          <a:ln/>
        </p:spPr>
        <p:txBody>
          <a:bodyPr wrap="square" lIns="0" tIns="0" rIns="0" bIns="0" rtlCol="0" anchor="ctr"/>
          <a:lstStyle/>
          <a:p>
            <a:pPr algn="ctr" indent="0" marL="0">
              <a:buNone/>
            </a:pPr>
            <a:r>
              <a:rPr lang="en-US" sz="4200" b="1" dirty="0">
                <a:solidFill>
                  <a:srgbClr val="E39A00"/>
                </a:solidFill>
                <a:latin typeface="Cambria" pitchFamily="34" charset="0"/>
                <a:ea typeface="Cambria" pitchFamily="34" charset="-122"/>
                <a:cs typeface="Cambria" pitchFamily="34" charset="-120"/>
              </a:rPr>
              <a:t>0.8069</a:t>
            </a:r>
            <a:endParaRPr lang="en-US" sz="4200" dirty="0"/>
          </a:p>
        </p:txBody>
      </p:sp>
      <p:sp>
        <p:nvSpPr>
          <p:cNvPr id="14" name="Text 12"/>
          <p:cNvSpPr/>
          <p:nvPr/>
        </p:nvSpPr>
        <p:spPr>
          <a:xfrm>
            <a:off x="6492240" y="4005072"/>
            <a:ext cx="3931920" cy="274320"/>
          </a:xfrm>
          <a:prstGeom prst="rect">
            <a:avLst/>
          </a:prstGeom>
          <a:noFill/>
          <a:ln/>
        </p:spPr>
        <p:txBody>
          <a:bodyPr wrap="square" lIns="0" tIns="0" rIns="0" bIns="0" rtlCol="0" anchor="ctr"/>
          <a:lstStyle/>
          <a:p>
            <a:pPr algn="ctr" indent="0" marL="0">
              <a:buNone/>
            </a:pPr>
            <a:r>
              <a:rPr lang="en-US" sz="1200" dirty="0">
                <a:solidFill>
                  <a:srgbClr val="C3CCE4"/>
                </a:solidFill>
                <a:latin typeface="Calibri" pitchFamily="34" charset="0"/>
                <a:ea typeface="Calibri" pitchFamily="34" charset="-122"/>
                <a:cs typeface="Calibri" pitchFamily="34" charset="-120"/>
              </a:rPr>
              <a:t>score actually observed</a:t>
            </a:r>
            <a:endParaRPr lang="en-US" sz="1200" dirty="0"/>
          </a:p>
        </p:txBody>
      </p:sp>
      <p:sp>
        <p:nvSpPr>
          <p:cNvPr id="15" name="Text 13"/>
          <p:cNvSpPr/>
          <p:nvPr/>
        </p:nvSpPr>
        <p:spPr>
          <a:xfrm>
            <a:off x="1005840" y="4370832"/>
            <a:ext cx="101498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They match. The model has recovered the process that generated the data.</a:t>
            </a:r>
            <a:endParaRPr lang="en-US" sz="1500" dirty="0"/>
          </a:p>
        </p:txBody>
      </p:sp>
      <p:sp>
        <p:nvSpPr>
          <p:cNvPr id="16" name="Shape 14"/>
          <p:cNvSpPr/>
          <p:nvPr/>
        </p:nvSpPr>
        <p:spPr>
          <a:xfrm>
            <a:off x="685800" y="4983480"/>
            <a:ext cx="5257800" cy="1371600"/>
          </a:xfrm>
          <a:prstGeom prst="roundRect">
            <a:avLst>
              <a:gd name="adj" fmla="val 5333"/>
            </a:avLst>
          </a:prstGeom>
          <a:solidFill>
            <a:srgbClr val="F4F6FB"/>
          </a:solidFill>
          <a:ln w="12700">
            <a:solidFill>
              <a:srgbClr val="F4F6FB"/>
            </a:solidFill>
            <a:prstDash val="solid"/>
          </a:ln>
        </p:spPr>
      </p:sp>
      <p:sp>
        <p:nvSpPr>
          <p:cNvPr id="17" name="Text 15"/>
          <p:cNvSpPr/>
          <p:nvPr/>
        </p:nvSpPr>
        <p:spPr>
          <a:xfrm>
            <a:off x="1005840" y="5120640"/>
            <a:ext cx="4663440" cy="320040"/>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What that means in plain words</a:t>
            </a:r>
            <a:endParaRPr lang="en-US" sz="1600" dirty="0"/>
          </a:p>
        </p:txBody>
      </p:sp>
      <p:sp>
        <p:nvSpPr>
          <p:cNvPr id="18" name="Text 16"/>
          <p:cNvSpPr/>
          <p:nvPr/>
        </p:nvSpPr>
        <p:spPr>
          <a:xfrm>
            <a:off x="1005840" y="5458968"/>
            <a:ext cx="4663440" cy="777240"/>
          </a:xfrm>
          <a:prstGeom prst="rect">
            <a:avLst/>
          </a:prstGeom>
          <a:noFill/>
          <a:ln/>
        </p:spPr>
        <p:txBody>
          <a:bodyPr wrap="square" lIns="0" tIns="0" rIns="0" bIns="0" rtlCol="0" anchor="ctr"/>
          <a:lstStyle/>
          <a:p>
            <a:pPr indent="0" marL="0">
              <a:lnSpc>
                <a:spcPts val="1800"/>
              </a:lnSpc>
              <a:buNone/>
            </a:pPr>
            <a:r>
              <a:rPr lang="en-US" sz="1350" dirty="0">
                <a:solidFill>
                  <a:srgbClr val="4A5163"/>
                </a:solidFill>
                <a:latin typeface="Calibri" pitchFamily="34" charset="0"/>
                <a:ea typeface="Calibri" pitchFamily="34" charset="-122"/>
                <a:cs typeface="Calibri" pitchFamily="34" charset="-120"/>
              </a:rPr>
              <a:t>This data was made by flipping a weighted coin for each customer. We have learned the weights. Nobody can predict the flip.</a:t>
            </a:r>
            <a:endParaRPr lang="en-US" sz="1350" dirty="0"/>
          </a:p>
        </p:txBody>
      </p:sp>
      <p:sp>
        <p:nvSpPr>
          <p:cNvPr id="19" name="Shape 17"/>
          <p:cNvSpPr/>
          <p:nvPr/>
        </p:nvSpPr>
        <p:spPr>
          <a:xfrm>
            <a:off x="6217920" y="4983480"/>
            <a:ext cx="5257800" cy="1371600"/>
          </a:xfrm>
          <a:prstGeom prst="roundRect">
            <a:avLst>
              <a:gd name="adj" fmla="val 5333"/>
            </a:avLst>
          </a:prstGeom>
          <a:solidFill>
            <a:srgbClr val="F4F6FB"/>
          </a:solidFill>
          <a:ln w="12700">
            <a:solidFill>
              <a:srgbClr val="F4F6FB"/>
            </a:solidFill>
            <a:prstDash val="solid"/>
          </a:ln>
        </p:spPr>
      </p:sp>
      <p:sp>
        <p:nvSpPr>
          <p:cNvPr id="20" name="Text 18"/>
          <p:cNvSpPr/>
          <p:nvPr/>
        </p:nvSpPr>
        <p:spPr>
          <a:xfrm>
            <a:off x="6537960" y="5120640"/>
            <a:ext cx="4663440" cy="320040"/>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So Chapter Two was never going to work</a:t>
            </a:r>
            <a:endParaRPr lang="en-US" sz="1600" dirty="0"/>
          </a:p>
        </p:txBody>
      </p:sp>
      <p:sp>
        <p:nvSpPr>
          <p:cNvPr id="21" name="Text 19"/>
          <p:cNvSpPr/>
          <p:nvPr/>
        </p:nvSpPr>
        <p:spPr>
          <a:xfrm>
            <a:off x="6537960" y="5458968"/>
            <a:ext cx="4663440" cy="777240"/>
          </a:xfrm>
          <a:prstGeom prst="rect">
            <a:avLst/>
          </a:prstGeom>
          <a:noFill/>
          <a:ln/>
        </p:spPr>
        <p:txBody>
          <a:bodyPr wrap="square" lIns="0" tIns="0" rIns="0" bIns="0" rtlCol="0" anchor="ctr"/>
          <a:lstStyle/>
          <a:p>
            <a:pPr indent="0" marL="0">
              <a:lnSpc>
                <a:spcPts val="1800"/>
              </a:lnSpc>
              <a:buNone/>
            </a:pPr>
            <a:r>
              <a:rPr lang="en-US" sz="1350" dirty="0">
                <a:solidFill>
                  <a:srgbClr val="4A5163"/>
                </a:solidFill>
                <a:latin typeface="Calibri" pitchFamily="34" charset="0"/>
                <a:ea typeface="Calibri" pitchFamily="34" charset="-122"/>
                <a:cs typeface="Calibri" pitchFamily="34" charset="-120"/>
              </a:rPr>
              <a:t>All twelve of those experiments were chasing something that was not there. This is the measurement that says so.</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25</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One finding the model cannot use — but the assistant can</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Two customers, same risk score, opposite right answer</a:t>
            </a:r>
            <a:endParaRPr lang="en-US" sz="1500" dirty="0"/>
          </a:p>
        </p:txBody>
      </p:sp>
      <p:sp>
        <p:nvSpPr>
          <p:cNvPr id="6" name="Shape 4"/>
          <p:cNvSpPr/>
          <p:nvPr/>
        </p:nvSpPr>
        <p:spPr>
          <a:xfrm>
            <a:off x="685800" y="1691640"/>
            <a:ext cx="5257800" cy="3246120"/>
          </a:xfrm>
          <a:prstGeom prst="roundRect">
            <a:avLst>
              <a:gd name="adj" fmla="val 2254"/>
            </a:avLst>
          </a:prstGeom>
          <a:solidFill>
            <a:srgbClr val="1E2761"/>
          </a:solidFill>
          <a:ln w="12700">
            <a:solidFill>
              <a:srgbClr val="1E2761"/>
            </a:solidFill>
            <a:prstDash val="solid"/>
          </a:ln>
        </p:spPr>
      </p:sp>
      <p:sp>
        <p:nvSpPr>
          <p:cNvPr id="7" name="Text 5"/>
          <p:cNvSpPr/>
          <p:nvPr/>
        </p:nvSpPr>
        <p:spPr>
          <a:xfrm>
            <a:off x="1005840" y="1920240"/>
            <a:ext cx="4663440" cy="365760"/>
          </a:xfrm>
          <a:prstGeom prst="rect">
            <a:avLst/>
          </a:prstGeom>
          <a:noFill/>
          <a:ln/>
        </p:spPr>
        <p:txBody>
          <a:bodyPr wrap="square" lIns="0" tIns="0" rIns="0" bIns="0" rtlCol="0" anchor="ctr"/>
          <a:lstStyle/>
          <a:p>
            <a:pPr indent="0" marL="0">
              <a:buNone/>
            </a:pPr>
            <a:r>
              <a:rPr lang="en-US" sz="2000" b="1" dirty="0">
                <a:solidFill>
                  <a:srgbClr val="E39A00"/>
                </a:solidFill>
                <a:latin typeface="Cambria" pitchFamily="34" charset="0"/>
                <a:ea typeface="Cambria" pitchFamily="34" charset="-122"/>
                <a:cs typeface="Cambria" pitchFamily="34" charset="-120"/>
              </a:rPr>
              <a:t>The distressed customer</a:t>
            </a:r>
            <a:endParaRPr lang="en-US" sz="2000" dirty="0"/>
          </a:p>
        </p:txBody>
      </p:sp>
      <p:sp>
        <p:nvSpPr>
          <p:cNvPr id="8" name="Text 6"/>
          <p:cNvSpPr/>
          <p:nvPr/>
        </p:nvSpPr>
        <p:spPr>
          <a:xfrm>
            <a:off x="1005840" y="2304288"/>
            <a:ext cx="4663440" cy="274320"/>
          </a:xfrm>
          <a:prstGeom prst="rect">
            <a:avLst/>
          </a:prstGeom>
          <a:noFill/>
          <a:ln/>
        </p:spPr>
        <p:txBody>
          <a:bodyPr wrap="square" lIns="0" tIns="0" rIns="0" bIns="0" rtlCol="0" anchor="ctr"/>
          <a:lstStyle/>
          <a:p>
            <a:pPr indent="0" marL="0">
              <a:buNone/>
            </a:pPr>
            <a:r>
              <a:rPr lang="en-US" sz="1200" dirty="0">
                <a:solidFill>
                  <a:srgbClr val="8891A4"/>
                </a:solidFill>
                <a:latin typeface="Calibri" pitchFamily="34" charset="0"/>
                <a:ea typeface="Calibri" pitchFamily="34" charset="-122"/>
                <a:cs typeface="Calibri" pitchFamily="34" charset="-120"/>
              </a:rPr>
              <a:t>575 customers</a:t>
            </a:r>
            <a:endParaRPr lang="en-US" sz="1200" dirty="0"/>
          </a:p>
        </p:txBody>
      </p:sp>
      <p:sp>
        <p:nvSpPr>
          <p:cNvPr id="9" name="Text 7"/>
          <p:cNvSpPr/>
          <p:nvPr/>
        </p:nvSpPr>
        <p:spPr>
          <a:xfrm>
            <a:off x="1005840" y="2651760"/>
            <a:ext cx="4663440" cy="1737360"/>
          </a:xfrm>
          <a:prstGeom prst="rect">
            <a:avLst/>
          </a:prstGeom>
          <a:noFill/>
          <a:ln/>
        </p:spPr>
        <p:txBody>
          <a:bodyPr wrap="square" lIns="0" tIns="0" rIns="0" bIns="0" rtlCol="0" anchor="ctr"/>
          <a:lstStyle/>
          <a:p>
            <a:pPr marL="342900" indent="-342900">
              <a:lnSpc>
                <a:spcPts val="2000"/>
              </a:lnSpc>
              <a:spcAft>
                <a:spcPts val="900"/>
              </a:spcAft>
              <a:buSzPct val="100000"/>
              <a:buChar char="•"/>
            </a:pPr>
            <a:r>
              <a:rPr lang="en-US" sz="1400" dirty="0">
                <a:solidFill>
                  <a:srgbClr val="DCE3F5"/>
                </a:solidFill>
                <a:latin typeface="Calibri" pitchFamily="34" charset="0"/>
                <a:ea typeface="Calibri" pitchFamily="34" charset="-122"/>
                <a:cs typeface="Calibri" pitchFamily="34" charset="-120"/>
              </a:rPr>
              <a:t>Spending down 33%</a:t>
            </a:r>
            <a:endParaRPr lang="en-US" sz="1400" dirty="0"/>
          </a:p>
          <a:p>
            <a:pPr marL="342900" indent="-342900">
              <a:lnSpc>
                <a:spcPts val="2000"/>
              </a:lnSpc>
              <a:spcAft>
                <a:spcPts val="900"/>
              </a:spcAft>
              <a:buSzPct val="100000"/>
              <a:buChar char="•"/>
            </a:pPr>
            <a:r>
              <a:rPr lang="en-US" sz="1400" dirty="0">
                <a:solidFill>
                  <a:srgbClr val="DCE3F5"/>
                </a:solidFill>
                <a:latin typeface="Calibri" pitchFamily="34" charset="0"/>
                <a:ea typeface="Calibri" pitchFamily="34" charset="-122"/>
                <a:cs typeface="Calibri" pitchFamily="34" charset="-120"/>
              </a:rPr>
              <a:t>Age 39, with us 4.4 years</a:t>
            </a:r>
            <a:endParaRPr lang="en-US" sz="1400" dirty="0"/>
          </a:p>
          <a:p>
            <a:pPr marL="342900" indent="-342900">
              <a:lnSpc>
                <a:spcPts val="2000"/>
              </a:lnSpc>
              <a:spcAft>
                <a:spcPts val="900"/>
              </a:spcAft>
              <a:buSzPct val="100000"/>
              <a:buChar char="•"/>
            </a:pPr>
            <a:r>
              <a:rPr lang="en-US" sz="1400" dirty="0">
                <a:solidFill>
                  <a:srgbClr val="DCE3F5"/>
                </a:solidFill>
                <a:latin typeface="Calibri" pitchFamily="34" charset="0"/>
                <a:ea typeface="Calibri" pitchFamily="34" charset="-122"/>
                <a:cs typeface="Calibri" pitchFamily="34" charset="-120"/>
              </a:rPr>
              <a:t>Owes 11,610 on loans</a:t>
            </a:r>
            <a:endParaRPr lang="en-US" sz="1400" dirty="0"/>
          </a:p>
          <a:p>
            <a:pPr marL="342900" indent="-342900">
              <a:lnSpc>
                <a:spcPts val="2000"/>
              </a:lnSpc>
              <a:spcAft>
                <a:spcPts val="900"/>
              </a:spcAft>
              <a:buSzPct val="100000"/>
              <a:buChar char="•"/>
            </a:pPr>
            <a:r>
              <a:rPr lang="en-US" sz="1400" dirty="0">
                <a:solidFill>
                  <a:srgbClr val="DCE3F5"/>
                </a:solidFill>
                <a:latin typeface="Calibri" pitchFamily="34" charset="0"/>
                <a:ea typeface="Calibri" pitchFamily="34" charset="-122"/>
                <a:cs typeface="Calibri" pitchFamily="34" charset="-120"/>
              </a:rPr>
              <a:t>41% have their salary with us</a:t>
            </a:r>
            <a:endParaRPr lang="en-US" sz="1400" dirty="0"/>
          </a:p>
        </p:txBody>
      </p:sp>
      <p:sp>
        <p:nvSpPr>
          <p:cNvPr id="10" name="Text 8"/>
          <p:cNvSpPr/>
          <p:nvPr/>
        </p:nvSpPr>
        <p:spPr>
          <a:xfrm>
            <a:off x="1005840" y="4480560"/>
            <a:ext cx="4663440" cy="320040"/>
          </a:xfrm>
          <a:prstGeom prst="rect">
            <a:avLst/>
          </a:prstGeom>
          <a:noFill/>
          <a:ln/>
        </p:spPr>
        <p:txBody>
          <a:bodyPr wrap="square" lIns="0" tIns="0" rIns="0" bIns="0" rtlCol="0" anchor="ctr"/>
          <a:lstStyle/>
          <a:p>
            <a:pPr indent="0" marL="0">
              <a:buNone/>
            </a:pPr>
            <a:r>
              <a:rPr lang="en-US" sz="1500" b="1" i="1" dirty="0">
                <a:solidFill>
                  <a:srgbClr val="FFFFFF"/>
                </a:solidFill>
                <a:latin typeface="Calibri" pitchFamily="34" charset="0"/>
                <a:ea typeface="Calibri" pitchFamily="34" charset="-122"/>
                <a:cs typeface="Calibri" pitchFamily="34" charset="-120"/>
              </a:rPr>
              <a:t>This is a money problem.</a:t>
            </a:r>
            <a:endParaRPr lang="en-US" sz="1500" dirty="0"/>
          </a:p>
        </p:txBody>
      </p:sp>
      <p:sp>
        <p:nvSpPr>
          <p:cNvPr id="11" name="Shape 9"/>
          <p:cNvSpPr/>
          <p:nvPr/>
        </p:nvSpPr>
        <p:spPr>
          <a:xfrm>
            <a:off x="6217920" y="1691640"/>
            <a:ext cx="5257800" cy="3246120"/>
          </a:xfrm>
          <a:prstGeom prst="roundRect">
            <a:avLst>
              <a:gd name="adj" fmla="val 2254"/>
            </a:avLst>
          </a:prstGeom>
          <a:solidFill>
            <a:srgbClr val="F4F6FB"/>
          </a:solidFill>
          <a:ln w="12700">
            <a:solidFill>
              <a:srgbClr val="F4F6FB"/>
            </a:solidFill>
            <a:prstDash val="solid"/>
          </a:ln>
        </p:spPr>
      </p:sp>
      <p:sp>
        <p:nvSpPr>
          <p:cNvPr id="12" name="Text 10"/>
          <p:cNvSpPr/>
          <p:nvPr/>
        </p:nvSpPr>
        <p:spPr>
          <a:xfrm>
            <a:off x="6537960" y="1920240"/>
            <a:ext cx="4663440" cy="365760"/>
          </a:xfrm>
          <a:prstGeom prst="rect">
            <a:avLst/>
          </a:prstGeom>
          <a:noFill/>
          <a:ln/>
        </p:spPr>
        <p:txBody>
          <a:bodyPr wrap="square" lIns="0" tIns="0" rIns="0" bIns="0" rtlCol="0" anchor="ctr"/>
          <a:lstStyle/>
          <a:p>
            <a:pPr indent="0" marL="0">
              <a:buNone/>
            </a:pPr>
            <a:r>
              <a:rPr lang="en-US" sz="2000" b="1" dirty="0">
                <a:solidFill>
                  <a:srgbClr val="4A6FA5"/>
                </a:solidFill>
                <a:latin typeface="Cambria" pitchFamily="34" charset="0"/>
                <a:ea typeface="Cambria" pitchFamily="34" charset="-122"/>
                <a:cs typeface="Cambria" pitchFamily="34" charset="-120"/>
              </a:rPr>
              <a:t>The drifting customer</a:t>
            </a:r>
            <a:endParaRPr lang="en-US" sz="2000" dirty="0"/>
          </a:p>
        </p:txBody>
      </p:sp>
      <p:sp>
        <p:nvSpPr>
          <p:cNvPr id="13" name="Text 11"/>
          <p:cNvSpPr/>
          <p:nvPr/>
        </p:nvSpPr>
        <p:spPr>
          <a:xfrm>
            <a:off x="6537960" y="2304288"/>
            <a:ext cx="4663440" cy="274320"/>
          </a:xfrm>
          <a:prstGeom prst="rect">
            <a:avLst/>
          </a:prstGeom>
          <a:noFill/>
          <a:ln/>
        </p:spPr>
        <p:txBody>
          <a:bodyPr wrap="square" lIns="0" tIns="0" rIns="0" bIns="0" rtlCol="0" anchor="ctr"/>
          <a:lstStyle/>
          <a:p>
            <a:pPr indent="0" marL="0">
              <a:buNone/>
            </a:pPr>
            <a:r>
              <a:rPr lang="en-US" sz="1200" dirty="0">
                <a:solidFill>
                  <a:srgbClr val="8891A4"/>
                </a:solidFill>
                <a:latin typeface="Calibri" pitchFamily="34" charset="0"/>
                <a:ea typeface="Calibri" pitchFamily="34" charset="-122"/>
                <a:cs typeface="Calibri" pitchFamily="34" charset="-120"/>
              </a:rPr>
              <a:t>724 customers</a:t>
            </a:r>
            <a:endParaRPr lang="en-US" sz="1200" dirty="0"/>
          </a:p>
        </p:txBody>
      </p:sp>
      <p:sp>
        <p:nvSpPr>
          <p:cNvPr id="14" name="Text 12"/>
          <p:cNvSpPr/>
          <p:nvPr/>
        </p:nvSpPr>
        <p:spPr>
          <a:xfrm>
            <a:off x="6537960" y="2651760"/>
            <a:ext cx="4663440" cy="1737360"/>
          </a:xfrm>
          <a:prstGeom prst="rect">
            <a:avLst/>
          </a:prstGeom>
          <a:noFill/>
          <a:ln/>
        </p:spPr>
        <p:txBody>
          <a:bodyPr wrap="square" lIns="0" tIns="0" rIns="0" bIns="0" rtlCol="0" anchor="ctr"/>
          <a:lstStyle/>
          <a:p>
            <a:pPr marL="342900" indent="-342900">
              <a:lnSpc>
                <a:spcPts val="2000"/>
              </a:lnSpc>
              <a:spcAft>
                <a:spcPts val="900"/>
              </a:spcAft>
              <a:buSzPct val="100000"/>
              <a:buChar char="•"/>
            </a:pPr>
            <a:r>
              <a:rPr lang="en-US" sz="1400" dirty="0">
                <a:solidFill>
                  <a:srgbClr val="4A5163"/>
                </a:solidFill>
                <a:latin typeface="Calibri" pitchFamily="34" charset="0"/>
                <a:ea typeface="Calibri" pitchFamily="34" charset="-122"/>
                <a:cs typeface="Calibri" pitchFamily="34" charset="-120"/>
              </a:rPr>
              <a:t>Spending down 20%</a:t>
            </a:r>
            <a:endParaRPr lang="en-US" sz="1400" dirty="0"/>
          </a:p>
          <a:p>
            <a:pPr marL="342900" indent="-342900">
              <a:lnSpc>
                <a:spcPts val="2000"/>
              </a:lnSpc>
              <a:spcAft>
                <a:spcPts val="900"/>
              </a:spcAft>
              <a:buSzPct val="100000"/>
              <a:buChar char="•"/>
            </a:pPr>
            <a:r>
              <a:rPr lang="en-US" sz="1400" dirty="0">
                <a:solidFill>
                  <a:srgbClr val="4A5163"/>
                </a:solidFill>
                <a:latin typeface="Calibri" pitchFamily="34" charset="0"/>
                <a:ea typeface="Calibri" pitchFamily="34" charset="-122"/>
                <a:cs typeface="Calibri" pitchFamily="34" charset="-120"/>
              </a:rPr>
              <a:t>Age 33, with us 2.4 years</a:t>
            </a:r>
            <a:endParaRPr lang="en-US" sz="1400" dirty="0"/>
          </a:p>
          <a:p>
            <a:pPr marL="342900" indent="-342900">
              <a:lnSpc>
                <a:spcPts val="2000"/>
              </a:lnSpc>
              <a:spcAft>
                <a:spcPts val="900"/>
              </a:spcAft>
              <a:buSzPct val="100000"/>
              <a:buChar char="•"/>
            </a:pPr>
            <a:r>
              <a:rPr lang="en-US" sz="1400" dirty="0">
                <a:solidFill>
                  <a:srgbClr val="4A5163"/>
                </a:solidFill>
                <a:latin typeface="Calibri" pitchFamily="34" charset="0"/>
                <a:ea typeface="Calibri" pitchFamily="34" charset="-122"/>
                <a:cs typeface="Calibri" pitchFamily="34" charset="-120"/>
              </a:rPr>
              <a:t>Owes 6,094 on loans</a:t>
            </a:r>
            <a:endParaRPr lang="en-US" sz="1400" dirty="0"/>
          </a:p>
          <a:p>
            <a:pPr marL="342900" indent="-342900">
              <a:lnSpc>
                <a:spcPts val="2000"/>
              </a:lnSpc>
              <a:spcAft>
                <a:spcPts val="900"/>
              </a:spcAft>
              <a:buSzPct val="100000"/>
              <a:buChar char="•"/>
            </a:pPr>
            <a:r>
              <a:rPr lang="en-US" sz="1400" dirty="0">
                <a:solidFill>
                  <a:srgbClr val="4A5163"/>
                </a:solidFill>
                <a:latin typeface="Calibri" pitchFamily="34" charset="0"/>
                <a:ea typeface="Calibri" pitchFamily="34" charset="-122"/>
                <a:cs typeface="Calibri" pitchFamily="34" charset="-120"/>
              </a:rPr>
              <a:t>Only 17% have their salary with us</a:t>
            </a:r>
            <a:endParaRPr lang="en-US" sz="1400" dirty="0"/>
          </a:p>
        </p:txBody>
      </p:sp>
      <p:sp>
        <p:nvSpPr>
          <p:cNvPr id="15" name="Text 13"/>
          <p:cNvSpPr/>
          <p:nvPr/>
        </p:nvSpPr>
        <p:spPr>
          <a:xfrm>
            <a:off x="6537960" y="4480560"/>
            <a:ext cx="4663440" cy="320040"/>
          </a:xfrm>
          <a:prstGeom prst="rect">
            <a:avLst/>
          </a:prstGeom>
          <a:noFill/>
          <a:ln/>
        </p:spPr>
        <p:txBody>
          <a:bodyPr wrap="square" lIns="0" tIns="0" rIns="0" bIns="0" rtlCol="0" anchor="ctr"/>
          <a:lstStyle/>
          <a:p>
            <a:pPr indent="0" marL="0">
              <a:buNone/>
            </a:pPr>
            <a:r>
              <a:rPr lang="en-US" sz="1500" b="1" i="1" dirty="0">
                <a:solidFill>
                  <a:srgbClr val="1B1F2A"/>
                </a:solidFill>
                <a:latin typeface="Calibri" pitchFamily="34" charset="0"/>
                <a:ea typeface="Calibri" pitchFamily="34" charset="-122"/>
                <a:cs typeface="Calibri" pitchFamily="34" charset="-120"/>
              </a:rPr>
              <a:t>This is a relationship problem.</a:t>
            </a:r>
            <a:endParaRPr lang="en-US" sz="1500" dirty="0"/>
          </a:p>
        </p:txBody>
      </p:sp>
      <p:sp>
        <p:nvSpPr>
          <p:cNvPr id="16" name="Shape 14"/>
          <p:cNvSpPr/>
          <p:nvPr/>
        </p:nvSpPr>
        <p:spPr>
          <a:xfrm>
            <a:off x="685800" y="5120640"/>
            <a:ext cx="10789920" cy="1143000"/>
          </a:xfrm>
          <a:prstGeom prst="roundRect">
            <a:avLst>
              <a:gd name="adj" fmla="val 6400"/>
            </a:avLst>
          </a:prstGeom>
          <a:solidFill>
            <a:srgbClr val="F4F6FB"/>
          </a:solidFill>
          <a:ln w="12700">
            <a:solidFill>
              <a:srgbClr val="F4F6FB"/>
            </a:solidFill>
            <a:prstDash val="solid"/>
          </a:ln>
        </p:spPr>
      </p:sp>
      <p:sp>
        <p:nvSpPr>
          <p:cNvPr id="17" name="Text 15"/>
          <p:cNvSpPr/>
          <p:nvPr/>
        </p:nvSpPr>
        <p:spPr>
          <a:xfrm>
            <a:off x="1005840" y="5257800"/>
            <a:ext cx="10149840" cy="320040"/>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Why this is the argument for building an assistant rather than a lookup table:</a:t>
            </a:r>
            <a:endParaRPr lang="en-US" sz="1600" dirty="0"/>
          </a:p>
        </p:txBody>
      </p:sp>
      <p:sp>
        <p:nvSpPr>
          <p:cNvPr id="18" name="Text 16"/>
          <p:cNvSpPr/>
          <p:nvPr/>
        </p:nvSpPr>
        <p:spPr>
          <a:xfrm>
            <a:off x="1005840" y="5596128"/>
            <a:ext cx="10149840" cy="457200"/>
          </a:xfrm>
          <a:prstGeom prst="rect">
            <a:avLst/>
          </a:prstGeom>
          <a:noFill/>
          <a:ln/>
        </p:spPr>
        <p:txBody>
          <a:bodyPr wrap="square" lIns="0" tIns="0" rIns="0" bIns="0" rtlCol="0" anchor="ctr"/>
          <a:lstStyle/>
          <a:p>
            <a:pPr indent="0" marL="0">
              <a:lnSpc>
                <a:spcPts val="1900"/>
              </a:lnSpc>
              <a:buNone/>
            </a:pPr>
            <a:r>
              <a:rPr lang="en-US" sz="1400" dirty="0">
                <a:solidFill>
                  <a:srgbClr val="4A5163"/>
                </a:solidFill>
                <a:latin typeface="Calibri" pitchFamily="34" charset="0"/>
                <a:ea typeface="Calibri" pitchFamily="34" charset="-122"/>
                <a:cs typeface="Calibri" pitchFamily="34" charset="-120"/>
              </a:rPr>
              <a:t>A table would give both customers the same offer, because both have the same risk score. Only something that reads the reasons behind the score can tell these two people apart.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0624"/>
            <a:ext cx="566928" cy="566928"/>
          </a:xfrm>
          <a:prstGeom prst="ellipse">
            <a:avLst/>
          </a:prstGeom>
          <a:solidFill>
            <a:srgbClr val="1E2761"/>
          </a:solidFill>
          <a:ln/>
        </p:spPr>
      </p:sp>
      <p:sp>
        <p:nvSpPr>
          <p:cNvPr id="3" name="Text 1"/>
          <p:cNvSpPr/>
          <p:nvPr/>
        </p:nvSpPr>
        <p:spPr>
          <a:xfrm>
            <a:off x="548640" y="42062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26</a:t>
            </a:r>
            <a:endParaRPr lang="en-US" sz="1500" dirty="0"/>
          </a:p>
        </p:txBody>
      </p:sp>
      <p:sp>
        <p:nvSpPr>
          <p:cNvPr id="4" name="Text 2"/>
          <p:cNvSpPr/>
          <p:nvPr/>
        </p:nvSpPr>
        <p:spPr>
          <a:xfrm>
            <a:off x="1298448" y="384048"/>
            <a:ext cx="10332720" cy="566928"/>
          </a:xfrm>
          <a:prstGeom prst="rect">
            <a:avLst/>
          </a:prstGeom>
          <a:noFill/>
          <a:ln/>
        </p:spPr>
        <p:txBody>
          <a:bodyPr wrap="square" lIns="0" tIns="0" rIns="0" bIns="0" rtlCol="0" anchor="ctr"/>
          <a:lstStyle/>
          <a:p>
            <a:pPr indent="0" marL="0">
              <a:buNone/>
            </a:pPr>
            <a:r>
              <a:rPr lang="en-US" sz="2900" b="1" dirty="0">
                <a:solidFill>
                  <a:srgbClr val="1B1F2A"/>
                </a:solidFill>
                <a:latin typeface="Cambria" pitchFamily="34" charset="0"/>
                <a:ea typeface="Cambria" pitchFamily="34" charset="-122"/>
                <a:cs typeface="Cambria" pitchFamily="34" charset="-120"/>
              </a:rPr>
              <a:t>What we would tell anyone reading this</a:t>
            </a:r>
            <a:endParaRPr lang="en-US" sz="2900" dirty="0"/>
          </a:p>
        </p:txBody>
      </p:sp>
      <p:sp>
        <p:nvSpPr>
          <p:cNvPr id="5" name="Text 3"/>
          <p:cNvSpPr/>
          <p:nvPr/>
        </p:nvSpPr>
        <p:spPr>
          <a:xfrm>
            <a:off x="1298448" y="969264"/>
            <a:ext cx="10332720" cy="384048"/>
          </a:xfrm>
          <a:prstGeom prst="rect">
            <a:avLst/>
          </a:prstGeom>
          <a:noFill/>
          <a:ln/>
        </p:spPr>
        <p:txBody>
          <a:bodyPr wrap="square" lIns="0" tIns="0" rIns="0" bIns="0" rtlCol="0" anchor="ctr"/>
          <a:lstStyle/>
          <a:p>
            <a:pPr indent="0" marL="0">
              <a:buNone/>
            </a:pPr>
            <a:r>
              <a:rPr lang="en-US" sz="1500" i="1" dirty="0">
                <a:solidFill>
                  <a:srgbClr val="8891A4"/>
                </a:solidFill>
                <a:latin typeface="Calibri" pitchFamily="34" charset="0"/>
                <a:ea typeface="Calibri" pitchFamily="34" charset="-122"/>
                <a:cs typeface="Calibri" pitchFamily="34" charset="-120"/>
              </a:rPr>
              <a:t>The limits, stated before anyone has to ask</a:t>
            </a:r>
            <a:endParaRPr lang="en-US" sz="1500" dirty="0"/>
          </a:p>
        </p:txBody>
      </p:sp>
      <p:sp>
        <p:nvSpPr>
          <p:cNvPr id="6" name="Shape 4"/>
          <p:cNvSpPr/>
          <p:nvPr/>
        </p:nvSpPr>
        <p:spPr>
          <a:xfrm>
            <a:off x="685800" y="1627632"/>
            <a:ext cx="10789920" cy="1005840"/>
          </a:xfrm>
          <a:prstGeom prst="roundRect">
            <a:avLst>
              <a:gd name="adj" fmla="val 7273"/>
            </a:avLst>
          </a:prstGeom>
          <a:solidFill>
            <a:srgbClr val="F4F6FB"/>
          </a:solidFill>
          <a:ln w="12700">
            <a:solidFill>
              <a:srgbClr val="F4F6FB"/>
            </a:solidFill>
            <a:prstDash val="solid"/>
          </a:ln>
        </p:spPr>
      </p:sp>
      <p:sp>
        <p:nvSpPr>
          <p:cNvPr id="7" name="Shape 5"/>
          <p:cNvSpPr/>
          <p:nvPr/>
        </p:nvSpPr>
        <p:spPr>
          <a:xfrm>
            <a:off x="1005840" y="2002536"/>
            <a:ext cx="274320" cy="274320"/>
          </a:xfrm>
          <a:prstGeom prst="ellipse">
            <a:avLst/>
          </a:prstGeom>
          <a:solidFill>
            <a:srgbClr val="E39A00"/>
          </a:solidFill>
          <a:ln/>
        </p:spPr>
      </p:sp>
      <p:sp>
        <p:nvSpPr>
          <p:cNvPr id="8" name="Text 6"/>
          <p:cNvSpPr/>
          <p:nvPr/>
        </p:nvSpPr>
        <p:spPr>
          <a:xfrm>
            <a:off x="1481328" y="1755648"/>
            <a:ext cx="9692640" cy="310896"/>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The data is almost certainly generated, not real</a:t>
            </a:r>
            <a:endParaRPr lang="en-US" sz="1600" dirty="0"/>
          </a:p>
        </p:txBody>
      </p:sp>
      <p:sp>
        <p:nvSpPr>
          <p:cNvPr id="9" name="Text 7"/>
          <p:cNvSpPr/>
          <p:nvPr/>
        </p:nvSpPr>
        <p:spPr>
          <a:xfrm>
            <a:off x="1481328" y="2084832"/>
            <a:ext cx="9692640" cy="45720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Four separate checks pointed at it. Any score here is a property of the file, not proof of skill.</a:t>
            </a:r>
            <a:endParaRPr lang="en-US" sz="1250" dirty="0"/>
          </a:p>
        </p:txBody>
      </p:sp>
      <p:sp>
        <p:nvSpPr>
          <p:cNvPr id="10" name="Shape 8"/>
          <p:cNvSpPr/>
          <p:nvPr/>
        </p:nvSpPr>
        <p:spPr>
          <a:xfrm>
            <a:off x="685800" y="2743200"/>
            <a:ext cx="10789920" cy="1005840"/>
          </a:xfrm>
          <a:prstGeom prst="roundRect">
            <a:avLst>
              <a:gd name="adj" fmla="val 7273"/>
            </a:avLst>
          </a:prstGeom>
          <a:solidFill>
            <a:srgbClr val="F4F6FB"/>
          </a:solidFill>
          <a:ln w="12700">
            <a:solidFill>
              <a:srgbClr val="F4F6FB"/>
            </a:solidFill>
            <a:prstDash val="solid"/>
          </a:ln>
        </p:spPr>
      </p:sp>
      <p:sp>
        <p:nvSpPr>
          <p:cNvPr id="11" name="Shape 9"/>
          <p:cNvSpPr/>
          <p:nvPr/>
        </p:nvSpPr>
        <p:spPr>
          <a:xfrm>
            <a:off x="1005840" y="3118104"/>
            <a:ext cx="274320" cy="274320"/>
          </a:xfrm>
          <a:prstGeom prst="ellipse">
            <a:avLst/>
          </a:prstGeom>
          <a:solidFill>
            <a:srgbClr val="E39A00"/>
          </a:solidFill>
          <a:ln/>
        </p:spPr>
      </p:sp>
      <p:sp>
        <p:nvSpPr>
          <p:cNvPr id="12" name="Text 10"/>
          <p:cNvSpPr/>
          <p:nvPr/>
        </p:nvSpPr>
        <p:spPr>
          <a:xfrm>
            <a:off x="1481328" y="2871216"/>
            <a:ext cx="9692640" cy="310896"/>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About a third of leavers are invisible</a:t>
            </a:r>
            <a:endParaRPr lang="en-US" sz="1600" dirty="0"/>
          </a:p>
        </p:txBody>
      </p:sp>
      <p:sp>
        <p:nvSpPr>
          <p:cNvPr id="13" name="Text 11"/>
          <p:cNvSpPr/>
          <p:nvPr/>
        </p:nvSpPr>
        <p:spPr>
          <a:xfrm>
            <a:off x="1481328" y="3200400"/>
            <a:ext cx="9692640" cy="45720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They look identical to customers who stayed. Nothing in 29 columns separates them.</a:t>
            </a:r>
            <a:endParaRPr lang="en-US" sz="1250" dirty="0"/>
          </a:p>
        </p:txBody>
      </p:sp>
      <p:sp>
        <p:nvSpPr>
          <p:cNvPr id="14" name="Shape 12"/>
          <p:cNvSpPr/>
          <p:nvPr/>
        </p:nvSpPr>
        <p:spPr>
          <a:xfrm>
            <a:off x="685800" y="3858768"/>
            <a:ext cx="10789920" cy="1005840"/>
          </a:xfrm>
          <a:prstGeom prst="roundRect">
            <a:avLst>
              <a:gd name="adj" fmla="val 7273"/>
            </a:avLst>
          </a:prstGeom>
          <a:solidFill>
            <a:srgbClr val="F4F6FB"/>
          </a:solidFill>
          <a:ln w="12700">
            <a:solidFill>
              <a:srgbClr val="F4F6FB"/>
            </a:solidFill>
            <a:prstDash val="solid"/>
          </a:ln>
        </p:spPr>
      </p:sp>
      <p:sp>
        <p:nvSpPr>
          <p:cNvPr id="15" name="Shape 13"/>
          <p:cNvSpPr/>
          <p:nvPr/>
        </p:nvSpPr>
        <p:spPr>
          <a:xfrm>
            <a:off x="1005840" y="4233672"/>
            <a:ext cx="274320" cy="274320"/>
          </a:xfrm>
          <a:prstGeom prst="ellipse">
            <a:avLst/>
          </a:prstGeom>
          <a:solidFill>
            <a:srgbClr val="E39A00"/>
          </a:solidFill>
          <a:ln/>
        </p:spPr>
      </p:sp>
      <p:sp>
        <p:nvSpPr>
          <p:cNvPr id="16" name="Text 14"/>
          <p:cNvSpPr/>
          <p:nvPr/>
        </p:nvSpPr>
        <p:spPr>
          <a:xfrm>
            <a:off x="1481328" y="3986784"/>
            <a:ext cx="9692640" cy="310896"/>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Predicting who WILL leave is not predicting who CAN be saved</a:t>
            </a:r>
            <a:endParaRPr lang="en-US" sz="1600" dirty="0"/>
          </a:p>
        </p:txBody>
      </p:sp>
      <p:sp>
        <p:nvSpPr>
          <p:cNvPr id="17" name="Text 15"/>
          <p:cNvSpPr/>
          <p:nvPr/>
        </p:nvSpPr>
        <p:spPr>
          <a:xfrm>
            <a:off x="1481328" y="4315968"/>
            <a:ext cx="9692640" cy="45720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Some customers leave whatever you offer. Some leave because you contacted them. This data cannot tell them apart — that needs a proper experiment.</a:t>
            </a:r>
            <a:endParaRPr lang="en-US" sz="1250" dirty="0"/>
          </a:p>
        </p:txBody>
      </p:sp>
      <p:sp>
        <p:nvSpPr>
          <p:cNvPr id="18" name="Shape 16"/>
          <p:cNvSpPr/>
          <p:nvPr/>
        </p:nvSpPr>
        <p:spPr>
          <a:xfrm>
            <a:off x="685800" y="4974336"/>
            <a:ext cx="10789920" cy="1005840"/>
          </a:xfrm>
          <a:prstGeom prst="roundRect">
            <a:avLst>
              <a:gd name="adj" fmla="val 7273"/>
            </a:avLst>
          </a:prstGeom>
          <a:solidFill>
            <a:srgbClr val="F4F6FB"/>
          </a:solidFill>
          <a:ln w="12700">
            <a:solidFill>
              <a:srgbClr val="F4F6FB"/>
            </a:solidFill>
            <a:prstDash val="solid"/>
          </a:ln>
        </p:spPr>
      </p:sp>
      <p:sp>
        <p:nvSpPr>
          <p:cNvPr id="19" name="Shape 17"/>
          <p:cNvSpPr/>
          <p:nvPr/>
        </p:nvSpPr>
        <p:spPr>
          <a:xfrm>
            <a:off x="1005840" y="5349240"/>
            <a:ext cx="274320" cy="274320"/>
          </a:xfrm>
          <a:prstGeom prst="ellipse">
            <a:avLst/>
          </a:prstGeom>
          <a:solidFill>
            <a:srgbClr val="E39A00"/>
          </a:solidFill>
          <a:ln/>
        </p:spPr>
      </p:sp>
      <p:sp>
        <p:nvSpPr>
          <p:cNvPr id="20" name="Text 18"/>
          <p:cNvSpPr/>
          <p:nvPr/>
        </p:nvSpPr>
        <p:spPr>
          <a:xfrm>
            <a:off x="1481328" y="5102352"/>
            <a:ext cx="9692640" cy="310896"/>
          </a:xfrm>
          <a:prstGeom prst="rect">
            <a:avLst/>
          </a:prstGeom>
          <a:noFill/>
          <a:ln/>
        </p:spPr>
        <p:txBody>
          <a:bodyPr wrap="square" lIns="0" tIns="0" rIns="0" bIns="0" rtlCol="0" anchor="ctr"/>
          <a:lstStyle/>
          <a:p>
            <a:pPr indent="0" marL="0">
              <a:buNone/>
            </a:pPr>
            <a:r>
              <a:rPr lang="en-US" sz="1600" b="1" dirty="0">
                <a:solidFill>
                  <a:srgbClr val="1B1F2A"/>
                </a:solidFill>
                <a:latin typeface="Cambria" pitchFamily="34" charset="0"/>
                <a:ea typeface="Cambria" pitchFamily="34" charset="-122"/>
                <a:cs typeface="Cambria" pitchFamily="34" charset="-120"/>
              </a:rPr>
              <a:t>The leaderboard is mostly luck</a:t>
            </a:r>
            <a:endParaRPr lang="en-US" sz="1600" dirty="0"/>
          </a:p>
        </p:txBody>
      </p:sp>
      <p:sp>
        <p:nvSpPr>
          <p:cNvPr id="21" name="Text 19"/>
          <p:cNvSpPr/>
          <p:nvPr/>
        </p:nvSpPr>
        <p:spPr>
          <a:xfrm>
            <a:off x="1481328" y="5431536"/>
            <a:ext cx="9692640" cy="457200"/>
          </a:xfrm>
          <a:prstGeom prst="rect">
            <a:avLst/>
          </a:prstGeom>
          <a:noFill/>
          <a:ln/>
        </p:spPr>
        <p:txBody>
          <a:bodyPr wrap="square" lIns="0" tIns="0" rIns="0" bIns="0" rtlCol="0" anchor="ctr"/>
          <a:lstStyle/>
          <a:p>
            <a:pPr indent="0" marL="0">
              <a:lnSpc>
                <a:spcPts val="1600"/>
              </a:lnSpc>
              <a:buNone/>
            </a:pPr>
            <a:r>
              <a:rPr lang="en-US" sz="1250" dirty="0">
                <a:solidFill>
                  <a:srgbClr val="4A5163"/>
                </a:solidFill>
                <a:latin typeface="Calibri" pitchFamily="34" charset="0"/>
                <a:ea typeface="Calibri" pitchFamily="34" charset="-122"/>
                <a:cs typeface="Calibri" pitchFamily="34" charset="-120"/>
              </a:rPr>
              <a:t>Twelve simulations. The same model, same code, scored anywhere from 0.517 to 0.591 depending on the draw.</a:t>
            </a:r>
            <a:endParaRPr lang="en-US" sz="1250" dirty="0"/>
          </a:p>
        </p:txBody>
      </p:sp>
      <p:sp>
        <p:nvSpPr>
          <p:cNvPr id="22" name="Text 20"/>
          <p:cNvSpPr/>
          <p:nvPr/>
        </p:nvSpPr>
        <p:spPr>
          <a:xfrm>
            <a:off x="685800" y="6144768"/>
            <a:ext cx="10789920" cy="365760"/>
          </a:xfrm>
          <a:prstGeom prst="rect">
            <a:avLst/>
          </a:prstGeom>
          <a:noFill/>
          <a:ln/>
        </p:spPr>
        <p:txBody>
          <a:bodyPr wrap="square" lIns="0" tIns="0" rIns="0" bIns="0" rtlCol="0" anchor="ctr"/>
          <a:lstStyle/>
          <a:p>
            <a:pPr indent="0" marL="0">
              <a:buNone/>
            </a:pPr>
            <a:r>
              <a:rPr lang="en-US" sz="1500" b="1" i="1" dirty="0">
                <a:solidFill>
                  <a:srgbClr val="1E2761"/>
                </a:solidFill>
                <a:latin typeface="Calibri" pitchFamily="34" charset="0"/>
                <a:ea typeface="Calibri" pitchFamily="34" charset="-122"/>
                <a:cs typeface="Calibri" pitchFamily="34" charset="-120"/>
              </a:rPr>
              <a:t>Naming your own ceiling is not weakness. It is the difference between a result and a claim.</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097280"/>
            <a:ext cx="4389120" cy="4389120"/>
          </a:xfrm>
          <a:prstGeom prst="ellipse">
            <a:avLst/>
          </a:prstGeom>
          <a:solidFill>
            <a:srgbClr val="2B3A75"/>
          </a:solidFill>
          <a:ln/>
        </p:spPr>
      </p:sp>
      <p:sp>
        <p:nvSpPr>
          <p:cNvPr id="3" name="Text 1"/>
          <p:cNvSpPr/>
          <p:nvPr/>
        </p:nvSpPr>
        <p:spPr>
          <a:xfrm>
            <a:off x="822960" y="868680"/>
            <a:ext cx="8229600" cy="365760"/>
          </a:xfrm>
          <a:prstGeom prst="rect">
            <a:avLst/>
          </a:prstGeom>
          <a:noFill/>
          <a:ln/>
        </p:spPr>
        <p:txBody>
          <a:bodyPr wrap="square" lIns="0" tIns="0" rIns="0" bIns="0" rtlCol="0" anchor="ctr"/>
          <a:lstStyle/>
          <a:p>
            <a:pPr indent="0" marL="0">
              <a:buNone/>
            </a:pPr>
            <a:r>
              <a:rPr lang="en-US" sz="1300" b="1" spc="300" kern="0" dirty="0">
                <a:solidFill>
                  <a:srgbClr val="E39A00"/>
                </a:solidFill>
                <a:latin typeface="Calibri" pitchFamily="34" charset="0"/>
                <a:ea typeface="Calibri" pitchFamily="34" charset="-122"/>
                <a:cs typeface="Calibri" pitchFamily="34" charset="-120"/>
              </a:rPr>
              <a:t>WHAT COMES NEXT</a:t>
            </a:r>
            <a:endParaRPr lang="en-US" sz="1300" dirty="0"/>
          </a:p>
        </p:txBody>
      </p:sp>
      <p:sp>
        <p:nvSpPr>
          <p:cNvPr id="4" name="Text 2"/>
          <p:cNvSpPr/>
          <p:nvPr/>
        </p:nvSpPr>
        <p:spPr>
          <a:xfrm>
            <a:off x="822960" y="1325880"/>
            <a:ext cx="8686800" cy="1371600"/>
          </a:xfrm>
          <a:prstGeom prst="rect">
            <a:avLst/>
          </a:prstGeom>
          <a:noFill/>
          <a:ln/>
        </p:spPr>
        <p:txBody>
          <a:bodyPr wrap="square" lIns="0" tIns="0" rIns="0" bIns="0" rtlCol="0" anchor="ctr"/>
          <a:lstStyle/>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The model is finished.</a:t>
            </a:r>
            <a:endParaRPr lang="en-US" sz="3600" dirty="0"/>
          </a:p>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Now it becomes useful.</a:t>
            </a:r>
            <a:endParaRPr lang="en-US" sz="3600" dirty="0"/>
          </a:p>
        </p:txBody>
      </p:sp>
      <p:sp>
        <p:nvSpPr>
          <p:cNvPr id="5" name="Shape 3"/>
          <p:cNvSpPr/>
          <p:nvPr/>
        </p:nvSpPr>
        <p:spPr>
          <a:xfrm>
            <a:off x="822960" y="3063240"/>
            <a:ext cx="1371600" cy="384048"/>
          </a:xfrm>
          <a:prstGeom prst="roundRect">
            <a:avLst>
              <a:gd name="adj" fmla="val 14286"/>
            </a:avLst>
          </a:prstGeom>
          <a:solidFill>
            <a:srgbClr val="E39A00"/>
          </a:solidFill>
          <a:ln w="12700">
            <a:solidFill>
              <a:srgbClr val="E39A00"/>
            </a:solidFill>
            <a:prstDash val="solid"/>
          </a:ln>
        </p:spPr>
      </p:sp>
      <p:sp>
        <p:nvSpPr>
          <p:cNvPr id="6" name="Text 4"/>
          <p:cNvSpPr/>
          <p:nvPr/>
        </p:nvSpPr>
        <p:spPr>
          <a:xfrm>
            <a:off x="822960" y="3063240"/>
            <a:ext cx="1371600"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Phase 4</a:t>
            </a:r>
            <a:endParaRPr lang="en-US" sz="1300" dirty="0"/>
          </a:p>
        </p:txBody>
      </p:sp>
      <p:sp>
        <p:nvSpPr>
          <p:cNvPr id="7" name="Text 5"/>
          <p:cNvSpPr/>
          <p:nvPr/>
        </p:nvSpPr>
        <p:spPr>
          <a:xfrm>
            <a:off x="2423160" y="3026664"/>
            <a:ext cx="877824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assistant</a:t>
            </a:r>
            <a:endParaRPr lang="en-US" sz="2200" dirty="0"/>
          </a:p>
        </p:txBody>
      </p:sp>
      <p:sp>
        <p:nvSpPr>
          <p:cNvPr id="8" name="Text 6"/>
          <p:cNvSpPr/>
          <p:nvPr/>
        </p:nvSpPr>
        <p:spPr>
          <a:xfrm>
            <a:off x="2423160" y="3474720"/>
            <a:ext cx="8595360" cy="822960"/>
          </a:xfrm>
          <a:prstGeom prst="rect">
            <a:avLst/>
          </a:prstGeom>
          <a:noFill/>
          <a:ln/>
        </p:spPr>
        <p:txBody>
          <a:bodyPr wrap="square" lIns="0" tIns="0" rIns="0" bIns="0" rtlCol="0" anchor="ctr"/>
          <a:lstStyle/>
          <a:p>
            <a:pPr indent="0" marL="0">
              <a:lnSpc>
                <a:spcPts val="2000"/>
              </a:lnSpc>
              <a:buNone/>
            </a:pPr>
            <a:r>
              <a:rPr lang="en-US" sz="1400" dirty="0">
                <a:solidFill>
                  <a:srgbClr val="C3CCE4"/>
                </a:solidFill>
                <a:latin typeface="Calibri" pitchFamily="34" charset="0"/>
                <a:ea typeface="Calibri" pitchFamily="34" charset="-122"/>
                <a:cs typeface="Calibri" pitchFamily="34" charset="-120"/>
              </a:rPr>
              <a:t>One chat window, one tool. It interviews the marketing employee for the details it needs, runs the model, reads back the reasons, and proposes an offer aimed at that reason.</a:t>
            </a:r>
            <a:endParaRPr lang="en-US" sz="1400" dirty="0"/>
          </a:p>
        </p:txBody>
      </p:sp>
      <p:sp>
        <p:nvSpPr>
          <p:cNvPr id="9" name="Shape 7"/>
          <p:cNvSpPr/>
          <p:nvPr/>
        </p:nvSpPr>
        <p:spPr>
          <a:xfrm>
            <a:off x="822960" y="4663440"/>
            <a:ext cx="1371600" cy="384048"/>
          </a:xfrm>
          <a:prstGeom prst="roundRect">
            <a:avLst>
              <a:gd name="adj" fmla="val 14286"/>
            </a:avLst>
          </a:prstGeom>
          <a:solidFill>
            <a:srgbClr val="E39A00"/>
          </a:solidFill>
          <a:ln w="12700">
            <a:solidFill>
              <a:srgbClr val="E39A00"/>
            </a:solidFill>
            <a:prstDash val="solid"/>
          </a:ln>
        </p:spPr>
      </p:sp>
      <p:sp>
        <p:nvSpPr>
          <p:cNvPr id="10" name="Text 8"/>
          <p:cNvSpPr/>
          <p:nvPr/>
        </p:nvSpPr>
        <p:spPr>
          <a:xfrm>
            <a:off x="822960" y="4663440"/>
            <a:ext cx="1371600"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Phase 5</a:t>
            </a:r>
            <a:endParaRPr lang="en-US" sz="1300" dirty="0"/>
          </a:p>
        </p:txBody>
      </p:sp>
      <p:sp>
        <p:nvSpPr>
          <p:cNvPr id="11" name="Text 9"/>
          <p:cNvSpPr/>
          <p:nvPr/>
        </p:nvSpPr>
        <p:spPr>
          <a:xfrm>
            <a:off x="2423160" y="4626864"/>
            <a:ext cx="877824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Testing and write-up</a:t>
            </a:r>
            <a:endParaRPr lang="en-US" sz="2200" dirty="0"/>
          </a:p>
        </p:txBody>
      </p:sp>
      <p:sp>
        <p:nvSpPr>
          <p:cNvPr id="12" name="Text 10"/>
          <p:cNvSpPr/>
          <p:nvPr/>
        </p:nvSpPr>
        <p:spPr>
          <a:xfrm>
            <a:off x="2423160" y="5074920"/>
            <a:ext cx="8595360" cy="822960"/>
          </a:xfrm>
          <a:prstGeom prst="rect">
            <a:avLst/>
          </a:prstGeom>
          <a:noFill/>
          <a:ln/>
        </p:spPr>
        <p:txBody>
          <a:bodyPr wrap="square" lIns="0" tIns="0" rIns="0" bIns="0" rtlCol="0" anchor="ctr"/>
          <a:lstStyle/>
          <a:p>
            <a:pPr indent="0" marL="0">
              <a:lnSpc>
                <a:spcPts val="2000"/>
              </a:lnSpc>
              <a:buNone/>
            </a:pPr>
            <a:r>
              <a:rPr lang="en-US" sz="1400" dirty="0">
                <a:solidFill>
                  <a:srgbClr val="C3CCE4"/>
                </a:solidFill>
                <a:latin typeface="Calibri" pitchFamily="34" charset="0"/>
                <a:ea typeface="Calibri" pitchFamily="34" charset="-122"/>
                <a:cs typeface="Calibri" pitchFamily="34" charset="-120"/>
              </a:rPr>
              <a:t>Invented customers only — never real ones. Then the full report, with every failure in this deck included.</a:t>
            </a:r>
            <a:endParaRPr lang="en-US" sz="1400" dirty="0"/>
          </a:p>
        </p:txBody>
      </p:sp>
      <p:sp>
        <p:nvSpPr>
          <p:cNvPr id="13" name="Text 11"/>
          <p:cNvSpPr/>
          <p:nvPr/>
        </p:nvSpPr>
        <p:spPr>
          <a:xfrm>
            <a:off x="822960" y="5897880"/>
            <a:ext cx="10515600" cy="502920"/>
          </a:xfrm>
          <a:prstGeom prst="rect">
            <a:avLst/>
          </a:prstGeom>
          <a:noFill/>
          <a:ln/>
        </p:spPr>
        <p:txBody>
          <a:bodyPr wrap="square" lIns="0" tIns="0" rIns="0" bIns="0" rtlCol="0" anchor="ctr"/>
          <a:lstStyle/>
          <a:p>
            <a:pPr indent="0" marL="0">
              <a:lnSpc>
                <a:spcPts val="1800"/>
              </a:lnSpc>
              <a:buNone/>
            </a:pPr>
            <a:r>
              <a:rPr lang="en-US" sz="1300" i="1" dirty="0">
                <a:solidFill>
                  <a:srgbClr val="8891A4"/>
                </a:solidFill>
                <a:latin typeface="Calibri" pitchFamily="34" charset="0"/>
                <a:ea typeface="Calibri" pitchFamily="34" charset="-122"/>
                <a:cs typeface="Calibri" pitchFamily="34" charset="-120"/>
              </a:rPr>
              <a:t>Still open for you: who designs the offers, is it worse to miss a leaver or waste an offer, and can real customer data go to an outside service?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Churn Prevention Agent — the journey</dc:title>
  <dc:subject>PptxGenJS Presentation</dc:subject>
  <dc:creator>Abdelrahman Hamdy</dc:creator>
  <cp:lastModifiedBy>Abdelrahman Hamdy</cp:lastModifiedBy>
  <cp:revision>1</cp:revision>
  <dcterms:created xsi:type="dcterms:W3CDTF">2026-08-16T10:06:55Z</dcterms:created>
  <dcterms:modified xsi:type="dcterms:W3CDTF">2026-08-16T10:06:55Z</dcterms:modified>
</cp:coreProperties>
</file>